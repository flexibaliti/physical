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2" ContentType="image/jpe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activeX/activeX1.xml" ContentType="application/vnd.ms-office.activeX+xml"/>
  <Override PartName="/ppt/activeX/activeX1.bin" ContentType="application/vnd.ms-office.activeX"/>
  <Override PartName="/ppt/activeX/activeX2.xml" ContentType="application/vnd.ms-office.activeX+xml"/>
  <Override PartName="/ppt/activeX/activeX2.bin" ContentType="application/vnd.ms-office.activeX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2" r:id="rId1"/>
    <p:sldMasterId id="2147485086" r:id="rId2"/>
    <p:sldMasterId id="2147485080" r:id="rId3"/>
    <p:sldMasterId id="2147485084" r:id="rId4"/>
    <p:sldMasterId id="2147485088" r:id="rId5"/>
  </p:sldMasterIdLst>
  <p:sldIdLst>
    <p:sldId id="256" r:id="rId6"/>
    <p:sldId id="445" r:id="rId7"/>
    <p:sldId id="446" r:id="rId8"/>
    <p:sldId id="447" r:id="rId9"/>
    <p:sldId id="448" r:id="rId10"/>
    <p:sldId id="449" r:id="rId11"/>
    <p:sldId id="450" r:id="rId12"/>
    <p:sldId id="451" r:id="rId13"/>
    <p:sldId id="483" r:id="rId14"/>
    <p:sldId id="484" r:id="rId15"/>
    <p:sldId id="455" r:id="rId16"/>
    <p:sldId id="482" r:id="rId17"/>
    <p:sldId id="457" r:id="rId18"/>
    <p:sldId id="458" r:id="rId19"/>
    <p:sldId id="459" r:id="rId20"/>
    <p:sldId id="460" r:id="rId21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jZs4z9mp6EG0pnxkZ3Siuw==" hashData="kR2GCJrQump8TrUgQLj5CamdnwruhfqUpbyG0PwCU5dPyQKzUXX3DZ5FS7AafSVPpwO5o02QE5BTnoDNFnG8F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497B0"/>
    <a:srgbClr val="E4EEEF"/>
    <a:srgbClr val="B8D8D7"/>
    <a:srgbClr val="006600"/>
    <a:srgbClr val="00FF00"/>
    <a:srgbClr val="FF9900"/>
    <a:srgbClr val="41B0B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5455" autoAdjust="0"/>
  </p:normalViewPr>
  <p:slideViewPr>
    <p:cSldViewPr snapToGrid="0">
      <p:cViewPr varScale="1">
        <p:scale>
          <a:sx n="74" d="100"/>
          <a:sy n="74" d="100"/>
        </p:scale>
        <p:origin x="40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6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12" Type="http://schemas.openxmlformats.org/officeDocument/2006/relationships/image" Target="../media/image15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Relationship Id="rId14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6.wmf"/><Relationship Id="rId3" Type="http://schemas.openxmlformats.org/officeDocument/2006/relationships/image" Target="../media/image11.wmf"/><Relationship Id="rId7" Type="http://schemas.openxmlformats.org/officeDocument/2006/relationships/image" Target="../media/image20.emf"/><Relationship Id="rId12" Type="http://schemas.openxmlformats.org/officeDocument/2006/relationships/image" Target="../media/image2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9.wmf"/><Relationship Id="rId11" Type="http://schemas.openxmlformats.org/officeDocument/2006/relationships/image" Target="../media/image24.wmf"/><Relationship Id="rId5" Type="http://schemas.openxmlformats.org/officeDocument/2006/relationships/image" Target="../media/image13.wmf"/><Relationship Id="rId10" Type="http://schemas.openxmlformats.org/officeDocument/2006/relationships/image" Target="../media/image23.wmf"/><Relationship Id="rId4" Type="http://schemas.openxmlformats.org/officeDocument/2006/relationships/image" Target="../media/image12.wmf"/><Relationship Id="rId9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033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35431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sz="4200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4172838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91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325183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185252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502725"/>
            <a:ext cx="12193200" cy="1800000"/>
          </a:xfrm>
          <a:prstGeom prst="rect">
            <a:avLst/>
          </a:prstGeom>
          <a:solidFill>
            <a:srgbClr val="E4EEE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672083"/>
            <a:ext cx="4837212" cy="540000"/>
          </a:xfrm>
          <a:prstGeom prst="rect">
            <a:avLst/>
          </a:prstGeom>
          <a:solidFill>
            <a:srgbClr val="8497B0"/>
          </a:solidFill>
          <a:ln>
            <a:solidFill>
              <a:srgbClr val="8497B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4335780" y="1015667"/>
            <a:ext cx="785622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1327409"/>
            <a:ext cx="8985543" cy="525316"/>
          </a:xfrm>
          <a:prstGeom prst="rect">
            <a:avLst/>
          </a:prstGeom>
          <a:solidFill>
            <a:srgbClr val="B8D8D7"/>
          </a:solidFill>
          <a:ln>
            <a:solidFill>
              <a:srgbClr val="B8D8D7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8911" y="1013641"/>
            <a:ext cx="28814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3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819507" y="3795623"/>
            <a:ext cx="9372493" cy="30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7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502725"/>
            <a:ext cx="12193200" cy="1800000"/>
          </a:xfrm>
          <a:prstGeom prst="rect">
            <a:avLst/>
          </a:prstGeom>
          <a:solidFill>
            <a:srgbClr val="E4EEE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2083"/>
            <a:ext cx="4837212" cy="540000"/>
          </a:xfrm>
          <a:prstGeom prst="rect">
            <a:avLst/>
          </a:prstGeom>
          <a:solidFill>
            <a:srgbClr val="8497B0"/>
          </a:solidFill>
          <a:ln>
            <a:solidFill>
              <a:srgbClr val="8497B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4335780" y="1015667"/>
            <a:ext cx="785622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0" y="1327409"/>
            <a:ext cx="8985543" cy="525316"/>
          </a:xfrm>
          <a:prstGeom prst="rect">
            <a:avLst/>
          </a:prstGeom>
          <a:solidFill>
            <a:srgbClr val="B8D8D7"/>
          </a:solidFill>
          <a:ln>
            <a:solidFill>
              <a:srgbClr val="B8D8D7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4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1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819507" y="3795623"/>
            <a:ext cx="9372493" cy="30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9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8.jpeg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2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6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1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13.bin"/><Relationship Id="rId10" Type="http://schemas.openxmlformats.org/officeDocument/2006/relationships/image" Target="../media/image7.wmf"/><Relationship Id="rId19" Type="http://schemas.openxmlformats.org/officeDocument/2006/relationships/image" Target="../media/image11.wmf"/><Relationship Id="rId31" Type="http://schemas.openxmlformats.org/officeDocument/2006/relationships/image" Target="../media/image17.e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5.wmf"/><Relationship Id="rId30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5.bin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1.bin"/><Relationship Id="rId3" Type="http://schemas.openxmlformats.org/officeDocument/2006/relationships/oleObject" Target="../embeddings/oleObject6.bin"/><Relationship Id="rId21" Type="http://schemas.openxmlformats.org/officeDocument/2006/relationships/image" Target="../media/image22.wmf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wmf"/><Relationship Id="rId17" Type="http://schemas.openxmlformats.org/officeDocument/2006/relationships/image" Target="../media/image27.emf"/><Relationship Id="rId25" Type="http://schemas.openxmlformats.org/officeDocument/2006/relationships/image" Target="../media/image24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0.emf"/><Relationship Id="rId20" Type="http://schemas.openxmlformats.org/officeDocument/2006/relationships/oleObject" Target="../embeddings/oleObject18.bin"/><Relationship Id="rId29" Type="http://schemas.openxmlformats.org/officeDocument/2006/relationships/image" Target="../media/image26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24" Type="http://schemas.openxmlformats.org/officeDocument/2006/relationships/oleObject" Target="../embeddings/oleObject2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6.bin"/><Relationship Id="rId23" Type="http://schemas.openxmlformats.org/officeDocument/2006/relationships/image" Target="../media/image23.wmf"/><Relationship Id="rId28" Type="http://schemas.openxmlformats.org/officeDocument/2006/relationships/oleObject" Target="../embeddings/oleObject22.bin"/><Relationship Id="rId10" Type="http://schemas.openxmlformats.org/officeDocument/2006/relationships/image" Target="../media/image12.wmf"/><Relationship Id="rId19" Type="http://schemas.openxmlformats.org/officeDocument/2006/relationships/image" Target="../media/image21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9.wmf"/><Relationship Id="rId22" Type="http://schemas.openxmlformats.org/officeDocument/2006/relationships/oleObject" Target="../embeddings/oleObject19.bin"/><Relationship Id="rId27" Type="http://schemas.openxmlformats.org/officeDocument/2006/relationships/image" Target="../media/image2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oleObject" Target="../embeddings/oleObject30.bin"/><Relationship Id="rId7" Type="http://schemas.openxmlformats.org/officeDocument/2006/relationships/image" Target="../media/image39.jp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jpg"/><Relationship Id="rId5" Type="http://schemas.openxmlformats.org/officeDocument/2006/relationships/image" Target="../media/image37.JPEG"/><Relationship Id="rId4" Type="http://schemas.openxmlformats.org/officeDocument/2006/relationships/image" Target="../media/image3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51.2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2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dist" eaLnBrk="1" hangingPunct="1">
              <a:lnSpc>
                <a:spcPct val="125000"/>
              </a:lnSpc>
            </a:pPr>
            <a:r>
              <a:rPr lang="zh-CN" altLang="en-US" sz="8800" b="1" dirty="0" smtClean="0">
                <a:latin typeface="华光姚体_CNKI" panose="02000500000000000000" pitchFamily="2" charset="-122"/>
                <a:ea typeface="华光姚体_CNKI" panose="02000500000000000000" pitchFamily="2" charset="-122"/>
              </a:rPr>
              <a:t>近代物理学选讲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应用物理系</a:t>
            </a:r>
            <a:endParaRPr lang="en-US" altLang="zh-CN" sz="2800" b="1" dirty="0" smtClean="0">
              <a:solidFill>
                <a:schemeClr val="tx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张  辉</a:t>
            </a:r>
            <a:endParaRPr lang="en-US" altLang="zh-CN" sz="2800" b="1" dirty="0" smtClean="0">
              <a:solidFill>
                <a:schemeClr val="tx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pic>
        <p:nvPicPr>
          <p:cNvPr id="301060" name="Picture 4" descr="https://gimg2.baidu.com/image_search/src=http%3A%2F%2Fm.jcgdz.com%2Fadminlg%2Feditor1%2FUploadFile%2F201081394428944.jpg&amp;refer=http%3A%2F%2Fm.jcgdz.com&amp;app=2002&amp;size=f9999,10000&amp;q=a80&amp;n=0&amp;g=0n&amp;fmt=jpeg?sec=1621945920&amp;t=1b405bfff5a1518455c32e2183e53e8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226" y="1280206"/>
            <a:ext cx="5161548" cy="516154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83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23285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11.1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原子的磁矩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920396" y="1723215"/>
            <a:ext cx="306205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单电子原子的磁矩</a:t>
            </a:r>
            <a:endParaRPr lang="zh-CN" altLang="en-US" sz="18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23913" y="2249082"/>
            <a:ext cx="2840037" cy="812800"/>
            <a:chOff x="823913" y="2249082"/>
            <a:chExt cx="2840037" cy="812800"/>
          </a:xfrm>
        </p:grpSpPr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823913" y="2401567"/>
              <a:ext cx="1425801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轨道磁矩：</a:t>
              </a:r>
              <a:endPara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6361961"/>
                </p:ext>
              </p:extLst>
            </p:nvPr>
          </p:nvGraphicFramePr>
          <p:xfrm>
            <a:off x="2051050" y="2249082"/>
            <a:ext cx="16129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51" name="Equation" r:id="rId3" imgW="1612800" imgH="812520" progId="Equation.DSMT4">
                    <p:embed/>
                  </p:oleObj>
                </mc:Choice>
                <mc:Fallback>
                  <p:oleObj name="Equation" r:id="rId3" imgW="1612800" imgH="8125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51050" y="2249082"/>
                          <a:ext cx="16129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823913" y="3201752"/>
            <a:ext cx="2700337" cy="812800"/>
            <a:chOff x="823913" y="3903814"/>
            <a:chExt cx="2700337" cy="812800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4844314"/>
                </p:ext>
              </p:extLst>
            </p:nvPr>
          </p:nvGraphicFramePr>
          <p:xfrm>
            <a:off x="2051050" y="3903814"/>
            <a:ext cx="14732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52" name="Equation" r:id="rId5" imgW="1473120" imgH="812520" progId="Equation.DSMT4">
                    <p:embed/>
                  </p:oleObj>
                </mc:Choice>
                <mc:Fallback>
                  <p:oleObj name="Equation" r:id="rId5" imgW="1473120" imgH="81252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51050" y="3903814"/>
                          <a:ext cx="14732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/>
            <p:cNvSpPr>
              <a:spLocks noChangeArrowheads="1"/>
            </p:cNvSpPr>
            <p:nvPr/>
          </p:nvSpPr>
          <p:spPr bwMode="auto">
            <a:xfrm>
              <a:off x="823913" y="4057037"/>
              <a:ext cx="1425801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自旋磁矩：</a:t>
              </a:r>
              <a:endPara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900460"/>
              </p:ext>
            </p:extLst>
          </p:nvPr>
        </p:nvGraphicFramePr>
        <p:xfrm>
          <a:off x="4199355" y="2249082"/>
          <a:ext cx="4292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53" name="Equation" r:id="rId7" imgW="4292280" imgH="812520" progId="Equation.DSMT4">
                  <p:embed/>
                </p:oleObj>
              </mc:Choice>
              <mc:Fallback>
                <p:oleObj name="Equation" r:id="rId7" imgW="42922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99355" y="2249082"/>
                        <a:ext cx="4292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203003"/>
              </p:ext>
            </p:extLst>
          </p:nvPr>
        </p:nvGraphicFramePr>
        <p:xfrm>
          <a:off x="4199355" y="3201752"/>
          <a:ext cx="4343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54" name="Equation" r:id="rId9" imgW="4343400" imgH="812520" progId="Equation.DSMT4">
                  <p:embed/>
                </p:oleObj>
              </mc:Choice>
              <mc:Fallback>
                <p:oleObj name="Equation" r:id="rId9" imgW="43434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99355" y="3201752"/>
                        <a:ext cx="4343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823913" y="4306888"/>
            <a:ext cx="7262812" cy="1714500"/>
            <a:chOff x="823913" y="3452945"/>
            <a:chExt cx="7262812" cy="1714500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3590365"/>
                </p:ext>
              </p:extLst>
            </p:nvPr>
          </p:nvGraphicFramePr>
          <p:xfrm>
            <a:off x="2295525" y="3452945"/>
            <a:ext cx="5791200" cy="171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55" name="Equation" r:id="rId11" imgW="5790960" imgH="1714320" progId="Equation.DSMT4">
                    <p:embed/>
                  </p:oleObj>
                </mc:Choice>
                <mc:Fallback>
                  <p:oleObj name="Equation" r:id="rId11" imgW="5790960" imgH="171432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95525" y="3452945"/>
                          <a:ext cx="5791200" cy="171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/>
            <p:cNvSpPr>
              <a:spLocks noChangeArrowheads="1"/>
            </p:cNvSpPr>
            <p:nvPr/>
          </p:nvSpPr>
          <p:spPr bwMode="auto">
            <a:xfrm>
              <a:off x="823913" y="4057037"/>
              <a:ext cx="1712608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引入朗德因子</a:t>
              </a:r>
              <a:endPara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083503" y="1017449"/>
            <a:ext cx="2883089" cy="5251589"/>
            <a:chOff x="9083503" y="1017449"/>
            <a:chExt cx="2883089" cy="5251589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3503" y="1017449"/>
              <a:ext cx="2826579" cy="5175799"/>
            </a:xfrm>
            <a:prstGeom prst="rect">
              <a:avLst/>
            </a:prstGeom>
          </p:spPr>
        </p:pic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818921"/>
                </p:ext>
              </p:extLst>
            </p:nvPr>
          </p:nvGraphicFramePr>
          <p:xfrm>
            <a:off x="11776092" y="3173945"/>
            <a:ext cx="190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56" name="Equation" r:id="rId14" imgW="190440" imgH="342720" progId="Equation.DSMT4">
                    <p:embed/>
                  </p:oleObj>
                </mc:Choice>
                <mc:Fallback>
                  <p:oleObj name="Equation" r:id="rId14" imgW="190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1776092" y="3173945"/>
                          <a:ext cx="190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8792603"/>
                </p:ext>
              </p:extLst>
            </p:nvPr>
          </p:nvGraphicFramePr>
          <p:xfrm>
            <a:off x="9401377" y="3854388"/>
            <a:ext cx="292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57" name="Equation" r:id="rId16" imgW="291960" imgH="380880" progId="Equation.DSMT4">
                    <p:embed/>
                  </p:oleObj>
                </mc:Choice>
                <mc:Fallback>
                  <p:oleObj name="Equation" r:id="rId16" imgW="291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9401377" y="3854388"/>
                          <a:ext cx="292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9857126"/>
                </p:ext>
              </p:extLst>
            </p:nvPr>
          </p:nvGraphicFramePr>
          <p:xfrm>
            <a:off x="9934403" y="2646641"/>
            <a:ext cx="203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58" name="Equation" r:id="rId18" imgW="203040" imgH="279360" progId="Equation.DSMT4">
                    <p:embed/>
                  </p:oleObj>
                </mc:Choice>
                <mc:Fallback>
                  <p:oleObj name="Equation" r:id="rId18" imgW="2030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9934403" y="2646641"/>
                          <a:ext cx="203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1613793"/>
                </p:ext>
              </p:extLst>
            </p:nvPr>
          </p:nvGraphicFramePr>
          <p:xfrm>
            <a:off x="11139476" y="5280510"/>
            <a:ext cx="317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59" name="Equation" r:id="rId20" imgW="317160" imgH="380880" progId="Equation.DSMT4">
                    <p:embed/>
                  </p:oleObj>
                </mc:Choice>
                <mc:Fallback>
                  <p:oleObj name="Equation" r:id="rId20" imgW="317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1139476" y="5280510"/>
                          <a:ext cx="317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7741908"/>
                </p:ext>
              </p:extLst>
            </p:nvPr>
          </p:nvGraphicFramePr>
          <p:xfrm>
            <a:off x="11694182" y="1672282"/>
            <a:ext cx="215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60" name="Equation" r:id="rId22" imgW="215640" imgH="406080" progId="Equation.DSMT4">
                    <p:embed/>
                  </p:oleObj>
                </mc:Choice>
                <mc:Fallback>
                  <p:oleObj name="Equation" r:id="rId22" imgW="21564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1694182" y="1672282"/>
                          <a:ext cx="215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7629470"/>
                </p:ext>
              </p:extLst>
            </p:nvPr>
          </p:nvGraphicFramePr>
          <p:xfrm>
            <a:off x="10796782" y="1017449"/>
            <a:ext cx="266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61" name="Equation" r:id="rId24" imgW="266400" imgH="330120" progId="Equation.DSMT4">
                    <p:embed/>
                  </p:oleObj>
                </mc:Choice>
                <mc:Fallback>
                  <p:oleObj name="Equation" r:id="rId24" imgW="2664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0796782" y="1017449"/>
                          <a:ext cx="266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2972323"/>
                </p:ext>
              </p:extLst>
            </p:nvPr>
          </p:nvGraphicFramePr>
          <p:xfrm>
            <a:off x="10128342" y="1647520"/>
            <a:ext cx="266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62" name="Equation" r:id="rId26" imgW="266400" imgH="431640" progId="Equation.DSMT4">
                    <p:embed/>
                  </p:oleObj>
                </mc:Choice>
                <mc:Fallback>
                  <p:oleObj name="Equation" r:id="rId26" imgW="26640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0128342" y="1647520"/>
                          <a:ext cx="2667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4857094"/>
                </p:ext>
              </p:extLst>
            </p:nvPr>
          </p:nvGraphicFramePr>
          <p:xfrm>
            <a:off x="10296525" y="5938838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63" name="Equation" r:id="rId28" imgW="241200" imgH="330120" progId="Equation.DSMT4">
                    <p:embed/>
                  </p:oleObj>
                </mc:Choice>
                <mc:Fallback>
                  <p:oleObj name="Equation" r:id="rId28" imgW="241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10296525" y="5938838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3334686"/>
                </p:ext>
              </p:extLst>
            </p:nvPr>
          </p:nvGraphicFramePr>
          <p:xfrm>
            <a:off x="9229927" y="5774148"/>
            <a:ext cx="317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264" name="Equation" r:id="rId30" imgW="317184" imgH="419415" progId="Equation.DSMT4">
                    <p:embed/>
                  </p:oleObj>
                </mc:Choice>
                <mc:Fallback>
                  <p:oleObj name="Equation" r:id="rId30" imgW="317184" imgH="419415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9229927" y="5774148"/>
                          <a:ext cx="317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9141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23285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11.1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原子的磁矩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920396" y="1723215"/>
            <a:ext cx="306205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单电子原子的磁矩</a:t>
            </a:r>
            <a:endParaRPr lang="zh-CN" altLang="en-US" sz="18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905892" y="814249"/>
            <a:ext cx="3017514" cy="5577026"/>
            <a:chOff x="8905892" y="814249"/>
            <a:chExt cx="3017514" cy="5577026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9815556"/>
                </p:ext>
              </p:extLst>
            </p:nvPr>
          </p:nvGraphicFramePr>
          <p:xfrm>
            <a:off x="11692009" y="1770840"/>
            <a:ext cx="190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88" name="Equation" r:id="rId3" imgW="190440" imgH="342720" progId="Equation.DSMT4">
                    <p:embed/>
                  </p:oleObj>
                </mc:Choice>
                <mc:Fallback>
                  <p:oleObj name="Equation" r:id="rId3" imgW="190440" imgH="342720" progId="Equation.DSMT4">
                    <p:embed/>
                    <p:pic>
                      <p:nvPicPr>
                        <p:cNvPr id="13" name="对象 1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692009" y="1770840"/>
                          <a:ext cx="190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0619130"/>
                </p:ext>
              </p:extLst>
            </p:nvPr>
          </p:nvGraphicFramePr>
          <p:xfrm>
            <a:off x="9077342" y="3824052"/>
            <a:ext cx="292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89" name="Equation" r:id="rId5" imgW="291960" imgH="380880" progId="Equation.DSMT4">
                    <p:embed/>
                  </p:oleObj>
                </mc:Choice>
                <mc:Fallback>
                  <p:oleObj name="Equation" r:id="rId5" imgW="291960" imgH="380880" progId="Equation.DSMT4">
                    <p:embed/>
                    <p:pic>
                      <p:nvPicPr>
                        <p:cNvPr id="14" name="对象 1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77342" y="3824052"/>
                          <a:ext cx="292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3751567"/>
                </p:ext>
              </p:extLst>
            </p:nvPr>
          </p:nvGraphicFramePr>
          <p:xfrm>
            <a:off x="9729018" y="1953867"/>
            <a:ext cx="203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90" name="Equation" r:id="rId7" imgW="203040" imgH="279360" progId="Equation.DSMT4">
                    <p:embed/>
                  </p:oleObj>
                </mc:Choice>
                <mc:Fallback>
                  <p:oleObj name="Equation" r:id="rId7" imgW="203040" imgH="279360" progId="Equation.DSMT4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729018" y="1953867"/>
                          <a:ext cx="203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5849368"/>
                </p:ext>
              </p:extLst>
            </p:nvPr>
          </p:nvGraphicFramePr>
          <p:xfrm>
            <a:off x="11075526" y="4980732"/>
            <a:ext cx="317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91" name="Equation" r:id="rId9" imgW="317160" imgH="380880" progId="Equation.DSMT4">
                    <p:embed/>
                  </p:oleObj>
                </mc:Choice>
                <mc:Fallback>
                  <p:oleObj name="Equation" r:id="rId9" imgW="317160" imgH="380880" progId="Equation.DSMT4">
                    <p:embed/>
                    <p:pic>
                      <p:nvPicPr>
                        <p:cNvPr id="22" name="对象 2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075526" y="4980732"/>
                          <a:ext cx="317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7743430"/>
                </p:ext>
              </p:extLst>
            </p:nvPr>
          </p:nvGraphicFramePr>
          <p:xfrm>
            <a:off x="10967576" y="814249"/>
            <a:ext cx="215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92" name="Equation" r:id="rId11" imgW="215640" imgH="406080" progId="Equation.DSMT4">
                    <p:embed/>
                  </p:oleObj>
                </mc:Choice>
                <mc:Fallback>
                  <p:oleObj name="Equation" r:id="rId11" imgW="215640" imgH="406080" progId="Equation.DSMT4">
                    <p:embed/>
                    <p:pic>
                      <p:nvPicPr>
                        <p:cNvPr id="23" name="对象 2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967576" y="814249"/>
                          <a:ext cx="215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0246368"/>
                </p:ext>
              </p:extLst>
            </p:nvPr>
          </p:nvGraphicFramePr>
          <p:xfrm>
            <a:off x="10169525" y="6061075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93" name="Equation" r:id="rId13" imgW="241200" imgH="330120" progId="Equation.DSMT4">
                    <p:embed/>
                  </p:oleObj>
                </mc:Choice>
                <mc:Fallback>
                  <p:oleObj name="Equation" r:id="rId13" imgW="241200" imgH="330120" progId="Equation.DSMT4">
                    <p:embed/>
                    <p:pic>
                      <p:nvPicPr>
                        <p:cNvPr id="29" name="对象 2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169525" y="6061075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954629"/>
                </p:ext>
              </p:extLst>
            </p:nvPr>
          </p:nvGraphicFramePr>
          <p:xfrm>
            <a:off x="8905892" y="5418811"/>
            <a:ext cx="317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94" name="Equation" r:id="rId15" imgW="317184" imgH="419415" progId="Equation.DSMT4">
                    <p:embed/>
                  </p:oleObj>
                </mc:Choice>
                <mc:Fallback>
                  <p:oleObj name="Equation" r:id="rId15" imgW="317184" imgH="419415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905892" y="5418811"/>
                          <a:ext cx="317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208781" y="934239"/>
              <a:ext cx="2714625" cy="5257800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/>
        </p:nvGrpSpPr>
        <p:grpSpPr>
          <a:xfrm>
            <a:off x="881853" y="2059934"/>
            <a:ext cx="3776195" cy="507831"/>
            <a:chOff x="921929" y="6137359"/>
            <a:chExt cx="4427837" cy="507831"/>
          </a:xfrm>
        </p:grpSpPr>
        <p:sp>
          <p:nvSpPr>
            <p:cNvPr id="32" name="矩形 31"/>
            <p:cNvSpPr>
              <a:spLocks noChangeArrowheads="1"/>
            </p:cNvSpPr>
            <p:nvPr/>
          </p:nvSpPr>
          <p:spPr bwMode="auto">
            <a:xfrm>
              <a:off x="921929" y="6137359"/>
              <a:ext cx="4427837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使用       作为单电子原子的总磁矩</a:t>
              </a:r>
              <a:endPara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4205468"/>
                </p:ext>
              </p:extLst>
            </p:nvPr>
          </p:nvGraphicFramePr>
          <p:xfrm>
            <a:off x="1644703" y="6181724"/>
            <a:ext cx="317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95" name="Equation" r:id="rId18" imgW="317160" imgH="419040" progId="Equation.DSMT4">
                    <p:embed/>
                  </p:oleObj>
                </mc:Choice>
                <mc:Fallback>
                  <p:oleObj name="Equation" r:id="rId18" imgW="31716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644703" y="6181724"/>
                          <a:ext cx="317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587790"/>
              </p:ext>
            </p:extLst>
          </p:nvPr>
        </p:nvGraphicFramePr>
        <p:xfrm>
          <a:off x="5104637" y="2036452"/>
          <a:ext cx="383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6" name="Equation" r:id="rId20" imgW="3835080" imgH="520560" progId="Equation.DSMT4">
                  <p:embed/>
                </p:oleObj>
              </mc:Choice>
              <mc:Fallback>
                <p:oleObj name="Equation" r:id="rId20" imgW="3835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04637" y="2036452"/>
                        <a:ext cx="38354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008092"/>
              </p:ext>
            </p:extLst>
          </p:nvPr>
        </p:nvGraphicFramePr>
        <p:xfrm>
          <a:off x="994787" y="3180214"/>
          <a:ext cx="328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7" name="Equation" r:id="rId22" imgW="3288960" imgH="406080" progId="Equation.DSMT4">
                  <p:embed/>
                </p:oleObj>
              </mc:Choice>
              <mc:Fallback>
                <p:oleObj name="Equation" r:id="rId22" imgW="3288960" imgH="406080" progId="Equation.DSMT4">
                  <p:embed/>
                  <p:pic>
                    <p:nvPicPr>
                      <p:cNvPr id="307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787" y="3180214"/>
                        <a:ext cx="3289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624970"/>
              </p:ext>
            </p:extLst>
          </p:nvPr>
        </p:nvGraphicFramePr>
        <p:xfrm>
          <a:off x="5228055" y="3180214"/>
          <a:ext cx="326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8" name="Equation" r:id="rId24" imgW="3263760" imgH="406080" progId="Equation.DSMT4">
                  <p:embed/>
                </p:oleObj>
              </mc:Choice>
              <mc:Fallback>
                <p:oleObj name="Equation" r:id="rId24" imgW="3263760" imgH="406080" progId="Equation.DSMT4">
                  <p:embed/>
                  <p:pic>
                    <p:nvPicPr>
                      <p:cNvPr id="307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8055" y="3180214"/>
                        <a:ext cx="3263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920396" y="2605980"/>
            <a:ext cx="181646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根据余弦定理</a:t>
            </a:r>
            <a:endParaRPr lang="zh-CN" altLang="en-US" sz="18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119742"/>
              </p:ext>
            </p:extLst>
          </p:nvPr>
        </p:nvGraphicFramePr>
        <p:xfrm>
          <a:off x="994787" y="4058093"/>
          <a:ext cx="4876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9" name="Equation" r:id="rId26" imgW="4876560" imgH="977760" progId="Equation.DSMT4">
                  <p:embed/>
                </p:oleObj>
              </mc:Choice>
              <mc:Fallback>
                <p:oleObj name="Equation" r:id="rId26" imgW="4876560" imgH="977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94787" y="4058093"/>
                        <a:ext cx="4876800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732499"/>
              </p:ext>
            </p:extLst>
          </p:nvPr>
        </p:nvGraphicFramePr>
        <p:xfrm>
          <a:off x="1021530" y="5183152"/>
          <a:ext cx="4876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00" name="Equation" r:id="rId28" imgW="4876560" imgH="977760" progId="Equation.DSMT4">
                  <p:embed/>
                </p:oleObj>
              </mc:Choice>
              <mc:Fallback>
                <p:oleObj name="Equation" r:id="rId28" imgW="4876560" imgH="977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21530" y="5183152"/>
                        <a:ext cx="4876800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/>
          <p:nvPr/>
        </p:nvSpPr>
        <p:spPr>
          <a:xfrm>
            <a:off x="723357" y="3095779"/>
            <a:ext cx="8024039" cy="57401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875757" y="3989130"/>
            <a:ext cx="5159283" cy="218411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下箭头 44"/>
          <p:cNvSpPr/>
          <p:nvPr/>
        </p:nvSpPr>
        <p:spPr>
          <a:xfrm>
            <a:off x="2574430" y="3723894"/>
            <a:ext cx="391040" cy="234041"/>
          </a:xfrm>
          <a:prstGeom prst="downArrow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27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9" grpId="0"/>
      <p:bldP spid="41" grpId="0" animBg="1"/>
      <p:bldP spid="46" grpId="0" animBg="1"/>
      <p:bldP spid="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23285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11.1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原子的磁矩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920396" y="1723215"/>
            <a:ext cx="306205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单电子原子的磁矩</a:t>
            </a:r>
            <a:endParaRPr lang="zh-CN" altLang="en-US" sz="18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506774"/>
              </p:ext>
            </p:extLst>
          </p:nvPr>
        </p:nvGraphicFramePr>
        <p:xfrm>
          <a:off x="622410" y="2081375"/>
          <a:ext cx="10795000" cy="46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417" name="Equation" r:id="rId3" imgW="10794960" imgH="4673520" progId="Equation.DSMT4">
                  <p:embed/>
                </p:oleObj>
              </mc:Choice>
              <mc:Fallback>
                <p:oleObj name="Equation" r:id="rId3" imgW="10794960" imgH="467352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410" y="2081375"/>
                        <a:ext cx="10795000" cy="46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447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23285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11.1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原子的磁矩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212492" y="1296272"/>
            <a:ext cx="306205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单电子原子的磁矩</a:t>
            </a:r>
            <a:endParaRPr lang="zh-CN" altLang="en-US" sz="18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202780"/>
              </p:ext>
            </p:extLst>
          </p:nvPr>
        </p:nvGraphicFramePr>
        <p:xfrm>
          <a:off x="683775" y="1528143"/>
          <a:ext cx="9525000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662" name="Equation" r:id="rId3" imgW="9524880" imgH="2705040" progId="Equation.DSMT4">
                  <p:embed/>
                </p:oleObj>
              </mc:Choice>
              <mc:Fallback>
                <p:oleObj name="Equation" r:id="rId3" imgW="9524880" imgH="270504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775" y="1528143"/>
                        <a:ext cx="9525000" cy="270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37478"/>
              </p:ext>
            </p:extLst>
          </p:nvPr>
        </p:nvGraphicFramePr>
        <p:xfrm>
          <a:off x="683775" y="4145583"/>
          <a:ext cx="11023600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663" name="Equation" r:id="rId5" imgW="11023560" imgH="2705040" progId="Equation.DSMT4">
                  <p:embed/>
                </p:oleObj>
              </mc:Choice>
              <mc:Fallback>
                <p:oleObj name="Equation" r:id="rId5" imgW="11023560" imgH="2705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775" y="4145583"/>
                        <a:ext cx="11023600" cy="270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640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23285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11.1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原子的磁矩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26340" y="1723215"/>
            <a:ext cx="306205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多电子原子的磁矩</a:t>
            </a:r>
            <a:endParaRPr lang="zh-CN" altLang="en-US" sz="18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961670"/>
              </p:ext>
            </p:extLst>
          </p:nvPr>
        </p:nvGraphicFramePr>
        <p:xfrm>
          <a:off x="2027566" y="2155015"/>
          <a:ext cx="488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74" name="Equation" r:id="rId3" imgW="4889160" imgH="888840" progId="Equation.DSMT4">
                  <p:embed/>
                </p:oleObj>
              </mc:Choice>
              <mc:Fallback>
                <p:oleObj name="Equation" r:id="rId3" imgW="4889160" imgH="8888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27566" y="2155015"/>
                        <a:ext cx="48895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79803" y="2380440"/>
            <a:ext cx="1117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LS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078451"/>
              </p:ext>
            </p:extLst>
          </p:nvPr>
        </p:nvGraphicFramePr>
        <p:xfrm>
          <a:off x="1470409" y="3133014"/>
          <a:ext cx="9829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75" name="Equation" r:id="rId5" imgW="9829800" imgH="901440" progId="Equation.DSMT4">
                  <p:embed/>
                </p:oleObj>
              </mc:Choice>
              <mc:Fallback>
                <p:oleObj name="Equation" r:id="rId5" imgW="9829800" imgH="9014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0409" y="3133014"/>
                        <a:ext cx="98298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/>
          <p:cNvSpPr txBox="1">
            <a:spLocks/>
          </p:cNvSpPr>
          <p:nvPr/>
        </p:nvSpPr>
        <p:spPr bwMode="auto">
          <a:xfrm>
            <a:off x="479803" y="3364789"/>
            <a:ext cx="1117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jj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467454" y="4126790"/>
            <a:ext cx="673213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例：求下列原子态的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因子（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3/2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endParaRPr lang="zh-CN" altLang="en-US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887747" y="4544299"/>
            <a:ext cx="426659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11.2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原子在外磁场中的附加能量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4" name="内容占位符 2"/>
          <p:cNvSpPr txBox="1">
            <a:spLocks/>
          </p:cNvSpPr>
          <p:nvPr/>
        </p:nvSpPr>
        <p:spPr bwMode="auto">
          <a:xfrm>
            <a:off x="683775" y="5009908"/>
            <a:ext cx="7371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处在均匀磁场中的原子，原子磁矩与外磁场的相互作用能为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6" name="内容占位符 2"/>
          <p:cNvSpPr txBox="1">
            <a:spLocks/>
          </p:cNvSpPr>
          <p:nvPr/>
        </p:nvSpPr>
        <p:spPr bwMode="auto">
          <a:xfrm>
            <a:off x="736325" y="5930344"/>
            <a:ext cx="646326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原子在磁场作用下，能级分裂为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+1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条（一般情况下）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249942"/>
              </p:ext>
            </p:extLst>
          </p:nvPr>
        </p:nvGraphicFramePr>
        <p:xfrm>
          <a:off x="795338" y="5448300"/>
          <a:ext cx="4470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76" name="Equation" r:id="rId7" imgW="4470120" imgH="444240" progId="Equation.DSMT4">
                  <p:embed/>
                </p:oleObj>
              </mc:Choice>
              <mc:Fallback>
                <p:oleObj name="Equation" r:id="rId7" imgW="4470120" imgH="4442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5338" y="5448300"/>
                        <a:ext cx="44704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073323"/>
              </p:ext>
            </p:extLst>
          </p:nvPr>
        </p:nvGraphicFramePr>
        <p:xfrm>
          <a:off x="6235377" y="5469444"/>
          <a:ext cx="2273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77" name="Equation" r:id="rId9" imgW="2273040" imgH="380880" progId="Equation.DSMT4">
                  <p:embed/>
                </p:oleObj>
              </mc:Choice>
              <mc:Fallback>
                <p:oleObj name="Equation" r:id="rId9" imgW="2273040" imgH="3808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35377" y="5469444"/>
                        <a:ext cx="2273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内容占位符 2"/>
          <p:cNvSpPr txBox="1">
            <a:spLocks/>
          </p:cNvSpPr>
          <p:nvPr/>
        </p:nvSpPr>
        <p:spPr bwMode="auto">
          <a:xfrm>
            <a:off x="479803" y="6324276"/>
            <a:ext cx="877981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例：弱磁场下，下列原子态能级分裂情况（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3/2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endParaRPr lang="zh-CN" altLang="en-US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</p:spTree>
    <p:extLst>
      <p:ext uri="{BB962C8B-B14F-4D97-AF65-F5344CB8AC3E}">
        <p14:creationId xmlns:p14="http://schemas.microsoft.com/office/powerpoint/2010/main" val="247355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2" grpId="0"/>
      <p:bldP spid="14" grpId="0"/>
      <p:bldP spid="16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426659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11.3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原子光谱的塞曼效应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pic>
        <p:nvPicPr>
          <p:cNvPr id="309270" name="Picture 22" descr="https://gimg2.baidu.com/image_search/src=http%3A%2F%2Fp1.qhmsg.com%2Ft01d0f1eb2c00920d77.png&amp;refer=http%3A%2F%2Fp1.qhmsg.com&amp;app=2002&amp;size=f9999,10000&amp;q=a80&amp;n=0&amp;g=0n&amp;fmt=jpeg?sec=1622198845&amp;t=b2d137e685f3784febfd4d206ad48a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909" y="945439"/>
            <a:ext cx="40767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矩形 17"/>
          <p:cNvSpPr/>
          <p:nvPr/>
        </p:nvSpPr>
        <p:spPr>
          <a:xfrm>
            <a:off x="472965" y="1723215"/>
            <a:ext cx="687376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把原子放入磁场中，其光谱线发生分裂，原来的一条谱线分裂成几条的现象，被称为塞曼（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Zeeman)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效应。这是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1896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年由荷兰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物理学家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Zeeman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在实验中观察到的。光谱的分裂根源于其能级的分裂。根据谱线分裂情况的不同，塞曼效应分为正常塞曼效应与反常塞曼效应。一般情况下，谱线分裂成很多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成分，称为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反常塞曼效应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，也叫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复杂塞曼效应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。特殊情况下，谱线分裂成三种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成分，称为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正常塞曼效应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，也叫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简单塞曼效应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。塞曼效应反映了原子所处状态，从塞曼效应的实验结果可以推断有关能级的分裂情况，是研究原子结构的重要途径之一。</a:t>
            </a:r>
            <a:endParaRPr lang="zh-CN" altLang="en-US" sz="2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95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426659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11.3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原子光谱的塞曼效应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26340" y="1723215"/>
            <a:ext cx="306205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正常塞曼效应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61988" y="2560882"/>
            <a:ext cx="1117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5s5d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1585" y="2128712"/>
            <a:ext cx="6580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外磁场下，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Cd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（镉原子）从激发态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5s5d</a:t>
            </a:r>
            <a:r>
              <a:rPr lang="en-US" altLang="zh-CN" sz="2000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向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5s5p</a:t>
            </a:r>
            <a:r>
              <a:rPr lang="en-US" altLang="zh-CN" sz="2000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跃迁</a:t>
            </a:r>
            <a:endParaRPr lang="zh-CN" altLang="en-US" sz="2000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89813" y="2546108"/>
            <a:ext cx="6823494" cy="4770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±1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±2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572043" y="3221991"/>
            <a:ext cx="1117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5s5p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79758" y="3221639"/>
            <a:ext cx="6833549" cy="4770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          ∆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183887"/>
              </p:ext>
            </p:extLst>
          </p:nvPr>
        </p:nvGraphicFramePr>
        <p:xfrm>
          <a:off x="769379" y="5667847"/>
          <a:ext cx="3352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216" name="Equation" r:id="rId3" imgW="3352680" imgH="1079280" progId="Equation.DSMT4">
                  <p:embed/>
                </p:oleObj>
              </mc:Choice>
              <mc:Fallback>
                <p:oleObj name="Equation" r:id="rId3" imgW="3352680" imgH="107928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9379" y="5667847"/>
                        <a:ext cx="33528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769379" y="3883100"/>
            <a:ext cx="6912854" cy="4770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0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9379" y="4583113"/>
            <a:ext cx="6494063" cy="86177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l-GR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CN" sz="2000" b="1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l-GR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+(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0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3" r="20611"/>
          <a:stretch/>
        </p:blipFill>
        <p:spPr>
          <a:xfrm>
            <a:off x="6775358" y="646245"/>
            <a:ext cx="1414732" cy="13345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533" y="3046167"/>
            <a:ext cx="2492701" cy="37348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421" y="657740"/>
            <a:ext cx="3714812" cy="390055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8" t="24540" r="11179" b="21534"/>
          <a:stretch/>
        </p:blipFill>
        <p:spPr>
          <a:xfrm>
            <a:off x="5399198" y="5125635"/>
            <a:ext cx="3023223" cy="161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6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3" grpId="0"/>
      <p:bldP spid="8" grpId="0"/>
      <p:bldP spid="13" grpId="0"/>
      <p:bldP spid="14" grpId="0"/>
      <p:bldP spid="15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426659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11.3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原子光谱的塞曼效应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26341" y="1723215"/>
            <a:ext cx="2182686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正常塞曼效应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42" name="Rectangle 61"/>
          <p:cNvSpPr>
            <a:spLocks noChangeArrowheads="1"/>
          </p:cNvSpPr>
          <p:nvPr/>
        </p:nvSpPr>
        <p:spPr bwMode="auto">
          <a:xfrm>
            <a:off x="790671" y="4545016"/>
            <a:ext cx="38154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2        1        0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/>
          </a:p>
        </p:txBody>
      </p:sp>
      <p:sp>
        <p:nvSpPr>
          <p:cNvPr id="43" name="Rectangle 62"/>
          <p:cNvSpPr>
            <a:spLocks noChangeArrowheads="1"/>
          </p:cNvSpPr>
          <p:nvPr/>
        </p:nvSpPr>
        <p:spPr bwMode="auto">
          <a:xfrm>
            <a:off x="790671" y="5835628"/>
            <a:ext cx="30973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  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1        0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en-US" altLang="zh-CN" sz="2000" b="1" dirty="0"/>
          </a:p>
        </p:txBody>
      </p:sp>
      <p:sp>
        <p:nvSpPr>
          <p:cNvPr id="44" name="Line 52"/>
          <p:cNvSpPr>
            <a:spLocks noChangeShapeType="1"/>
          </p:cNvSpPr>
          <p:nvPr/>
        </p:nvSpPr>
        <p:spPr bwMode="auto">
          <a:xfrm>
            <a:off x="2874410" y="4945126"/>
            <a:ext cx="0" cy="89050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52"/>
          <p:cNvSpPr>
            <a:spLocks noChangeShapeType="1"/>
          </p:cNvSpPr>
          <p:nvPr/>
        </p:nvSpPr>
        <p:spPr bwMode="auto">
          <a:xfrm>
            <a:off x="3561155" y="4945126"/>
            <a:ext cx="0" cy="89050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52"/>
          <p:cNvSpPr>
            <a:spLocks noChangeShapeType="1"/>
          </p:cNvSpPr>
          <p:nvPr/>
        </p:nvSpPr>
        <p:spPr bwMode="auto">
          <a:xfrm>
            <a:off x="2241061" y="4945126"/>
            <a:ext cx="0" cy="89050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53"/>
          <p:cNvSpPr>
            <a:spLocks noChangeShapeType="1"/>
          </p:cNvSpPr>
          <p:nvPr/>
        </p:nvSpPr>
        <p:spPr bwMode="auto">
          <a:xfrm>
            <a:off x="1613681" y="4987973"/>
            <a:ext cx="573985" cy="843375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53"/>
          <p:cNvSpPr>
            <a:spLocks noChangeShapeType="1"/>
          </p:cNvSpPr>
          <p:nvPr/>
        </p:nvSpPr>
        <p:spPr bwMode="auto">
          <a:xfrm>
            <a:off x="2905430" y="4953976"/>
            <a:ext cx="573985" cy="843375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53"/>
          <p:cNvSpPr>
            <a:spLocks noChangeShapeType="1"/>
          </p:cNvSpPr>
          <p:nvPr/>
        </p:nvSpPr>
        <p:spPr bwMode="auto">
          <a:xfrm>
            <a:off x="2272082" y="5008922"/>
            <a:ext cx="573985" cy="843375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60"/>
          <p:cNvSpPr>
            <a:spLocks noChangeShapeType="1"/>
          </p:cNvSpPr>
          <p:nvPr/>
        </p:nvSpPr>
        <p:spPr bwMode="auto">
          <a:xfrm flipH="1">
            <a:off x="2927805" y="4939688"/>
            <a:ext cx="580327" cy="89166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60"/>
          <p:cNvSpPr>
            <a:spLocks noChangeShapeType="1"/>
          </p:cNvSpPr>
          <p:nvPr/>
        </p:nvSpPr>
        <p:spPr bwMode="auto">
          <a:xfrm flipH="1">
            <a:off x="2271895" y="4924830"/>
            <a:ext cx="580327" cy="89166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60"/>
          <p:cNvSpPr>
            <a:spLocks noChangeShapeType="1"/>
          </p:cNvSpPr>
          <p:nvPr/>
        </p:nvSpPr>
        <p:spPr bwMode="auto">
          <a:xfrm flipH="1">
            <a:off x="3585832" y="4934978"/>
            <a:ext cx="580327" cy="89166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Rectangle 67"/>
          <p:cNvSpPr>
            <a:spLocks noChangeArrowheads="1"/>
          </p:cNvSpPr>
          <p:nvPr/>
        </p:nvSpPr>
        <p:spPr bwMode="auto">
          <a:xfrm>
            <a:off x="624536" y="6244728"/>
            <a:ext cx="32634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CC99FF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smtClean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CN" altLang="en-US" sz="2000" b="1" dirty="0"/>
          </a:p>
        </p:txBody>
      </p:sp>
      <p:graphicFrame>
        <p:nvGraphicFramePr>
          <p:cNvPr id="128021" name="对象 1280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105572"/>
              </p:ext>
            </p:extLst>
          </p:nvPr>
        </p:nvGraphicFramePr>
        <p:xfrm>
          <a:off x="835025" y="2187575"/>
          <a:ext cx="30226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238" name="Equation" r:id="rId4" imgW="3022560" imgH="1536480" progId="Equation.DSMT4">
                  <p:embed/>
                </p:oleObj>
              </mc:Choice>
              <mc:Fallback>
                <p:oleObj name="Equation" r:id="rId4" imgW="3022560" imgH="1536480" progId="Equation.DSMT4">
                  <p:embed/>
                  <p:pic>
                    <p:nvPicPr>
                      <p:cNvPr id="128021" name="对象 12802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5025" y="2187575"/>
                        <a:ext cx="3022600" cy="153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" name="矩形 165"/>
          <p:cNvSpPr/>
          <p:nvPr/>
        </p:nvSpPr>
        <p:spPr>
          <a:xfrm>
            <a:off x="790671" y="3789251"/>
            <a:ext cx="31133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相邻谱线频率差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l-GR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/h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790671" y="4154683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洛伦兹频率单位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36239" name="ShockwaveFlash1" r:id="rId2" imgW="7385040" imgH="4923000"/>
        </mc:Choice>
        <mc:Fallback>
          <p:control name="ShockwaveFlash1" r:id="rId2" imgW="7385040" imgH="4923000">
            <p:pic>
              <p:nvPicPr>
                <p:cNvPr id="2" name="ShockwaveFlash1"/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29599" y="1414022"/>
                  <a:ext cx="7385348" cy="4923084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58447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80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2" grpId="0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166" grpId="0"/>
      <p:bldP spid="1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426659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11.3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原子光谱的塞曼效应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26340" y="1723215"/>
            <a:ext cx="306205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反常塞曼效应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467455" y="2184004"/>
            <a:ext cx="68445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26435" y="1727926"/>
            <a:ext cx="87030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外磁场下，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（钠原子）从激发态</a:t>
            </a:r>
            <a:r>
              <a:rPr lang="en-US" altLang="zh-CN" sz="2000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2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3/2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向</a:t>
            </a:r>
            <a:r>
              <a:rPr lang="en-US" altLang="zh-CN" sz="2000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跃迁的能级及光谱劈裂</a:t>
            </a:r>
            <a:endParaRPr lang="zh-CN" altLang="en-US" sz="2000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9308" y="2078685"/>
            <a:ext cx="1009109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   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=±1/2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             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=±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467455" y="2676340"/>
            <a:ext cx="68445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09308" y="3051378"/>
            <a:ext cx="1009109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=3/2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=4/3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=±1/2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±3/2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=±2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/3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±2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309308" y="2594238"/>
            <a:ext cx="1009109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=2/3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=±1/2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             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=±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/3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内容占位符 2"/>
          <p:cNvSpPr txBox="1">
            <a:spLocks/>
          </p:cNvSpPr>
          <p:nvPr/>
        </p:nvSpPr>
        <p:spPr bwMode="auto">
          <a:xfrm>
            <a:off x="467455" y="3168677"/>
            <a:ext cx="68445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3/2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0" name="内容占位符 2"/>
          <p:cNvSpPr txBox="1">
            <a:spLocks/>
          </p:cNvSpPr>
          <p:nvPr/>
        </p:nvSpPr>
        <p:spPr bwMode="auto">
          <a:xfrm>
            <a:off x="1460665" y="3685640"/>
            <a:ext cx="68445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1" name="内容占位符 2"/>
          <p:cNvSpPr txBox="1">
            <a:spLocks/>
          </p:cNvSpPr>
          <p:nvPr/>
        </p:nvSpPr>
        <p:spPr bwMode="auto">
          <a:xfrm>
            <a:off x="467454" y="3685640"/>
            <a:ext cx="68445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1151905" y="3904715"/>
            <a:ext cx="308760" cy="45719"/>
          </a:xfrm>
          <a:prstGeom prst="rightArrow">
            <a:avLst/>
          </a:prstGeom>
          <a:ln>
            <a:solidFill>
              <a:srgbClr val="41B0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ctangle 61"/>
          <p:cNvSpPr>
            <a:spLocks noChangeArrowheads="1"/>
          </p:cNvSpPr>
          <p:nvPr/>
        </p:nvSpPr>
        <p:spPr bwMode="auto">
          <a:xfrm>
            <a:off x="102944" y="4171834"/>
            <a:ext cx="27542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     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/>
          </a:p>
        </p:txBody>
      </p:sp>
      <p:sp>
        <p:nvSpPr>
          <p:cNvPr id="35" name="Rectangle 62"/>
          <p:cNvSpPr>
            <a:spLocks noChangeArrowheads="1"/>
          </p:cNvSpPr>
          <p:nvPr/>
        </p:nvSpPr>
        <p:spPr bwMode="auto">
          <a:xfrm>
            <a:off x="385139" y="5557078"/>
            <a:ext cx="25971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      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 </a:t>
            </a:r>
            <a:endParaRPr lang="en-US" altLang="zh-CN" sz="2000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1240431" y="4935095"/>
            <a:ext cx="1335183" cy="573861"/>
            <a:chOff x="1835529" y="4714916"/>
            <a:chExt cx="633349" cy="890502"/>
          </a:xfrm>
        </p:grpSpPr>
        <p:sp>
          <p:nvSpPr>
            <p:cNvPr id="36" name="Line 52"/>
            <p:cNvSpPr>
              <a:spLocks noChangeShapeType="1"/>
            </p:cNvSpPr>
            <p:nvPr/>
          </p:nvSpPr>
          <p:spPr bwMode="auto">
            <a:xfrm>
              <a:off x="2468878" y="4714916"/>
              <a:ext cx="0" cy="89050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>
              <a:off x="1835529" y="4714916"/>
              <a:ext cx="0" cy="89050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53"/>
            <p:cNvSpPr>
              <a:spLocks noChangeShapeType="1"/>
            </p:cNvSpPr>
            <p:nvPr/>
          </p:nvSpPr>
          <p:spPr bwMode="auto">
            <a:xfrm>
              <a:off x="1869686" y="4714917"/>
              <a:ext cx="576497" cy="871364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60"/>
            <p:cNvSpPr>
              <a:spLocks noChangeShapeType="1"/>
            </p:cNvSpPr>
            <p:nvPr/>
          </p:nvSpPr>
          <p:spPr bwMode="auto">
            <a:xfrm flipH="1">
              <a:off x="1858224" y="4714916"/>
              <a:ext cx="595656" cy="880814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350409" y="6283395"/>
            <a:ext cx="29049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[±2/3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±4/3]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8" name="内容占位符 2"/>
          <p:cNvSpPr txBox="1">
            <a:spLocks/>
          </p:cNvSpPr>
          <p:nvPr/>
        </p:nvSpPr>
        <p:spPr bwMode="auto">
          <a:xfrm>
            <a:off x="4704403" y="3652008"/>
            <a:ext cx="68445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9" name="内容占位符 2"/>
          <p:cNvSpPr txBox="1">
            <a:spLocks/>
          </p:cNvSpPr>
          <p:nvPr/>
        </p:nvSpPr>
        <p:spPr bwMode="auto">
          <a:xfrm>
            <a:off x="3711192" y="3652008"/>
            <a:ext cx="68445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3/2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60" name="右箭头 59"/>
          <p:cNvSpPr/>
          <p:nvPr/>
        </p:nvSpPr>
        <p:spPr>
          <a:xfrm>
            <a:off x="4395643" y="3871083"/>
            <a:ext cx="308760" cy="45719"/>
          </a:xfrm>
          <a:prstGeom prst="rightArrow">
            <a:avLst/>
          </a:prstGeom>
          <a:ln>
            <a:solidFill>
              <a:srgbClr val="41B0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Rectangle 61"/>
          <p:cNvSpPr>
            <a:spLocks noChangeArrowheads="1"/>
          </p:cNvSpPr>
          <p:nvPr/>
        </p:nvSpPr>
        <p:spPr bwMode="auto">
          <a:xfrm>
            <a:off x="3649369" y="4459443"/>
            <a:ext cx="35846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3/2      1/2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en-US" altLang="zh-CN" sz="2000" b="1" dirty="0"/>
          </a:p>
        </p:txBody>
      </p:sp>
      <p:sp>
        <p:nvSpPr>
          <p:cNvPr id="62" name="Rectangle 62"/>
          <p:cNvSpPr>
            <a:spLocks noChangeArrowheads="1"/>
          </p:cNvSpPr>
          <p:nvPr/>
        </p:nvSpPr>
        <p:spPr bwMode="auto">
          <a:xfrm>
            <a:off x="3628877" y="5523446"/>
            <a:ext cx="29177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 </a:t>
            </a:r>
            <a:endParaRPr lang="en-US" altLang="zh-CN" sz="2000" b="1" dirty="0"/>
          </a:p>
        </p:txBody>
      </p:sp>
      <p:grpSp>
        <p:nvGrpSpPr>
          <p:cNvPr id="63" name="组合 62"/>
          <p:cNvGrpSpPr/>
          <p:nvPr/>
        </p:nvGrpSpPr>
        <p:grpSpPr>
          <a:xfrm>
            <a:off x="5177642" y="4876712"/>
            <a:ext cx="902524" cy="614085"/>
            <a:chOff x="1835529" y="4714916"/>
            <a:chExt cx="633349" cy="907171"/>
          </a:xfrm>
        </p:grpSpPr>
        <p:sp>
          <p:nvSpPr>
            <p:cNvPr id="64" name="Line 52"/>
            <p:cNvSpPr>
              <a:spLocks noChangeShapeType="1"/>
            </p:cNvSpPr>
            <p:nvPr/>
          </p:nvSpPr>
          <p:spPr bwMode="auto">
            <a:xfrm>
              <a:off x="2468878" y="4714916"/>
              <a:ext cx="0" cy="89050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52"/>
            <p:cNvSpPr>
              <a:spLocks noChangeShapeType="1"/>
            </p:cNvSpPr>
            <p:nvPr/>
          </p:nvSpPr>
          <p:spPr bwMode="auto">
            <a:xfrm>
              <a:off x="1835529" y="4714916"/>
              <a:ext cx="0" cy="89050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53"/>
            <p:cNvSpPr>
              <a:spLocks noChangeShapeType="1"/>
            </p:cNvSpPr>
            <p:nvPr/>
          </p:nvSpPr>
          <p:spPr bwMode="auto">
            <a:xfrm>
              <a:off x="1910650" y="4738530"/>
              <a:ext cx="529885" cy="883557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0"/>
            <p:cNvSpPr>
              <a:spLocks noChangeShapeType="1"/>
            </p:cNvSpPr>
            <p:nvPr/>
          </p:nvSpPr>
          <p:spPr bwMode="auto">
            <a:xfrm flipH="1">
              <a:off x="1866363" y="4738530"/>
              <a:ext cx="547612" cy="84775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" name="矩形 67"/>
          <p:cNvSpPr/>
          <p:nvPr/>
        </p:nvSpPr>
        <p:spPr>
          <a:xfrm>
            <a:off x="3445859" y="6261484"/>
            <a:ext cx="37481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[±1/3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±3/3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±5/3]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69" name="Line 60"/>
          <p:cNvSpPr>
            <a:spLocks noChangeShapeType="1"/>
          </p:cNvSpPr>
          <p:nvPr/>
        </p:nvSpPr>
        <p:spPr bwMode="auto">
          <a:xfrm flipH="1">
            <a:off x="6120555" y="4884911"/>
            <a:ext cx="659885" cy="55829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53"/>
          <p:cNvSpPr>
            <a:spLocks noChangeShapeType="1"/>
          </p:cNvSpPr>
          <p:nvPr/>
        </p:nvSpPr>
        <p:spPr bwMode="auto">
          <a:xfrm>
            <a:off x="4418206" y="4883791"/>
            <a:ext cx="702663" cy="61548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603572" y="3268928"/>
            <a:ext cx="4521409" cy="3467636"/>
            <a:chOff x="7603572" y="3268928"/>
            <a:chExt cx="4521409" cy="3467636"/>
          </a:xfrm>
        </p:grpSpPr>
        <p:grpSp>
          <p:nvGrpSpPr>
            <p:cNvPr id="104" name="组合 103"/>
            <p:cNvGrpSpPr/>
            <p:nvPr/>
          </p:nvGrpSpPr>
          <p:grpSpPr>
            <a:xfrm>
              <a:off x="7603572" y="3268928"/>
              <a:ext cx="4408313" cy="3467636"/>
              <a:chOff x="5015016" y="1369787"/>
              <a:chExt cx="5024211" cy="3952109"/>
            </a:xfrm>
          </p:grpSpPr>
          <p:sp>
            <p:nvSpPr>
              <p:cNvPr id="105" name="Rectangle 61"/>
              <p:cNvSpPr>
                <a:spLocks noChangeArrowheads="1"/>
              </p:cNvSpPr>
              <p:nvPr/>
            </p:nvSpPr>
            <p:spPr bwMode="auto">
              <a:xfrm>
                <a:off x="8845878" y="4642806"/>
                <a:ext cx="670352" cy="6790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indent="3048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 algn="ctr"/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+1/2</a:t>
                </a:r>
              </a:p>
              <a:p>
                <a:pPr indent="0" algn="ctr"/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-1/2</a:t>
                </a: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Rectangle 61"/>
              <p:cNvSpPr>
                <a:spLocks noChangeArrowheads="1"/>
              </p:cNvSpPr>
              <p:nvPr/>
            </p:nvSpPr>
            <p:spPr bwMode="auto">
              <a:xfrm>
                <a:off x="8841944" y="1369787"/>
                <a:ext cx="588647" cy="2683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indent="3048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 algn="ctr">
                  <a:lnSpc>
                    <a:spcPct val="75000"/>
                  </a:lnSpc>
                </a:pPr>
                <a:endPara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+3/2</a:t>
                </a: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+1/2</a:t>
                </a: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 smtClean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1/2</a:t>
                </a: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 smtClean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3/2</a:t>
                </a: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+1/2</a:t>
                </a: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1/2</a:t>
                </a:r>
              </a:p>
            </p:txBody>
          </p:sp>
          <p:sp>
            <p:nvSpPr>
              <p:cNvPr id="107" name="Rectangle 61"/>
              <p:cNvSpPr>
                <a:spLocks noChangeArrowheads="1"/>
              </p:cNvSpPr>
              <p:nvPr/>
            </p:nvSpPr>
            <p:spPr bwMode="auto">
              <a:xfrm>
                <a:off x="9450580" y="1369787"/>
                <a:ext cx="588647" cy="2683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indent="3048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 algn="ctr">
                  <a:lnSpc>
                    <a:spcPct val="75000"/>
                  </a:lnSpc>
                </a:pPr>
                <a:endPara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+2</a:t>
                </a: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+2/3</a:t>
                </a: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 smtClean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2/3</a:t>
                </a: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 smtClean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1/3</a:t>
                </a: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75000"/>
                  </a:lnSpc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1/3</a:t>
                </a: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Rectangle 61"/>
              <p:cNvSpPr>
                <a:spLocks noChangeArrowheads="1"/>
              </p:cNvSpPr>
              <p:nvPr/>
            </p:nvSpPr>
            <p:spPr bwMode="auto">
              <a:xfrm>
                <a:off x="9574836" y="4684189"/>
                <a:ext cx="429701" cy="5963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indent="3048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 algn="ctr"/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</a:p>
              <a:p>
                <a:pPr indent="0" algn="ctr"/>
                <a:r>
                  <a:rPr lang="en-US" altLang="zh-CN" sz="1400" b="1" dirty="0" smtClean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9" name="直接连接符 108"/>
              <p:cNvCxnSpPr/>
              <p:nvPr/>
            </p:nvCxnSpPr>
            <p:spPr>
              <a:xfrm>
                <a:off x="5065889" y="2441730"/>
                <a:ext cx="93191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箭头连接符 109"/>
              <p:cNvCxnSpPr/>
              <p:nvPr/>
            </p:nvCxnSpPr>
            <p:spPr>
              <a:xfrm flipV="1">
                <a:off x="5978075" y="1891017"/>
                <a:ext cx="653399" cy="549785"/>
              </a:xfrm>
              <a:prstGeom prst="straightConnector1">
                <a:avLst/>
              </a:prstGeom>
              <a:ln w="9525"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箭头连接符 110"/>
              <p:cNvCxnSpPr/>
              <p:nvPr/>
            </p:nvCxnSpPr>
            <p:spPr>
              <a:xfrm>
                <a:off x="5978593" y="2424897"/>
                <a:ext cx="652881" cy="221259"/>
              </a:xfrm>
              <a:prstGeom prst="straightConnector1">
                <a:avLst/>
              </a:prstGeom>
              <a:ln w="9525"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/>
              <p:cNvCxnSpPr/>
              <p:nvPr/>
            </p:nvCxnSpPr>
            <p:spPr>
              <a:xfrm flipV="1">
                <a:off x="5976274" y="2272927"/>
                <a:ext cx="655200" cy="151777"/>
              </a:xfrm>
              <a:prstGeom prst="straightConnector1">
                <a:avLst/>
              </a:prstGeom>
              <a:ln w="9525"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箭头连接符 112"/>
              <p:cNvCxnSpPr/>
              <p:nvPr/>
            </p:nvCxnSpPr>
            <p:spPr>
              <a:xfrm flipV="1">
                <a:off x="5993393" y="3601053"/>
                <a:ext cx="642045" cy="185860"/>
              </a:xfrm>
              <a:prstGeom prst="straightConnector1">
                <a:avLst/>
              </a:prstGeom>
              <a:ln w="9525">
                <a:solidFill>
                  <a:srgbClr val="41B0B9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/>
              <p:cNvCxnSpPr/>
              <p:nvPr/>
            </p:nvCxnSpPr>
            <p:spPr>
              <a:xfrm>
                <a:off x="5993393" y="3806681"/>
                <a:ext cx="642045" cy="171810"/>
              </a:xfrm>
              <a:prstGeom prst="straightConnector1">
                <a:avLst/>
              </a:prstGeom>
              <a:ln w="9525">
                <a:solidFill>
                  <a:srgbClr val="41B0B9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5069492" y="3785347"/>
                <a:ext cx="931915" cy="0"/>
              </a:xfrm>
              <a:prstGeom prst="line">
                <a:avLst/>
              </a:prstGeom>
              <a:ln w="57150">
                <a:solidFill>
                  <a:srgbClr val="41B0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>
                <a:off x="6625728" y="1886255"/>
                <a:ext cx="223175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>
                <a:off x="6625728" y="2258931"/>
                <a:ext cx="223175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>
                <a:off x="6625728" y="2631607"/>
                <a:ext cx="223175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6635011" y="3605813"/>
                <a:ext cx="2231754" cy="0"/>
              </a:xfrm>
              <a:prstGeom prst="line">
                <a:avLst/>
              </a:prstGeom>
              <a:ln w="28575">
                <a:solidFill>
                  <a:srgbClr val="41B0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6635011" y="3978491"/>
                <a:ext cx="2231754" cy="0"/>
              </a:xfrm>
              <a:prstGeom prst="line">
                <a:avLst/>
              </a:prstGeom>
              <a:ln w="28575">
                <a:solidFill>
                  <a:srgbClr val="41B0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6630792" y="2997591"/>
                <a:ext cx="223175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/>
              <p:cNvCxnSpPr/>
              <p:nvPr/>
            </p:nvCxnSpPr>
            <p:spPr>
              <a:xfrm>
                <a:off x="5997804" y="2438208"/>
                <a:ext cx="642044" cy="536923"/>
              </a:xfrm>
              <a:prstGeom prst="straightConnector1">
                <a:avLst/>
              </a:prstGeom>
              <a:ln w="9525"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内容占位符 2"/>
              <p:cNvSpPr txBox="1">
                <a:spLocks/>
              </p:cNvSpPr>
              <p:nvPr/>
            </p:nvSpPr>
            <p:spPr bwMode="auto">
              <a:xfrm>
                <a:off x="5015016" y="4570597"/>
                <a:ext cx="710496" cy="438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1pPr>
                <a:lvl2pPr marL="742950" indent="-28575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US" altLang="zh-CN" sz="1400" b="1" baseline="30000" dirty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1400" b="1" baseline="-25000" dirty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1/2</a:t>
                </a:r>
                <a:endParaRPr lang="zh-CN" altLang="en-US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  <a:hlinkClick r:id="" action="ppaction://noaction"/>
                </a:endParaRPr>
              </a:p>
            </p:txBody>
          </p:sp>
          <p:sp>
            <p:nvSpPr>
              <p:cNvPr id="124" name="内容占位符 2"/>
              <p:cNvSpPr txBox="1">
                <a:spLocks/>
              </p:cNvSpPr>
              <p:nvPr/>
            </p:nvSpPr>
            <p:spPr bwMode="auto">
              <a:xfrm>
                <a:off x="5073983" y="3293594"/>
                <a:ext cx="743393" cy="438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1pPr>
                <a:lvl2pPr marL="742950" indent="-28575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US" altLang="zh-CN" sz="1400" b="1" baseline="30000" dirty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400" b="1" baseline="-25000" dirty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1/2</a:t>
                </a:r>
                <a:endParaRPr lang="zh-CN" altLang="en-US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  <a:hlinkClick r:id="" action="ppaction://noaction"/>
                </a:endParaRPr>
              </a:p>
            </p:txBody>
          </p:sp>
          <p:sp>
            <p:nvSpPr>
              <p:cNvPr id="125" name="内容占位符 2"/>
              <p:cNvSpPr txBox="1">
                <a:spLocks/>
              </p:cNvSpPr>
              <p:nvPr/>
            </p:nvSpPr>
            <p:spPr bwMode="auto">
              <a:xfrm>
                <a:off x="5052795" y="2002652"/>
                <a:ext cx="801090" cy="438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1pPr>
                <a:lvl2pPr marL="742950" indent="-28575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4572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US" altLang="zh-CN" sz="1400" b="1" baseline="30000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400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400" b="1" baseline="-25000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3/2</a:t>
                </a:r>
                <a:endParaRPr lang="zh-CN" altLang="en-US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  <a:hlinkClick r:id="" action="ppaction://noaction"/>
                </a:endParaRPr>
              </a:p>
            </p:txBody>
          </p:sp>
          <p:sp>
            <p:nvSpPr>
              <p:cNvPr id="126" name="Line 52"/>
              <p:cNvSpPr>
                <a:spLocks noChangeShapeType="1"/>
              </p:cNvSpPr>
              <p:nvPr/>
            </p:nvSpPr>
            <p:spPr bwMode="auto">
              <a:xfrm>
                <a:off x="8033915" y="2989005"/>
                <a:ext cx="0" cy="2168175"/>
              </a:xfrm>
              <a:prstGeom prst="line">
                <a:avLst/>
              </a:prstGeom>
              <a:noFill/>
              <a:ln w="25400">
                <a:solidFill>
                  <a:srgbClr val="FFC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27" name="Line 52"/>
              <p:cNvSpPr>
                <a:spLocks noChangeShapeType="1"/>
              </p:cNvSpPr>
              <p:nvPr/>
            </p:nvSpPr>
            <p:spPr bwMode="auto">
              <a:xfrm flipH="1">
                <a:off x="8209685" y="2272927"/>
                <a:ext cx="0" cy="2609764"/>
              </a:xfrm>
              <a:prstGeom prst="line">
                <a:avLst/>
              </a:prstGeom>
              <a:noFill/>
              <a:ln w="25400">
                <a:solidFill>
                  <a:srgbClr val="FFC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28" name="Line 52"/>
              <p:cNvSpPr>
                <a:spLocks noChangeShapeType="1"/>
              </p:cNvSpPr>
              <p:nvPr/>
            </p:nvSpPr>
            <p:spPr bwMode="auto">
              <a:xfrm>
                <a:off x="7842360" y="2649157"/>
                <a:ext cx="10346" cy="2272380"/>
              </a:xfrm>
              <a:prstGeom prst="line">
                <a:avLst/>
              </a:prstGeom>
              <a:noFill/>
              <a:ln w="25400">
                <a:solidFill>
                  <a:srgbClr val="FFC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29" name="Line 53"/>
              <p:cNvSpPr>
                <a:spLocks noChangeShapeType="1"/>
              </p:cNvSpPr>
              <p:nvPr/>
            </p:nvSpPr>
            <p:spPr bwMode="auto">
              <a:xfrm>
                <a:off x="8385748" y="2646156"/>
                <a:ext cx="0" cy="2503950"/>
              </a:xfrm>
              <a:prstGeom prst="line">
                <a:avLst/>
              </a:prstGeom>
              <a:noFill/>
              <a:ln w="25400">
                <a:solidFill>
                  <a:srgbClr val="FFC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30" name="Line 53"/>
              <p:cNvSpPr>
                <a:spLocks noChangeShapeType="1"/>
              </p:cNvSpPr>
              <p:nvPr/>
            </p:nvSpPr>
            <p:spPr bwMode="auto">
              <a:xfrm flipH="1">
                <a:off x="8737781" y="2244936"/>
                <a:ext cx="18930" cy="2889648"/>
              </a:xfrm>
              <a:prstGeom prst="line">
                <a:avLst/>
              </a:prstGeom>
              <a:noFill/>
              <a:ln w="25400">
                <a:solidFill>
                  <a:srgbClr val="FFC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31" name="Line 53"/>
              <p:cNvSpPr>
                <a:spLocks noChangeShapeType="1"/>
              </p:cNvSpPr>
              <p:nvPr/>
            </p:nvSpPr>
            <p:spPr bwMode="auto">
              <a:xfrm>
                <a:off x="8561765" y="1886256"/>
                <a:ext cx="0" cy="3002466"/>
              </a:xfrm>
              <a:prstGeom prst="line">
                <a:avLst/>
              </a:prstGeom>
              <a:noFill/>
              <a:ln w="25400">
                <a:solidFill>
                  <a:srgbClr val="FFC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cxnSp>
            <p:nvCxnSpPr>
              <p:cNvPr id="132" name="直接连接符 131"/>
              <p:cNvCxnSpPr/>
              <p:nvPr/>
            </p:nvCxnSpPr>
            <p:spPr>
              <a:xfrm>
                <a:off x="5069492" y="5011418"/>
                <a:ext cx="931915" cy="0"/>
              </a:xfrm>
              <a:prstGeom prst="line">
                <a:avLst/>
              </a:prstGeom>
              <a:ln w="571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/>
              <p:nvPr/>
            </p:nvCxnSpPr>
            <p:spPr>
              <a:xfrm>
                <a:off x="5666806" y="3785347"/>
                <a:ext cx="0" cy="1242005"/>
              </a:xfrm>
              <a:prstGeom prst="straightConnector1">
                <a:avLst/>
              </a:prstGeom>
              <a:ln w="38100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 flipV="1">
                <a:off x="5997804" y="4882691"/>
                <a:ext cx="638458" cy="124546"/>
              </a:xfrm>
              <a:prstGeom prst="line">
                <a:avLst/>
              </a:prstGeom>
              <a:ln w="12700">
                <a:solidFill>
                  <a:srgbClr val="00B05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001407" y="5011418"/>
                <a:ext cx="616269" cy="116250"/>
              </a:xfrm>
              <a:prstGeom prst="line">
                <a:avLst/>
              </a:prstGeom>
              <a:ln w="12700">
                <a:solidFill>
                  <a:srgbClr val="00B05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>
                <a:off x="6625728" y="4882691"/>
                <a:ext cx="223175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>
                <a:off x="6625728" y="5128666"/>
                <a:ext cx="223175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箭头连接符 137"/>
              <p:cNvCxnSpPr/>
              <p:nvPr/>
            </p:nvCxnSpPr>
            <p:spPr>
              <a:xfrm flipH="1">
                <a:off x="5871904" y="2457753"/>
                <a:ext cx="3897" cy="2569599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Line 60"/>
              <p:cNvSpPr>
                <a:spLocks noChangeShapeType="1"/>
              </p:cNvSpPr>
              <p:nvPr/>
            </p:nvSpPr>
            <p:spPr bwMode="auto">
              <a:xfrm flipH="1">
                <a:off x="6931256" y="3978488"/>
                <a:ext cx="0" cy="920737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40" name="Line 60"/>
              <p:cNvSpPr>
                <a:spLocks noChangeShapeType="1"/>
              </p:cNvSpPr>
              <p:nvPr/>
            </p:nvSpPr>
            <p:spPr bwMode="auto">
              <a:xfrm flipH="1">
                <a:off x="7193563" y="3601053"/>
                <a:ext cx="2616" cy="1281638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41" name="Line 60"/>
              <p:cNvSpPr>
                <a:spLocks noChangeShapeType="1"/>
              </p:cNvSpPr>
              <p:nvPr/>
            </p:nvSpPr>
            <p:spPr bwMode="auto">
              <a:xfrm flipH="1">
                <a:off x="7064167" y="3970528"/>
                <a:ext cx="1471" cy="1150724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42" name="Line 60"/>
              <p:cNvSpPr>
                <a:spLocks noChangeShapeType="1"/>
              </p:cNvSpPr>
              <p:nvPr/>
            </p:nvSpPr>
            <p:spPr bwMode="auto">
              <a:xfrm>
                <a:off x="7317745" y="3601053"/>
                <a:ext cx="724" cy="1534565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11037504" y="5745444"/>
              <a:ext cx="466794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0" algn="ctr">
                <a:lnSpc>
                  <a:spcPct val="75000"/>
                </a:lnSpc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1465826" y="5745444"/>
              <a:ext cx="659155" cy="3022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0" algn="ctr">
                <a:lnSpc>
                  <a:spcPct val="75000"/>
                </a:lnSpc>
              </a:pPr>
              <a:r>
                <a:rPr lang="en-US" altLang="zh-CN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b="1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8" name="Rectangle 61"/>
          <p:cNvSpPr>
            <a:spLocks noChangeArrowheads="1"/>
          </p:cNvSpPr>
          <p:nvPr/>
        </p:nvSpPr>
        <p:spPr bwMode="auto">
          <a:xfrm>
            <a:off x="401103" y="4482055"/>
            <a:ext cx="24769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              -1/2</a:t>
            </a:r>
            <a:endParaRPr lang="en-US" altLang="zh-CN" sz="2000" b="1" dirty="0"/>
          </a:p>
        </p:txBody>
      </p:sp>
      <p:sp>
        <p:nvSpPr>
          <p:cNvPr id="79" name="Rectangle 61"/>
          <p:cNvSpPr>
            <a:spLocks noChangeArrowheads="1"/>
          </p:cNvSpPr>
          <p:nvPr/>
        </p:nvSpPr>
        <p:spPr bwMode="auto">
          <a:xfrm>
            <a:off x="83525" y="5871329"/>
            <a:ext cx="28312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just"/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      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endParaRPr lang="en-US" altLang="zh-CN" sz="2000" b="1" dirty="0"/>
          </a:p>
        </p:txBody>
      </p:sp>
      <p:sp>
        <p:nvSpPr>
          <p:cNvPr id="80" name="Rectangle 61"/>
          <p:cNvSpPr>
            <a:spLocks noChangeArrowheads="1"/>
          </p:cNvSpPr>
          <p:nvPr/>
        </p:nvSpPr>
        <p:spPr bwMode="auto">
          <a:xfrm>
            <a:off x="3345758" y="4046106"/>
            <a:ext cx="38058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   2/3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2/3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/>
          </a:p>
        </p:txBody>
      </p:sp>
      <p:sp>
        <p:nvSpPr>
          <p:cNvPr id="81" name="Rectangle 61"/>
          <p:cNvSpPr>
            <a:spLocks noChangeArrowheads="1"/>
          </p:cNvSpPr>
          <p:nvPr/>
        </p:nvSpPr>
        <p:spPr bwMode="auto">
          <a:xfrm>
            <a:off x="3340151" y="5820394"/>
            <a:ext cx="31598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just"/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   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654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3" grpId="0"/>
      <p:bldP spid="8" grpId="0"/>
      <p:bldP spid="13" grpId="0"/>
      <p:bldP spid="14" grpId="0"/>
      <p:bldP spid="28" grpId="0"/>
      <p:bldP spid="29" grpId="0"/>
      <p:bldP spid="30" grpId="0"/>
      <p:bldP spid="31" grpId="0"/>
      <p:bldP spid="2" grpId="0" animBg="1"/>
      <p:bldP spid="34" grpId="0"/>
      <p:bldP spid="35" grpId="0"/>
      <p:bldP spid="7" grpId="0"/>
      <p:bldP spid="58" grpId="0"/>
      <p:bldP spid="59" grpId="0"/>
      <p:bldP spid="60" grpId="0" animBg="1"/>
      <p:bldP spid="61" grpId="0"/>
      <p:bldP spid="62" grpId="0"/>
      <p:bldP spid="68" grpId="0"/>
      <p:bldP spid="69" grpId="0" animBg="1"/>
      <p:bldP spid="70" grpId="0" animBg="1"/>
      <p:bldP spid="78" grpId="0"/>
      <p:bldP spid="79" grpId="0"/>
      <p:bldP spid="80" grpId="0"/>
      <p:bldP spid="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426659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11.3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原子光谱的塞曼效应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18418" y="5734011"/>
            <a:ext cx="49522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用汞蒸汽灯发出的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546nm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绿光显示出反常塞曼效应。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，无磁场；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B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，有磁场，谱线横向分裂；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，有磁场，谱线纵向分裂。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60808" y="2061266"/>
            <a:ext cx="6155893" cy="4095735"/>
            <a:chOff x="5324303" y="-108197"/>
            <a:chExt cx="6155893" cy="409573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879"/>
            <a:stretch/>
          </p:blipFill>
          <p:spPr>
            <a:xfrm>
              <a:off x="5324303" y="-108197"/>
              <a:ext cx="6155892" cy="4095735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6587765" y="1723215"/>
              <a:ext cx="150671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期待的分裂</a:t>
              </a:r>
              <a:endPara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H="1" flipV="1">
              <a:off x="6281076" y="1649691"/>
              <a:ext cx="235625" cy="27335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8091745" y="1636951"/>
              <a:ext cx="258856" cy="28609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10432942" y="162213"/>
              <a:ext cx="104725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无磁场</a:t>
              </a:r>
              <a:endPara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432942" y="879512"/>
              <a:ext cx="104725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有磁场</a:t>
              </a:r>
              <a:endPara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0432942" y="3148475"/>
              <a:ext cx="104725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有磁场</a:t>
              </a:r>
              <a:endPara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0432942" y="2431176"/>
              <a:ext cx="104725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无磁场</a:t>
              </a:r>
              <a:endPara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890632" y="548893"/>
            <a:ext cx="5080000" cy="5080000"/>
            <a:chOff x="6890632" y="548893"/>
            <a:chExt cx="5080000" cy="508000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0632" y="548893"/>
              <a:ext cx="5080000" cy="5080000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10906812" y="5317938"/>
              <a:ext cx="1063820" cy="3109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993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426659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11.4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帕邢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巴克效应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3775" y="1723215"/>
            <a:ext cx="1136290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5000"/>
              </a:lnSpc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在强磁场下，电子的轨道磁矩、自旋磁矩与外磁场的耦合要比两者之间的耦合强得多，这是可以认为外磁场破坏了自旋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轨道耦合，这种原子光谱在强外磁场中的分裂现象称为帕邢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巴克效应。</a:t>
            </a:r>
            <a:endParaRPr lang="zh-CN" altLang="en-US" sz="2000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774" y="3104601"/>
            <a:ext cx="87497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强磁场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下，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Na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（钠原子）从激发态</a:t>
            </a:r>
            <a:r>
              <a:rPr lang="en-US" altLang="zh-CN" sz="2000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向</a:t>
            </a:r>
            <a:r>
              <a:rPr lang="en-US" altLang="zh-CN" sz="2000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跃迁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的能级及光谱劈裂</a:t>
            </a:r>
            <a:endParaRPr lang="zh-CN" altLang="en-US" sz="2000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18620" y="2563213"/>
            <a:ext cx="251222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+M</a:t>
            </a:r>
            <a:r>
              <a:rPr lang="en-US" altLang="zh-CN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3775" y="2623029"/>
            <a:ext cx="87497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轨道磁矩和自旋磁矩与外磁场的相互作用能为</a:t>
            </a:r>
            <a:endParaRPr lang="zh-CN" altLang="en-US" sz="2000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83774" y="3842570"/>
            <a:ext cx="68445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35315" y="3499367"/>
            <a:ext cx="3815057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=±1/2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=(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=±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683775" y="4992157"/>
            <a:ext cx="444191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35315" y="4628417"/>
            <a:ext cx="424433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=1/2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=±1/2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=0,±1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=(0,±1,±2)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000" dirty="0"/>
          </a:p>
        </p:txBody>
      </p:sp>
      <p:sp>
        <p:nvSpPr>
          <p:cNvPr id="14" name="矩形 13"/>
          <p:cNvSpPr/>
          <p:nvPr/>
        </p:nvSpPr>
        <p:spPr>
          <a:xfrm>
            <a:off x="683775" y="5790794"/>
            <a:ext cx="4467345" cy="4770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indent="0" eaLnBrk="1" hangingPunct="1">
              <a:lnSpc>
                <a:spcPct val="125000"/>
              </a:lnSpc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跃迁选择定则：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,±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；∆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5883" y="6355868"/>
            <a:ext cx="4613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∆</a:t>
            </a: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∆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 </a:t>
            </a: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=(0,±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28049" name="ShockwaveFlash1" r:id="rId2" imgW="5699160" imgH="3232080"/>
        </mc:Choice>
        <mc:Fallback>
          <p:control name="ShockwaveFlash1" r:id="rId2" imgW="5699160" imgH="3232080">
            <p:pic>
              <p:nvPicPr>
                <p:cNvPr id="15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6172117" y="3538268"/>
                  <a:ext cx="5699373" cy="3232392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5376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5" grpId="0"/>
      <p:bldP spid="8" grpId="0"/>
      <p:bldP spid="9" grpId="0"/>
      <p:bldP spid="10" grpId="0"/>
      <p:bldP spid="11" grpId="0"/>
      <p:bldP spid="12" grpId="0"/>
      <p:bldP spid="14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23800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11.5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磁共振技术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23727" y="1467680"/>
            <a:ext cx="524717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5000"/>
              </a:lnSpc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当考虑超精细结构（核磁矩），自旋磁矩将与核磁矩进一步耦合，形成更多能级劈裂</a:t>
            </a:r>
            <a:endParaRPr lang="zh-CN" altLang="en-US" sz="2000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028158" y="1723215"/>
            <a:ext cx="310445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电子顺磁共振（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EPR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37107" y="2156917"/>
            <a:ext cx="5287973" cy="2360106"/>
            <a:chOff x="428606" y="2161365"/>
            <a:chExt cx="4408905" cy="1967761"/>
          </a:xfrm>
        </p:grpSpPr>
        <p:sp>
          <p:nvSpPr>
            <p:cNvPr id="11" name="Rectangle 61"/>
            <p:cNvSpPr>
              <a:spLocks noChangeArrowheads="1"/>
            </p:cNvSpPr>
            <p:nvPr/>
          </p:nvSpPr>
          <p:spPr bwMode="auto">
            <a:xfrm>
              <a:off x="3702785" y="2962983"/>
              <a:ext cx="430627" cy="1154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indent="304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ctr"/>
              <a:r>
                <a: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+1/2</a:t>
              </a:r>
            </a:p>
            <a:p>
              <a:pPr indent="0" algn="ctr"/>
              <a:endParaRPr lang="en-US" altLang="zh-C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/>
              <a:endPara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/>
              <a:endParaRPr lang="en-US" altLang="zh-C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/>
              <a:endParaRPr lang="en-US" altLang="zh-C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/>
              <a:r>
                <a:rPr lang="en-US" altLang="zh-CN" sz="1400" b="1" dirty="0" smtClean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-</a:t>
              </a:r>
              <a:r>
                <a: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1/2</a:t>
              </a:r>
              <a:endPara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61"/>
            <p:cNvSpPr>
              <a:spLocks noChangeArrowheads="1"/>
            </p:cNvSpPr>
            <p:nvPr/>
          </p:nvSpPr>
          <p:spPr bwMode="auto">
            <a:xfrm>
              <a:off x="3727482" y="2241306"/>
              <a:ext cx="430627" cy="481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indent="304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ctr">
                <a:lnSpc>
                  <a:spcPct val="75000"/>
                </a:lnSpc>
              </a:pPr>
              <a:r>
                <a: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1/2</a:t>
              </a:r>
            </a:p>
            <a:p>
              <a:pPr indent="0" algn="ctr">
                <a:lnSpc>
                  <a:spcPct val="75000"/>
                </a:lnSpc>
              </a:pPr>
              <a:endPara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>
                <a:lnSpc>
                  <a:spcPct val="75000"/>
                </a:lnSpc>
              </a:pPr>
              <a:r>
                <a:rPr lang="en-US" altLang="zh-CN" sz="1400" b="1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-</a:t>
              </a:r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1/2</a:t>
              </a:r>
            </a:p>
          </p:txBody>
        </p:sp>
        <p:sp>
          <p:nvSpPr>
            <p:cNvPr id="13" name="Rectangle 61"/>
            <p:cNvSpPr>
              <a:spLocks noChangeArrowheads="1"/>
            </p:cNvSpPr>
            <p:nvPr/>
          </p:nvSpPr>
          <p:spPr bwMode="auto">
            <a:xfrm>
              <a:off x="4342968" y="2209332"/>
              <a:ext cx="430627" cy="481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indent="304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ctr">
                <a:lnSpc>
                  <a:spcPct val="75000"/>
                </a:lnSpc>
              </a:pPr>
              <a:r>
                <a: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+1/3</a:t>
              </a:r>
              <a:endPara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>
                <a:lnSpc>
                  <a:spcPct val="75000"/>
                </a:lnSpc>
              </a:pPr>
              <a:endPara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>
                <a:lnSpc>
                  <a:spcPct val="75000"/>
                </a:lnSpc>
              </a:pPr>
              <a:r>
                <a:rPr lang="en-US" altLang="zh-CN" sz="1400" b="1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-</a:t>
              </a:r>
              <a:r>
                <a: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1/3</a:t>
              </a:r>
              <a:endPara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61"/>
            <p:cNvSpPr>
              <a:spLocks noChangeArrowheads="1"/>
            </p:cNvSpPr>
            <p:nvPr/>
          </p:nvSpPr>
          <p:spPr bwMode="auto">
            <a:xfrm>
              <a:off x="4402481" y="2974373"/>
              <a:ext cx="314349" cy="1154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indent="304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ctr"/>
              <a:r>
                <a: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</a:p>
            <a:p>
              <a:pPr indent="0" algn="ctr"/>
              <a:endPara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/>
              <a:endParaRPr lang="en-US" altLang="zh-C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/>
              <a:endParaRPr lang="en-US" altLang="zh-C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/>
              <a:endParaRPr lang="en-US" altLang="zh-C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 algn="ctr"/>
              <a:r>
                <a:rPr lang="en-US" altLang="zh-CN" sz="1400" b="1" dirty="0" smtClean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-</a:t>
              </a:r>
              <a:r>
                <a:rPr lang="en-US" altLang="zh-CN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1485290" y="2305219"/>
              <a:ext cx="699919" cy="202613"/>
            </a:xfrm>
            <a:prstGeom prst="straightConnector1">
              <a:avLst/>
            </a:prstGeom>
            <a:ln w="9525">
              <a:solidFill>
                <a:srgbClr val="41B0B9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1485290" y="2529382"/>
              <a:ext cx="699919" cy="187297"/>
            </a:xfrm>
            <a:prstGeom prst="straightConnector1">
              <a:avLst/>
            </a:prstGeom>
            <a:ln w="9525">
              <a:solidFill>
                <a:srgbClr val="41B0B9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478108" y="2506125"/>
              <a:ext cx="1015918" cy="0"/>
            </a:xfrm>
            <a:prstGeom prst="line">
              <a:avLst/>
            </a:prstGeom>
            <a:ln w="57150">
              <a:solidFill>
                <a:srgbClr val="41B0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内容占位符 2"/>
            <p:cNvSpPr txBox="1">
              <a:spLocks/>
            </p:cNvSpPr>
            <p:nvPr/>
          </p:nvSpPr>
          <p:spPr bwMode="auto">
            <a:xfrm>
              <a:off x="428606" y="3218542"/>
              <a:ext cx="774540" cy="4776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zh-CN" sz="1400" b="1" baseline="30000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1400" b="1" baseline="-25000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1/2</a:t>
              </a:r>
              <a:endPara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hlinkClick r:id="" action="ppaction://noaction"/>
              </a:endParaRPr>
            </a:p>
          </p:txBody>
        </p:sp>
        <p:sp>
          <p:nvSpPr>
            <p:cNvPr id="30" name="内容占位符 2"/>
            <p:cNvSpPr txBox="1">
              <a:spLocks/>
            </p:cNvSpPr>
            <p:nvPr/>
          </p:nvSpPr>
          <p:spPr bwMode="auto">
            <a:xfrm>
              <a:off x="506875" y="2161365"/>
              <a:ext cx="810402" cy="4776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 defTabSz="4572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zh-CN" sz="1400" b="1" baseline="30000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400" b="1" baseline="-25000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1/2</a:t>
              </a:r>
              <a:endPara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hlinkClick r:id="" action="ppaction://noaction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477211" y="3568080"/>
              <a:ext cx="1015918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1129264" y="2506125"/>
              <a:ext cx="0" cy="1061955"/>
            </a:xfrm>
            <a:prstGeom prst="straightConnector1">
              <a:avLst/>
            </a:prstGeom>
            <a:ln w="38100">
              <a:solidFill>
                <a:srgbClr val="FF99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V="1">
              <a:off x="1493129" y="3122950"/>
              <a:ext cx="692080" cy="445130"/>
            </a:xfrm>
            <a:prstGeom prst="line">
              <a:avLst/>
            </a:prstGeom>
            <a:ln w="127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1493129" y="3568080"/>
              <a:ext cx="687218" cy="403045"/>
            </a:xfrm>
            <a:prstGeom prst="line">
              <a:avLst/>
            </a:prstGeom>
            <a:ln w="127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180347" y="2310408"/>
              <a:ext cx="1376165" cy="0"/>
            </a:xfrm>
            <a:prstGeom prst="line">
              <a:avLst/>
            </a:prstGeom>
            <a:ln w="28575">
              <a:solidFill>
                <a:srgbClr val="41B0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2180347" y="2716679"/>
              <a:ext cx="1376165" cy="0"/>
            </a:xfrm>
            <a:prstGeom prst="line">
              <a:avLst/>
            </a:prstGeom>
            <a:ln w="28575">
              <a:solidFill>
                <a:srgbClr val="41B0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2173726" y="3122949"/>
              <a:ext cx="1376164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2180348" y="3990393"/>
              <a:ext cx="1376164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ine 60"/>
            <p:cNvSpPr>
              <a:spLocks noChangeShapeType="1"/>
            </p:cNvSpPr>
            <p:nvPr/>
          </p:nvSpPr>
          <p:spPr bwMode="auto">
            <a:xfrm flipH="1">
              <a:off x="2507691" y="2716675"/>
              <a:ext cx="0" cy="1273717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" name="Line 60"/>
            <p:cNvSpPr>
              <a:spLocks noChangeShapeType="1"/>
            </p:cNvSpPr>
            <p:nvPr/>
          </p:nvSpPr>
          <p:spPr bwMode="auto">
            <a:xfrm flipH="1">
              <a:off x="2647471" y="2305219"/>
              <a:ext cx="0" cy="167289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7" name="Line 60"/>
            <p:cNvSpPr>
              <a:spLocks noChangeShapeType="1"/>
            </p:cNvSpPr>
            <p:nvPr/>
          </p:nvSpPr>
          <p:spPr bwMode="auto">
            <a:xfrm flipH="1">
              <a:off x="2787636" y="2716676"/>
              <a:ext cx="1604" cy="1254449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8" name="Line 60"/>
            <p:cNvSpPr>
              <a:spLocks noChangeShapeType="1"/>
            </p:cNvSpPr>
            <p:nvPr/>
          </p:nvSpPr>
          <p:spPr bwMode="auto">
            <a:xfrm>
              <a:off x="2929018" y="2305219"/>
              <a:ext cx="789" cy="167289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" name="矩形 8"/>
            <p:cNvSpPr/>
            <p:nvPr/>
          </p:nvSpPr>
          <p:spPr>
            <a:xfrm>
              <a:off x="3643377" y="2774982"/>
              <a:ext cx="579966" cy="3728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0" algn="ctr">
                <a:lnSpc>
                  <a:spcPct val="75000"/>
                </a:lnSpc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287933" y="2764609"/>
              <a:ext cx="549578" cy="2520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0" algn="ctr">
                <a:lnSpc>
                  <a:spcPct val="75000"/>
                </a:lnSpc>
              </a:pPr>
              <a:r>
                <a:rPr lang="en-US" altLang="zh-CN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b="1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直接箭头连接符 49"/>
            <p:cNvCxnSpPr/>
            <p:nvPr/>
          </p:nvCxnSpPr>
          <p:spPr>
            <a:xfrm flipV="1">
              <a:off x="3214135" y="3114447"/>
              <a:ext cx="0" cy="856678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61"/>
            <p:cNvSpPr>
              <a:spLocks noChangeArrowheads="1"/>
            </p:cNvSpPr>
            <p:nvPr/>
          </p:nvSpPr>
          <p:spPr bwMode="auto">
            <a:xfrm rot="5400000">
              <a:off x="3149007" y="3435816"/>
              <a:ext cx="543740" cy="255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indent="304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ctr">
                <a:lnSpc>
                  <a:spcPct val="75000"/>
                </a:lnSpc>
              </a:pPr>
              <a:r>
                <a:rPr lang="en-US" altLang="zh-CN" sz="1400" b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EPR</a:t>
              </a:r>
              <a:endParaRPr lang="en-US" altLang="zh-C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6" name="图片 55"/>
          <p:cNvPicPr>
            <a:picLocks noChangeAspect="1"/>
          </p:cNvPicPr>
          <p:nvPr/>
        </p:nvPicPr>
        <p:blipFill rotWithShape="1">
          <a:blip r:embed="rId2"/>
          <a:srcRect l="26407" t="27639" r="45156" b="37639"/>
          <a:stretch/>
        </p:blipFill>
        <p:spPr>
          <a:xfrm>
            <a:off x="6803908" y="2243525"/>
            <a:ext cx="3918649" cy="2691380"/>
          </a:xfrm>
          <a:prstGeom prst="rect">
            <a:avLst/>
          </a:prstGeom>
        </p:spPr>
      </p:pic>
      <p:sp>
        <p:nvSpPr>
          <p:cNvPr id="61" name="矩形 60"/>
          <p:cNvSpPr/>
          <p:nvPr/>
        </p:nvSpPr>
        <p:spPr>
          <a:xfrm>
            <a:off x="8947315" y="4524965"/>
            <a:ext cx="297345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5000"/>
              </a:lnSpc>
              <a:buNone/>
            </a:pP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·CH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OH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自由基的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EPR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谱</a:t>
            </a:r>
            <a:endParaRPr lang="zh-CN" altLang="en-US" sz="2000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829300" y="4998616"/>
            <a:ext cx="623603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5000"/>
              </a:lnSpc>
              <a:buNone/>
            </a:pP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CH</a:t>
            </a:r>
            <a:r>
              <a:rPr lang="en-US" altLang="zh-CN" sz="2000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的两个等价质子使未配对电子裂分为三条谱线（相对强度为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，裂距为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17.4Gs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）；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OH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中的一个质子又使每一条谱线裂分为两条谱线（相对强度为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，裂距为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1.15Gs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3"/>
          <a:srcRect l="29532" t="29166" r="47343" b="49642"/>
          <a:stretch/>
        </p:blipFill>
        <p:spPr>
          <a:xfrm>
            <a:off x="986132" y="4536392"/>
            <a:ext cx="4255656" cy="219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3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1" grpId="0"/>
      <p:bldP spid="6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83775" y="1285065"/>
            <a:ext cx="23800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11.5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磁共振技术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4475" y="4639694"/>
            <a:ext cx="547482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峰的组数：分子中不同化学环境质子的组数</a:t>
            </a:r>
            <a:endParaRPr lang="en-US" altLang="zh-CN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峰的强度：各基团的质子数之比</a:t>
            </a:r>
            <a:endParaRPr lang="en-US" altLang="zh-CN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峰的位移：每组质子所处的不同化学结构环境，说明分子中的基团情况</a:t>
            </a:r>
            <a:endParaRPr lang="en-US" altLang="zh-CN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峰的裂分数：相邻碳原子上的质子数</a:t>
            </a:r>
            <a:endParaRPr lang="zh-CN" altLang="en-US" sz="2000" b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028158" y="1723215"/>
            <a:ext cx="513134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8D8D7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核磁共振（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NMR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）与磁共振成像（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MRI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pic>
        <p:nvPicPr>
          <p:cNvPr id="321538" name="Picture 2" descr="https://gimg2.baidu.com/image_search/src=http%3A%2F%2F5b0988e595225.cdn.sohucs.com%2Fimages%2F20191214%2F08a3f88975e04fb3abcc5274ace2b62d.jpeg&amp;refer=http%3A%2F%2F5b0988e595225.cdn.sohucs.com&amp;app=2002&amp;size=f9999,10000&amp;q=a80&amp;n=0&amp;g=0n&amp;fmt=jpeg?sec=1622810439&amp;t=e1d4320d4e6452375281fd122b7998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086" y="1280206"/>
            <a:ext cx="3741034" cy="295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540" name="Picture 4" descr="https://gimg2.baidu.com/image_search/src=http%3A%2F%2Fkano.guahao.cn%2Fj5t31972095.jpg%3Ftoken%3D657c7ad526b3d03d8cf6eadcb484dac1&amp;refer=http%3A%2F%2Fkano.guahao.cn&amp;app=2002&amp;size=f9999,10000&amp;q=a80&amp;n=0&amp;g=0n&amp;fmt=jpeg?sec=1622810455&amp;t=c72c45c90f83582e602b19fe10c5a3f4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707" y="3657599"/>
            <a:ext cx="6203793" cy="3139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683775" y="2072516"/>
            <a:ext cx="5043925" cy="2548116"/>
            <a:chOff x="683775" y="2072516"/>
            <a:chExt cx="5043925" cy="254811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5"/>
            <a:srcRect l="15201" t="23333" r="30363" b="27778"/>
            <a:stretch/>
          </p:blipFill>
          <p:spPr>
            <a:xfrm>
              <a:off x="683775" y="2072516"/>
              <a:ext cx="5043925" cy="2548116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4603337" y="2977242"/>
              <a:ext cx="10310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(CH</a:t>
              </a:r>
              <a:r>
                <a:rPr lang="en-US" altLang="zh-CN" b="1" baseline="-25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b="1" baseline="-25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5309017" y="3365636"/>
              <a:ext cx="117397" cy="46582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447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832926" cy="801388"/>
          </a:xfrm>
        </p:spPr>
        <p:txBody>
          <a:bodyPr/>
          <a:lstStyle/>
          <a:p>
            <a:pPr eaLnBrk="1" hangingPunct="1"/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片、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CT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超、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MRI</a:t>
            </a:r>
            <a:endParaRPr lang="zh-CN" altLang="en-US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9" b="66111"/>
          <a:stretch/>
        </p:blipFill>
        <p:spPr>
          <a:xfrm>
            <a:off x="373515" y="1347900"/>
            <a:ext cx="4258042" cy="2006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20" b="44380"/>
          <a:stretch/>
        </p:blipFill>
        <p:spPr>
          <a:xfrm>
            <a:off x="4708158" y="1347900"/>
            <a:ext cx="4258042" cy="2006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93" b="24907"/>
          <a:stretch/>
        </p:blipFill>
        <p:spPr>
          <a:xfrm>
            <a:off x="373515" y="3681300"/>
            <a:ext cx="4258042" cy="2006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89" b="2611"/>
          <a:stretch/>
        </p:blipFill>
        <p:spPr>
          <a:xfrm>
            <a:off x="4708158" y="3681300"/>
            <a:ext cx="4258042" cy="2006600"/>
          </a:xfrm>
          <a:prstGeom prst="rect">
            <a:avLst/>
          </a:prstGeom>
        </p:spPr>
      </p:pic>
      <p:pic>
        <p:nvPicPr>
          <p:cNvPr id="7" name="图片 6">
            <a:hlinkClick r:id="rId3" action="ppaction://hlinksldjump"/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4"/>
          <a:stretch/>
        </p:blipFill>
        <p:spPr>
          <a:xfrm>
            <a:off x="9017000" y="287855"/>
            <a:ext cx="2275930" cy="655744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64286" y="6266934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8497B0"/>
                </a:solidFill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图片来源：丁香医生设计团队</a:t>
            </a:r>
          </a:p>
        </p:txBody>
      </p:sp>
    </p:spTree>
    <p:extLst>
      <p:ext uri="{BB962C8B-B14F-4D97-AF65-F5344CB8AC3E}">
        <p14:creationId xmlns:p14="http://schemas.microsoft.com/office/powerpoint/2010/main" val="325531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母版尝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B506768-777D-4B12-9CC9-01354EF86361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F49BBFB9-20DF-44C8-AB6F-6503A88DF186}"/>
    </a:ext>
  </a:extLst>
</a:theme>
</file>

<file path=ppt/theme/theme3.xml><?xml version="1.0" encoding="utf-8"?>
<a:theme xmlns:a="http://schemas.openxmlformats.org/drawingml/2006/main" name="母版尝试-无校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0E4F761-CC50-41EA-B1B9-3BFF9F164859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ppt/theme/theme5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33111</TotalTime>
  <Words>1625</Words>
  <Application>Microsoft Office PowerPoint</Application>
  <PresentationFormat>宽屏</PresentationFormat>
  <Paragraphs>176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等线</vt:lpstr>
      <vt:lpstr>方正新书宋简体</vt:lpstr>
      <vt:lpstr>华光姚体_CNKI</vt:lpstr>
      <vt:lpstr>宋体</vt:lpstr>
      <vt:lpstr>Arial</vt:lpstr>
      <vt:lpstr>Calibri</vt:lpstr>
      <vt:lpstr>Symbol</vt:lpstr>
      <vt:lpstr>Times New Roman</vt:lpstr>
      <vt:lpstr>Wingdings</vt:lpstr>
      <vt:lpstr>Wingdings 3</vt:lpstr>
      <vt:lpstr>母版尝试</vt:lpstr>
      <vt:lpstr>2_Office 主题​​</vt:lpstr>
      <vt:lpstr>母版尝试-无校徽</vt:lpstr>
      <vt:lpstr>3_Office 主题​​</vt:lpstr>
      <vt:lpstr>4_Office 主题​​</vt:lpstr>
      <vt:lpstr>Equation</vt:lpstr>
      <vt:lpstr>近代物理学选讲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第十一讲 磁场中的原子</vt:lpstr>
      <vt:lpstr>X片、CT、B超、MRI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Home</dc:creator>
  <cp:lastModifiedBy>Ben</cp:lastModifiedBy>
  <cp:revision>1304</cp:revision>
  <dcterms:created xsi:type="dcterms:W3CDTF">2017-02-21T13:54:52Z</dcterms:created>
  <dcterms:modified xsi:type="dcterms:W3CDTF">2022-05-04T04:48:15Z</dcterms:modified>
</cp:coreProperties>
</file>