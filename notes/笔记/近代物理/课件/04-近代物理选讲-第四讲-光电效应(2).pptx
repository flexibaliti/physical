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76" r:id="rId2"/>
    <p:sldMasterId id="2147485088" r:id="rId3"/>
    <p:sldMasterId id="2147485078" r:id="rId4"/>
    <p:sldMasterId id="2147485080" r:id="rId5"/>
    <p:sldMasterId id="2147485084" r:id="rId6"/>
    <p:sldMasterId id="2147485086" r:id="rId7"/>
  </p:sldMasterIdLst>
  <p:sldIdLst>
    <p:sldId id="256" r:id="rId8"/>
    <p:sldId id="289" r:id="rId9"/>
    <p:sldId id="290" r:id="rId10"/>
    <p:sldId id="476" r:id="rId11"/>
    <p:sldId id="409" r:id="rId12"/>
    <p:sldId id="292" r:id="rId13"/>
    <p:sldId id="293" r:id="rId14"/>
    <p:sldId id="303" r:id="rId15"/>
    <p:sldId id="294" r:id="rId1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kaHN44oBHH4yKA8sxl3tuQ==" hashData="4GWcWEFnbrin3blPz1/fh3gWcLishXR/INBt+0WZrBHOXR3LWv9glmNSyEWCiarU69+3jNi+JScNe30rJvsZc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01DA56-ED21-4304-9457-5587AFBB333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zh-CN" altLang="en-US"/>
        </a:p>
      </dgm:t>
    </dgm:pt>
    <dgm:pt modelId="{C917EFD9-CAEA-41A6-9AF5-90D6DD618004}">
      <dgm:prSet phldrT="[文本]" custT="1"/>
      <dgm:spPr/>
      <dgm:t>
        <a:bodyPr vert="vert"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光电效应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265E8C9B-0671-485C-BA64-AEF054B64630}" type="parTrans" cxnId="{69B66F06-FCAE-4123-9889-170CAF636E2B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9CEE5660-18F1-46FF-AA87-DC17049DD96E}" type="sibTrans" cxnId="{69B66F06-FCAE-4123-9889-170CAF636E2B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F5BD0963-E02A-4A39-8BB0-1D077DAF1FD6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内光电效应</a:t>
          </a:r>
          <a:endParaRPr lang="en-US" altLang="zh-CN" sz="2000" b="1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888917CB-377F-4727-93EB-2F14AF58A983}" type="parTrans" cxnId="{3AD4E700-1EC0-43C2-A00B-BD9C47219A79}">
      <dgm:prSet custT="1"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E6B4400F-16BB-4753-9DBC-A86C085FF391}" type="sibTrans" cxnId="{3AD4E700-1EC0-43C2-A00B-BD9C47219A79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A16C0994-5C00-48B2-AC7E-061A6E9D6108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外光电效应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0559F496-C616-42A2-82DE-49B8D693BAC0}" type="parTrans" cxnId="{45C7F9DB-B67D-4F3A-92EB-6FC7B07E6C21}">
      <dgm:prSet custT="1"/>
      <dgm:spPr/>
      <dgm:t>
        <a:bodyPr/>
        <a:lstStyle/>
        <a:p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42013FC4-173C-4296-A9CD-6CFBA1C07A67}" type="sibTrans" cxnId="{45C7F9DB-B67D-4F3A-92EB-6FC7B07E6C21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46236883-7629-4665-8C04-B4495939380C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光电池</a:t>
          </a:r>
          <a:endParaRPr lang="en-US" altLang="zh-CN" sz="2000" b="1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（光生伏打效应）</a:t>
          </a:r>
          <a:endParaRPr lang="en-US" altLang="zh-CN" sz="2000" b="1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D48E7B02-C333-4C6F-BEBB-FB54412B297C}" type="parTrans" cxnId="{2F7B07C4-A923-48EB-9066-398C8A647A4C}">
      <dgm:prSet custT="1"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90774C2E-2401-45B7-B108-B41F4C147C8A}" type="sibTrans" cxnId="{2F7B07C4-A923-48EB-9066-398C8A647A4C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9750C685-86C9-47FF-AE93-C4E5AE910DBA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光敏电阻</a:t>
          </a:r>
          <a:endParaRPr lang="en-US" altLang="zh-CN" sz="2000" b="1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（光电导效应）</a:t>
          </a:r>
          <a:endParaRPr lang="en-US" altLang="zh-CN" sz="2000" b="1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67E77728-0035-4C44-A018-E2A7327F17E3}" type="parTrans" cxnId="{A0CAE5E3-C88E-4D48-8AB0-003C6CA7BB63}">
      <dgm:prSet custT="1"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E38C4B38-E326-4BD9-82EF-1198DEBFAC17}" type="sibTrans" cxnId="{A0CAE5E3-C88E-4D48-8AB0-003C6CA7BB63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07C1F97A-8F21-4DC8-8EFC-2F5F1595F185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光电管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1609E38C-CF40-4D24-8616-CCC6607532C6}" type="parTrans" cxnId="{E7480023-82C9-4C0E-8341-8CE8C446B0C6}">
      <dgm:prSet custT="1"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48B7081C-1EBE-47F6-B1FB-D46E10328C5D}" type="sibTrans" cxnId="{E7480023-82C9-4C0E-8341-8CE8C446B0C6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3364DB89-ED8C-4F2F-915B-F63F0DB27AE0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光电倍增管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43311060-98A5-4575-B66D-196C53240686}" type="parTrans" cxnId="{E0C35864-2E31-47AA-8DB6-C81BB184471D}">
      <dgm:prSet custT="1"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8BD37963-B591-4482-B164-2825FD52E513}" type="sibTrans" cxnId="{E0C35864-2E31-47AA-8DB6-C81BB184471D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B9A734D0-1723-4C2F-B5DD-15969DF868C0}" type="pres">
      <dgm:prSet presAssocID="{8001DA56-ED21-4304-9457-5587AFBB333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3EBC1A1-26A3-47FB-85B5-4DFBD46AD226}" type="pres">
      <dgm:prSet presAssocID="{C917EFD9-CAEA-41A6-9AF5-90D6DD618004}" presName="root1" presStyleCnt="0"/>
      <dgm:spPr/>
    </dgm:pt>
    <dgm:pt modelId="{F0292EA4-6E69-43FF-9650-B9E132DEC685}" type="pres">
      <dgm:prSet presAssocID="{C917EFD9-CAEA-41A6-9AF5-90D6DD618004}" presName="LevelOneTextNode" presStyleLbl="node0" presStyleIdx="0" presStyleCnt="1" custScaleX="6602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EDB114B-2D44-47B4-BDEC-4BE439779020}" type="pres">
      <dgm:prSet presAssocID="{C917EFD9-CAEA-41A6-9AF5-90D6DD618004}" presName="level2hierChild" presStyleCnt="0"/>
      <dgm:spPr/>
    </dgm:pt>
    <dgm:pt modelId="{E41AF180-09B1-4438-AD14-120AD8F563E7}" type="pres">
      <dgm:prSet presAssocID="{888917CB-377F-4727-93EB-2F14AF58A983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7AF15DC3-B9AA-415C-89D2-8CE8C6187EE5}" type="pres">
      <dgm:prSet presAssocID="{888917CB-377F-4727-93EB-2F14AF58A983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F75A5632-2B27-49F7-8E2B-277DE69D73B4}" type="pres">
      <dgm:prSet presAssocID="{F5BD0963-E02A-4A39-8BB0-1D077DAF1FD6}" presName="root2" presStyleCnt="0"/>
      <dgm:spPr/>
    </dgm:pt>
    <dgm:pt modelId="{2AB2EE76-4475-44BC-81BB-6F6AE1B92483}" type="pres">
      <dgm:prSet presAssocID="{F5BD0963-E02A-4A39-8BB0-1D077DAF1FD6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1A19C17-DFD3-4DCC-BF5D-4DB7600FE987}" type="pres">
      <dgm:prSet presAssocID="{F5BD0963-E02A-4A39-8BB0-1D077DAF1FD6}" presName="level3hierChild" presStyleCnt="0"/>
      <dgm:spPr/>
    </dgm:pt>
    <dgm:pt modelId="{5015D883-2418-473E-9B66-74F6594F790D}" type="pres">
      <dgm:prSet presAssocID="{D48E7B02-C333-4C6F-BEBB-FB54412B297C}" presName="conn2-1" presStyleLbl="parChTrans1D3" presStyleIdx="0" presStyleCnt="4"/>
      <dgm:spPr/>
      <dgm:t>
        <a:bodyPr/>
        <a:lstStyle/>
        <a:p>
          <a:endParaRPr lang="zh-CN" altLang="en-US"/>
        </a:p>
      </dgm:t>
    </dgm:pt>
    <dgm:pt modelId="{BADE40C7-610C-422B-ABF1-AA915FB9280F}" type="pres">
      <dgm:prSet presAssocID="{D48E7B02-C333-4C6F-BEBB-FB54412B297C}" presName="connTx" presStyleLbl="parChTrans1D3" presStyleIdx="0" presStyleCnt="4"/>
      <dgm:spPr/>
      <dgm:t>
        <a:bodyPr/>
        <a:lstStyle/>
        <a:p>
          <a:endParaRPr lang="zh-CN" altLang="en-US"/>
        </a:p>
      </dgm:t>
    </dgm:pt>
    <dgm:pt modelId="{2531B257-7D89-4A46-9BB3-CAC59B46EA50}" type="pres">
      <dgm:prSet presAssocID="{46236883-7629-4665-8C04-B4495939380C}" presName="root2" presStyleCnt="0"/>
      <dgm:spPr/>
    </dgm:pt>
    <dgm:pt modelId="{5C067BE3-3446-40F9-B4AC-6B99FC261C58}" type="pres">
      <dgm:prSet presAssocID="{46236883-7629-4665-8C04-B4495939380C}" presName="LevelTwoTextNode" presStyleLbl="node3" presStyleIdx="0" presStyleCnt="4" custScaleY="1410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4B6536E-FCD5-47C5-B5D6-AF6A43443DD1}" type="pres">
      <dgm:prSet presAssocID="{46236883-7629-4665-8C04-B4495939380C}" presName="level3hierChild" presStyleCnt="0"/>
      <dgm:spPr/>
    </dgm:pt>
    <dgm:pt modelId="{D4999646-780C-4A46-9AA9-DBA8BD83C8F8}" type="pres">
      <dgm:prSet presAssocID="{67E77728-0035-4C44-A018-E2A7327F17E3}" presName="conn2-1" presStyleLbl="parChTrans1D3" presStyleIdx="1" presStyleCnt="4"/>
      <dgm:spPr/>
      <dgm:t>
        <a:bodyPr/>
        <a:lstStyle/>
        <a:p>
          <a:endParaRPr lang="zh-CN" altLang="en-US"/>
        </a:p>
      </dgm:t>
    </dgm:pt>
    <dgm:pt modelId="{5C02C11C-0CCD-4ABF-B2A4-17FC72B4FCE0}" type="pres">
      <dgm:prSet presAssocID="{67E77728-0035-4C44-A018-E2A7327F17E3}" presName="connTx" presStyleLbl="parChTrans1D3" presStyleIdx="1" presStyleCnt="4"/>
      <dgm:spPr/>
      <dgm:t>
        <a:bodyPr/>
        <a:lstStyle/>
        <a:p>
          <a:endParaRPr lang="zh-CN" altLang="en-US"/>
        </a:p>
      </dgm:t>
    </dgm:pt>
    <dgm:pt modelId="{851E0AD0-D28D-4B78-9149-21EABF08592B}" type="pres">
      <dgm:prSet presAssocID="{9750C685-86C9-47FF-AE93-C4E5AE910DBA}" presName="root2" presStyleCnt="0"/>
      <dgm:spPr/>
    </dgm:pt>
    <dgm:pt modelId="{8E998058-529A-425D-B6FA-F8A57704427F}" type="pres">
      <dgm:prSet presAssocID="{9750C685-86C9-47FF-AE93-C4E5AE910DBA}" presName="LevelTwoTextNode" presStyleLbl="node3" presStyleIdx="1" presStyleCnt="4" custScaleY="14577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273CC15-99B8-4BC9-B79F-3ADE5D6BDAF8}" type="pres">
      <dgm:prSet presAssocID="{9750C685-86C9-47FF-AE93-C4E5AE910DBA}" presName="level3hierChild" presStyleCnt="0"/>
      <dgm:spPr/>
    </dgm:pt>
    <dgm:pt modelId="{84B995B9-72DF-482E-96BC-DE92D733444B}" type="pres">
      <dgm:prSet presAssocID="{0559F496-C616-42A2-82DE-49B8D693BAC0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3656E1CD-3BCE-4BCC-9122-C22B560A482D}" type="pres">
      <dgm:prSet presAssocID="{0559F496-C616-42A2-82DE-49B8D693BAC0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05EB2859-B2C0-4B70-BA15-48786EC21F65}" type="pres">
      <dgm:prSet presAssocID="{A16C0994-5C00-48B2-AC7E-061A6E9D6108}" presName="root2" presStyleCnt="0"/>
      <dgm:spPr/>
    </dgm:pt>
    <dgm:pt modelId="{50359887-3513-4266-A496-0A7E21D94C1F}" type="pres">
      <dgm:prSet presAssocID="{A16C0994-5C00-48B2-AC7E-061A6E9D610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2C36DC-DA94-4B25-A89F-3D1448B1E429}" type="pres">
      <dgm:prSet presAssocID="{A16C0994-5C00-48B2-AC7E-061A6E9D6108}" presName="level3hierChild" presStyleCnt="0"/>
      <dgm:spPr/>
    </dgm:pt>
    <dgm:pt modelId="{9A85185C-A9B9-4C48-89CC-703CEEFFDE60}" type="pres">
      <dgm:prSet presAssocID="{1609E38C-CF40-4D24-8616-CCC6607532C6}" presName="conn2-1" presStyleLbl="parChTrans1D3" presStyleIdx="2" presStyleCnt="4"/>
      <dgm:spPr/>
      <dgm:t>
        <a:bodyPr/>
        <a:lstStyle/>
        <a:p>
          <a:endParaRPr lang="zh-CN" altLang="en-US"/>
        </a:p>
      </dgm:t>
    </dgm:pt>
    <dgm:pt modelId="{80B8FBBB-CBA9-4C1E-921C-4016F874D18A}" type="pres">
      <dgm:prSet presAssocID="{1609E38C-CF40-4D24-8616-CCC6607532C6}" presName="connTx" presStyleLbl="parChTrans1D3" presStyleIdx="2" presStyleCnt="4"/>
      <dgm:spPr/>
      <dgm:t>
        <a:bodyPr/>
        <a:lstStyle/>
        <a:p>
          <a:endParaRPr lang="zh-CN" altLang="en-US"/>
        </a:p>
      </dgm:t>
    </dgm:pt>
    <dgm:pt modelId="{39CEF950-2861-4176-B1F0-60BFE9148A3D}" type="pres">
      <dgm:prSet presAssocID="{07C1F97A-8F21-4DC8-8EFC-2F5F1595F185}" presName="root2" presStyleCnt="0"/>
      <dgm:spPr/>
    </dgm:pt>
    <dgm:pt modelId="{20D12E34-155E-4557-ACDF-5B3EB35B3AC9}" type="pres">
      <dgm:prSet presAssocID="{07C1F97A-8F21-4DC8-8EFC-2F5F1595F185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02029BA-500E-4D5A-9841-F27AF25C71B0}" type="pres">
      <dgm:prSet presAssocID="{07C1F97A-8F21-4DC8-8EFC-2F5F1595F185}" presName="level3hierChild" presStyleCnt="0"/>
      <dgm:spPr/>
    </dgm:pt>
    <dgm:pt modelId="{3F3618E8-30FA-47A6-A2A5-23F775B41608}" type="pres">
      <dgm:prSet presAssocID="{43311060-98A5-4575-B66D-196C53240686}" presName="conn2-1" presStyleLbl="parChTrans1D3" presStyleIdx="3" presStyleCnt="4"/>
      <dgm:spPr/>
      <dgm:t>
        <a:bodyPr/>
        <a:lstStyle/>
        <a:p>
          <a:endParaRPr lang="zh-CN" altLang="en-US"/>
        </a:p>
      </dgm:t>
    </dgm:pt>
    <dgm:pt modelId="{234BABAA-E2C6-4F0D-92FE-513D18D1C6F4}" type="pres">
      <dgm:prSet presAssocID="{43311060-98A5-4575-B66D-196C53240686}" presName="connTx" presStyleLbl="parChTrans1D3" presStyleIdx="3" presStyleCnt="4"/>
      <dgm:spPr/>
      <dgm:t>
        <a:bodyPr/>
        <a:lstStyle/>
        <a:p>
          <a:endParaRPr lang="zh-CN" altLang="en-US"/>
        </a:p>
      </dgm:t>
    </dgm:pt>
    <dgm:pt modelId="{DD1CCE3A-2CA5-4061-8DCC-9FEEFB7B25AD}" type="pres">
      <dgm:prSet presAssocID="{3364DB89-ED8C-4F2F-915B-F63F0DB27AE0}" presName="root2" presStyleCnt="0"/>
      <dgm:spPr/>
    </dgm:pt>
    <dgm:pt modelId="{C49ABEA2-CEE1-47AD-A59C-1C532DC08099}" type="pres">
      <dgm:prSet presAssocID="{3364DB89-ED8C-4F2F-915B-F63F0DB27AE0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8AD9EDC-3716-40F9-A963-533275D04A75}" type="pres">
      <dgm:prSet presAssocID="{3364DB89-ED8C-4F2F-915B-F63F0DB27AE0}" presName="level3hierChild" presStyleCnt="0"/>
      <dgm:spPr/>
    </dgm:pt>
  </dgm:ptLst>
  <dgm:cxnLst>
    <dgm:cxn modelId="{6373E7AA-BF22-4B26-B3EE-C16711E0950D}" type="presOf" srcId="{07C1F97A-8F21-4DC8-8EFC-2F5F1595F185}" destId="{20D12E34-155E-4557-ACDF-5B3EB35B3AC9}" srcOrd="0" destOrd="0" presId="urn:microsoft.com/office/officeart/2008/layout/HorizontalMultiLevelHierarchy"/>
    <dgm:cxn modelId="{A1AB75F6-7234-486D-A526-263E7E6D4E7A}" type="presOf" srcId="{C917EFD9-CAEA-41A6-9AF5-90D6DD618004}" destId="{F0292EA4-6E69-43FF-9650-B9E132DEC685}" srcOrd="0" destOrd="0" presId="urn:microsoft.com/office/officeart/2008/layout/HorizontalMultiLevelHierarchy"/>
    <dgm:cxn modelId="{B38E08D5-6E85-4970-AE2D-E62966896C29}" type="presOf" srcId="{D48E7B02-C333-4C6F-BEBB-FB54412B297C}" destId="{BADE40C7-610C-422B-ABF1-AA915FB9280F}" srcOrd="1" destOrd="0" presId="urn:microsoft.com/office/officeart/2008/layout/HorizontalMultiLevelHierarchy"/>
    <dgm:cxn modelId="{C4A34E3B-8BF0-4D57-AF0C-A80F48782513}" type="presOf" srcId="{43311060-98A5-4575-B66D-196C53240686}" destId="{234BABAA-E2C6-4F0D-92FE-513D18D1C6F4}" srcOrd="1" destOrd="0" presId="urn:microsoft.com/office/officeart/2008/layout/HorizontalMultiLevelHierarchy"/>
    <dgm:cxn modelId="{AD9BF611-43D4-4D96-A966-7E8CFB2D7C77}" type="presOf" srcId="{67E77728-0035-4C44-A018-E2A7327F17E3}" destId="{D4999646-780C-4A46-9AA9-DBA8BD83C8F8}" srcOrd="0" destOrd="0" presId="urn:microsoft.com/office/officeart/2008/layout/HorizontalMultiLevelHierarchy"/>
    <dgm:cxn modelId="{A0CAE5E3-C88E-4D48-8AB0-003C6CA7BB63}" srcId="{F5BD0963-E02A-4A39-8BB0-1D077DAF1FD6}" destId="{9750C685-86C9-47FF-AE93-C4E5AE910DBA}" srcOrd="1" destOrd="0" parTransId="{67E77728-0035-4C44-A018-E2A7327F17E3}" sibTransId="{E38C4B38-E326-4BD9-82EF-1198DEBFAC17}"/>
    <dgm:cxn modelId="{2A1BE5D5-5F9B-441E-B7CF-8E0D7EAC081B}" type="presOf" srcId="{F5BD0963-E02A-4A39-8BB0-1D077DAF1FD6}" destId="{2AB2EE76-4475-44BC-81BB-6F6AE1B92483}" srcOrd="0" destOrd="0" presId="urn:microsoft.com/office/officeart/2008/layout/HorizontalMultiLevelHierarchy"/>
    <dgm:cxn modelId="{8B8FF862-CAB0-4D5B-B404-A8E3B740F662}" type="presOf" srcId="{0559F496-C616-42A2-82DE-49B8D693BAC0}" destId="{84B995B9-72DF-482E-96BC-DE92D733444B}" srcOrd="0" destOrd="0" presId="urn:microsoft.com/office/officeart/2008/layout/HorizontalMultiLevelHierarchy"/>
    <dgm:cxn modelId="{8CB7389C-9ED1-42DA-AEF2-FBC2C92FFF32}" type="presOf" srcId="{888917CB-377F-4727-93EB-2F14AF58A983}" destId="{7AF15DC3-B9AA-415C-89D2-8CE8C6187EE5}" srcOrd="1" destOrd="0" presId="urn:microsoft.com/office/officeart/2008/layout/HorizontalMultiLevelHierarchy"/>
    <dgm:cxn modelId="{3AD4E700-1EC0-43C2-A00B-BD9C47219A79}" srcId="{C917EFD9-CAEA-41A6-9AF5-90D6DD618004}" destId="{F5BD0963-E02A-4A39-8BB0-1D077DAF1FD6}" srcOrd="0" destOrd="0" parTransId="{888917CB-377F-4727-93EB-2F14AF58A983}" sibTransId="{E6B4400F-16BB-4753-9DBC-A86C085FF391}"/>
    <dgm:cxn modelId="{E7480023-82C9-4C0E-8341-8CE8C446B0C6}" srcId="{A16C0994-5C00-48B2-AC7E-061A6E9D6108}" destId="{07C1F97A-8F21-4DC8-8EFC-2F5F1595F185}" srcOrd="0" destOrd="0" parTransId="{1609E38C-CF40-4D24-8616-CCC6607532C6}" sibTransId="{48B7081C-1EBE-47F6-B1FB-D46E10328C5D}"/>
    <dgm:cxn modelId="{10E7D18C-BE59-4779-B895-4A56DB14AE71}" type="presOf" srcId="{D48E7B02-C333-4C6F-BEBB-FB54412B297C}" destId="{5015D883-2418-473E-9B66-74F6594F790D}" srcOrd="0" destOrd="0" presId="urn:microsoft.com/office/officeart/2008/layout/HorizontalMultiLevelHierarchy"/>
    <dgm:cxn modelId="{20B1EF49-2292-408C-91E7-F5921B122337}" type="presOf" srcId="{888917CB-377F-4727-93EB-2F14AF58A983}" destId="{E41AF180-09B1-4438-AD14-120AD8F563E7}" srcOrd="0" destOrd="0" presId="urn:microsoft.com/office/officeart/2008/layout/HorizontalMultiLevelHierarchy"/>
    <dgm:cxn modelId="{8A522EED-DCC1-4152-898A-090321558A76}" type="presOf" srcId="{43311060-98A5-4575-B66D-196C53240686}" destId="{3F3618E8-30FA-47A6-A2A5-23F775B41608}" srcOrd="0" destOrd="0" presId="urn:microsoft.com/office/officeart/2008/layout/HorizontalMultiLevelHierarchy"/>
    <dgm:cxn modelId="{8846D32A-375B-4A78-B1E6-CCE58492A5C5}" type="presOf" srcId="{1609E38C-CF40-4D24-8616-CCC6607532C6}" destId="{9A85185C-A9B9-4C48-89CC-703CEEFFDE60}" srcOrd="0" destOrd="0" presId="urn:microsoft.com/office/officeart/2008/layout/HorizontalMultiLevelHierarchy"/>
    <dgm:cxn modelId="{26DA3099-8B6A-4BCC-B7AC-61267DAF4A5D}" type="presOf" srcId="{A16C0994-5C00-48B2-AC7E-061A6E9D6108}" destId="{50359887-3513-4266-A496-0A7E21D94C1F}" srcOrd="0" destOrd="0" presId="urn:microsoft.com/office/officeart/2008/layout/HorizontalMultiLevelHierarchy"/>
    <dgm:cxn modelId="{90E49E6D-CD92-4315-B726-1D8F758B8B97}" type="presOf" srcId="{46236883-7629-4665-8C04-B4495939380C}" destId="{5C067BE3-3446-40F9-B4AC-6B99FC261C58}" srcOrd="0" destOrd="0" presId="urn:microsoft.com/office/officeart/2008/layout/HorizontalMultiLevelHierarchy"/>
    <dgm:cxn modelId="{FCBF23F1-D0C5-4A1F-938B-F13D29F53945}" type="presOf" srcId="{1609E38C-CF40-4D24-8616-CCC6607532C6}" destId="{80B8FBBB-CBA9-4C1E-921C-4016F874D18A}" srcOrd="1" destOrd="0" presId="urn:microsoft.com/office/officeart/2008/layout/HorizontalMultiLevelHierarchy"/>
    <dgm:cxn modelId="{A79C1AC5-3069-4496-A581-B3B762AB7556}" type="presOf" srcId="{9750C685-86C9-47FF-AE93-C4E5AE910DBA}" destId="{8E998058-529A-425D-B6FA-F8A57704427F}" srcOrd="0" destOrd="0" presId="urn:microsoft.com/office/officeart/2008/layout/HorizontalMultiLevelHierarchy"/>
    <dgm:cxn modelId="{DC96752E-15B0-4BE1-8D3D-4215C7740F84}" type="presOf" srcId="{67E77728-0035-4C44-A018-E2A7327F17E3}" destId="{5C02C11C-0CCD-4ABF-B2A4-17FC72B4FCE0}" srcOrd="1" destOrd="0" presId="urn:microsoft.com/office/officeart/2008/layout/HorizontalMultiLevelHierarchy"/>
    <dgm:cxn modelId="{2F7B07C4-A923-48EB-9066-398C8A647A4C}" srcId="{F5BD0963-E02A-4A39-8BB0-1D077DAF1FD6}" destId="{46236883-7629-4665-8C04-B4495939380C}" srcOrd="0" destOrd="0" parTransId="{D48E7B02-C333-4C6F-BEBB-FB54412B297C}" sibTransId="{90774C2E-2401-45B7-B108-B41F4C147C8A}"/>
    <dgm:cxn modelId="{8C740AA3-3B9C-41AA-A164-4791A6EB1002}" type="presOf" srcId="{8001DA56-ED21-4304-9457-5587AFBB3330}" destId="{B9A734D0-1723-4C2F-B5DD-15969DF868C0}" srcOrd="0" destOrd="0" presId="urn:microsoft.com/office/officeart/2008/layout/HorizontalMultiLevelHierarchy"/>
    <dgm:cxn modelId="{B7370B0B-6854-43F9-8093-F37EA5628163}" type="presOf" srcId="{3364DB89-ED8C-4F2F-915B-F63F0DB27AE0}" destId="{C49ABEA2-CEE1-47AD-A59C-1C532DC08099}" srcOrd="0" destOrd="0" presId="urn:microsoft.com/office/officeart/2008/layout/HorizontalMultiLevelHierarchy"/>
    <dgm:cxn modelId="{45C7F9DB-B67D-4F3A-92EB-6FC7B07E6C21}" srcId="{C917EFD9-CAEA-41A6-9AF5-90D6DD618004}" destId="{A16C0994-5C00-48B2-AC7E-061A6E9D6108}" srcOrd="1" destOrd="0" parTransId="{0559F496-C616-42A2-82DE-49B8D693BAC0}" sibTransId="{42013FC4-173C-4296-A9CD-6CFBA1C07A67}"/>
    <dgm:cxn modelId="{69B66F06-FCAE-4123-9889-170CAF636E2B}" srcId="{8001DA56-ED21-4304-9457-5587AFBB3330}" destId="{C917EFD9-CAEA-41A6-9AF5-90D6DD618004}" srcOrd="0" destOrd="0" parTransId="{265E8C9B-0671-485C-BA64-AEF054B64630}" sibTransId="{9CEE5660-18F1-46FF-AA87-DC17049DD96E}"/>
    <dgm:cxn modelId="{4C5B485B-936E-463C-95E8-0E2D4AC1DC1B}" type="presOf" srcId="{0559F496-C616-42A2-82DE-49B8D693BAC0}" destId="{3656E1CD-3BCE-4BCC-9122-C22B560A482D}" srcOrd="1" destOrd="0" presId="urn:microsoft.com/office/officeart/2008/layout/HorizontalMultiLevelHierarchy"/>
    <dgm:cxn modelId="{E0C35864-2E31-47AA-8DB6-C81BB184471D}" srcId="{A16C0994-5C00-48B2-AC7E-061A6E9D6108}" destId="{3364DB89-ED8C-4F2F-915B-F63F0DB27AE0}" srcOrd="1" destOrd="0" parTransId="{43311060-98A5-4575-B66D-196C53240686}" sibTransId="{8BD37963-B591-4482-B164-2825FD52E513}"/>
    <dgm:cxn modelId="{60648C5F-F8E8-4833-915E-0CB1CD042AB9}" type="presParOf" srcId="{B9A734D0-1723-4C2F-B5DD-15969DF868C0}" destId="{E3EBC1A1-26A3-47FB-85B5-4DFBD46AD226}" srcOrd="0" destOrd="0" presId="urn:microsoft.com/office/officeart/2008/layout/HorizontalMultiLevelHierarchy"/>
    <dgm:cxn modelId="{18FD8B23-0462-4DBA-8632-E62A8EF0F882}" type="presParOf" srcId="{E3EBC1A1-26A3-47FB-85B5-4DFBD46AD226}" destId="{F0292EA4-6E69-43FF-9650-B9E132DEC685}" srcOrd="0" destOrd="0" presId="urn:microsoft.com/office/officeart/2008/layout/HorizontalMultiLevelHierarchy"/>
    <dgm:cxn modelId="{DFE5E648-A75E-4B4F-AC20-F434C57FAC18}" type="presParOf" srcId="{E3EBC1A1-26A3-47FB-85B5-4DFBD46AD226}" destId="{FEDB114B-2D44-47B4-BDEC-4BE439779020}" srcOrd="1" destOrd="0" presId="urn:microsoft.com/office/officeart/2008/layout/HorizontalMultiLevelHierarchy"/>
    <dgm:cxn modelId="{F8672C52-41C2-4715-BB8B-775365A0F605}" type="presParOf" srcId="{FEDB114B-2D44-47B4-BDEC-4BE439779020}" destId="{E41AF180-09B1-4438-AD14-120AD8F563E7}" srcOrd="0" destOrd="0" presId="urn:microsoft.com/office/officeart/2008/layout/HorizontalMultiLevelHierarchy"/>
    <dgm:cxn modelId="{FB23488E-D529-4E42-9864-E29E5C2E2811}" type="presParOf" srcId="{E41AF180-09B1-4438-AD14-120AD8F563E7}" destId="{7AF15DC3-B9AA-415C-89D2-8CE8C6187EE5}" srcOrd="0" destOrd="0" presId="urn:microsoft.com/office/officeart/2008/layout/HorizontalMultiLevelHierarchy"/>
    <dgm:cxn modelId="{012A22C8-5505-4B1E-8786-72FCF2608BAA}" type="presParOf" srcId="{FEDB114B-2D44-47B4-BDEC-4BE439779020}" destId="{F75A5632-2B27-49F7-8E2B-277DE69D73B4}" srcOrd="1" destOrd="0" presId="urn:microsoft.com/office/officeart/2008/layout/HorizontalMultiLevelHierarchy"/>
    <dgm:cxn modelId="{F4806772-ED84-45B8-8960-D03710A823CE}" type="presParOf" srcId="{F75A5632-2B27-49F7-8E2B-277DE69D73B4}" destId="{2AB2EE76-4475-44BC-81BB-6F6AE1B92483}" srcOrd="0" destOrd="0" presId="urn:microsoft.com/office/officeart/2008/layout/HorizontalMultiLevelHierarchy"/>
    <dgm:cxn modelId="{A2481F10-1CA2-4B28-97B2-31C1BB68F147}" type="presParOf" srcId="{F75A5632-2B27-49F7-8E2B-277DE69D73B4}" destId="{D1A19C17-DFD3-4DCC-BF5D-4DB7600FE987}" srcOrd="1" destOrd="0" presId="urn:microsoft.com/office/officeart/2008/layout/HorizontalMultiLevelHierarchy"/>
    <dgm:cxn modelId="{D5FB4DD9-0D11-44E0-8834-1B0497F7EA88}" type="presParOf" srcId="{D1A19C17-DFD3-4DCC-BF5D-4DB7600FE987}" destId="{5015D883-2418-473E-9B66-74F6594F790D}" srcOrd="0" destOrd="0" presId="urn:microsoft.com/office/officeart/2008/layout/HorizontalMultiLevelHierarchy"/>
    <dgm:cxn modelId="{0331F0FC-35DD-4638-843A-A6DB0B7FCD43}" type="presParOf" srcId="{5015D883-2418-473E-9B66-74F6594F790D}" destId="{BADE40C7-610C-422B-ABF1-AA915FB9280F}" srcOrd="0" destOrd="0" presId="urn:microsoft.com/office/officeart/2008/layout/HorizontalMultiLevelHierarchy"/>
    <dgm:cxn modelId="{9E109E0D-420B-4B29-ABD9-5A0DFB18C456}" type="presParOf" srcId="{D1A19C17-DFD3-4DCC-BF5D-4DB7600FE987}" destId="{2531B257-7D89-4A46-9BB3-CAC59B46EA50}" srcOrd="1" destOrd="0" presId="urn:microsoft.com/office/officeart/2008/layout/HorizontalMultiLevelHierarchy"/>
    <dgm:cxn modelId="{D26F6725-0F0B-4A31-A5CB-84D8E7E71346}" type="presParOf" srcId="{2531B257-7D89-4A46-9BB3-CAC59B46EA50}" destId="{5C067BE3-3446-40F9-B4AC-6B99FC261C58}" srcOrd="0" destOrd="0" presId="urn:microsoft.com/office/officeart/2008/layout/HorizontalMultiLevelHierarchy"/>
    <dgm:cxn modelId="{FA5BF914-B3C9-4CEC-9DB9-AC38DE99594F}" type="presParOf" srcId="{2531B257-7D89-4A46-9BB3-CAC59B46EA50}" destId="{F4B6536E-FCD5-47C5-B5D6-AF6A43443DD1}" srcOrd="1" destOrd="0" presId="urn:microsoft.com/office/officeart/2008/layout/HorizontalMultiLevelHierarchy"/>
    <dgm:cxn modelId="{089B2B78-50C7-4D22-A3F3-8AF7EFAEA532}" type="presParOf" srcId="{D1A19C17-DFD3-4DCC-BF5D-4DB7600FE987}" destId="{D4999646-780C-4A46-9AA9-DBA8BD83C8F8}" srcOrd="2" destOrd="0" presId="urn:microsoft.com/office/officeart/2008/layout/HorizontalMultiLevelHierarchy"/>
    <dgm:cxn modelId="{47BDB938-A960-4D66-9656-0B563045F57A}" type="presParOf" srcId="{D4999646-780C-4A46-9AA9-DBA8BD83C8F8}" destId="{5C02C11C-0CCD-4ABF-B2A4-17FC72B4FCE0}" srcOrd="0" destOrd="0" presId="urn:microsoft.com/office/officeart/2008/layout/HorizontalMultiLevelHierarchy"/>
    <dgm:cxn modelId="{7B9BD718-8125-4DDF-83AC-42344FE64E11}" type="presParOf" srcId="{D1A19C17-DFD3-4DCC-BF5D-4DB7600FE987}" destId="{851E0AD0-D28D-4B78-9149-21EABF08592B}" srcOrd="3" destOrd="0" presId="urn:microsoft.com/office/officeart/2008/layout/HorizontalMultiLevelHierarchy"/>
    <dgm:cxn modelId="{3213C918-D1D3-47B3-9DDC-348309271194}" type="presParOf" srcId="{851E0AD0-D28D-4B78-9149-21EABF08592B}" destId="{8E998058-529A-425D-B6FA-F8A57704427F}" srcOrd="0" destOrd="0" presId="urn:microsoft.com/office/officeart/2008/layout/HorizontalMultiLevelHierarchy"/>
    <dgm:cxn modelId="{7E532238-F954-4E30-A881-0D3312A0A75F}" type="presParOf" srcId="{851E0AD0-D28D-4B78-9149-21EABF08592B}" destId="{8273CC15-99B8-4BC9-B79F-3ADE5D6BDAF8}" srcOrd="1" destOrd="0" presId="urn:microsoft.com/office/officeart/2008/layout/HorizontalMultiLevelHierarchy"/>
    <dgm:cxn modelId="{C3F9EF8D-A633-46E3-BE5F-70DEE03FE93B}" type="presParOf" srcId="{FEDB114B-2D44-47B4-BDEC-4BE439779020}" destId="{84B995B9-72DF-482E-96BC-DE92D733444B}" srcOrd="2" destOrd="0" presId="urn:microsoft.com/office/officeart/2008/layout/HorizontalMultiLevelHierarchy"/>
    <dgm:cxn modelId="{7FBE51AC-82EA-4381-BA53-3D7422E4F98B}" type="presParOf" srcId="{84B995B9-72DF-482E-96BC-DE92D733444B}" destId="{3656E1CD-3BCE-4BCC-9122-C22B560A482D}" srcOrd="0" destOrd="0" presId="urn:microsoft.com/office/officeart/2008/layout/HorizontalMultiLevelHierarchy"/>
    <dgm:cxn modelId="{16F3A5E6-2D82-4254-A234-C687162BC744}" type="presParOf" srcId="{FEDB114B-2D44-47B4-BDEC-4BE439779020}" destId="{05EB2859-B2C0-4B70-BA15-48786EC21F65}" srcOrd="3" destOrd="0" presId="urn:microsoft.com/office/officeart/2008/layout/HorizontalMultiLevelHierarchy"/>
    <dgm:cxn modelId="{70414832-FDC1-4AE4-9348-2A3F846567D5}" type="presParOf" srcId="{05EB2859-B2C0-4B70-BA15-48786EC21F65}" destId="{50359887-3513-4266-A496-0A7E21D94C1F}" srcOrd="0" destOrd="0" presId="urn:microsoft.com/office/officeart/2008/layout/HorizontalMultiLevelHierarchy"/>
    <dgm:cxn modelId="{556FA59B-9435-4E44-913B-8BDB8A6137C6}" type="presParOf" srcId="{05EB2859-B2C0-4B70-BA15-48786EC21F65}" destId="{112C36DC-DA94-4B25-A89F-3D1448B1E429}" srcOrd="1" destOrd="0" presId="urn:microsoft.com/office/officeart/2008/layout/HorizontalMultiLevelHierarchy"/>
    <dgm:cxn modelId="{5E4392F0-CE38-4D13-9F83-B09FE27F7725}" type="presParOf" srcId="{112C36DC-DA94-4B25-A89F-3D1448B1E429}" destId="{9A85185C-A9B9-4C48-89CC-703CEEFFDE60}" srcOrd="0" destOrd="0" presId="urn:microsoft.com/office/officeart/2008/layout/HorizontalMultiLevelHierarchy"/>
    <dgm:cxn modelId="{4E34C316-DD99-4473-ACDF-99CCB8AC263E}" type="presParOf" srcId="{9A85185C-A9B9-4C48-89CC-703CEEFFDE60}" destId="{80B8FBBB-CBA9-4C1E-921C-4016F874D18A}" srcOrd="0" destOrd="0" presId="urn:microsoft.com/office/officeart/2008/layout/HorizontalMultiLevelHierarchy"/>
    <dgm:cxn modelId="{F5095A5C-0D58-4FEA-B9E0-D52BED5CDE58}" type="presParOf" srcId="{112C36DC-DA94-4B25-A89F-3D1448B1E429}" destId="{39CEF950-2861-4176-B1F0-60BFE9148A3D}" srcOrd="1" destOrd="0" presId="urn:microsoft.com/office/officeart/2008/layout/HorizontalMultiLevelHierarchy"/>
    <dgm:cxn modelId="{F23339CC-6F2B-4594-AD0F-A24E4D03E765}" type="presParOf" srcId="{39CEF950-2861-4176-B1F0-60BFE9148A3D}" destId="{20D12E34-155E-4557-ACDF-5B3EB35B3AC9}" srcOrd="0" destOrd="0" presId="urn:microsoft.com/office/officeart/2008/layout/HorizontalMultiLevelHierarchy"/>
    <dgm:cxn modelId="{B727D8B7-1AB5-4C0B-A43D-D69EE087877C}" type="presParOf" srcId="{39CEF950-2861-4176-B1F0-60BFE9148A3D}" destId="{C02029BA-500E-4D5A-9841-F27AF25C71B0}" srcOrd="1" destOrd="0" presId="urn:microsoft.com/office/officeart/2008/layout/HorizontalMultiLevelHierarchy"/>
    <dgm:cxn modelId="{A7467C13-98E7-40A6-82E9-BFFEE5295A0C}" type="presParOf" srcId="{112C36DC-DA94-4B25-A89F-3D1448B1E429}" destId="{3F3618E8-30FA-47A6-A2A5-23F775B41608}" srcOrd="2" destOrd="0" presId="urn:microsoft.com/office/officeart/2008/layout/HorizontalMultiLevelHierarchy"/>
    <dgm:cxn modelId="{B2389903-C0B3-487E-9F1B-4598E7A1BFB3}" type="presParOf" srcId="{3F3618E8-30FA-47A6-A2A5-23F775B41608}" destId="{234BABAA-E2C6-4F0D-92FE-513D18D1C6F4}" srcOrd="0" destOrd="0" presId="urn:microsoft.com/office/officeart/2008/layout/HorizontalMultiLevelHierarchy"/>
    <dgm:cxn modelId="{C229A366-39E2-43B3-9656-81B95C7030D1}" type="presParOf" srcId="{112C36DC-DA94-4B25-A89F-3D1448B1E429}" destId="{DD1CCE3A-2CA5-4061-8DCC-9FEEFB7B25AD}" srcOrd="3" destOrd="0" presId="urn:microsoft.com/office/officeart/2008/layout/HorizontalMultiLevelHierarchy"/>
    <dgm:cxn modelId="{FAB833D3-7E12-4BC8-B403-C829790D9781}" type="presParOf" srcId="{DD1CCE3A-2CA5-4061-8DCC-9FEEFB7B25AD}" destId="{C49ABEA2-CEE1-47AD-A59C-1C532DC08099}" srcOrd="0" destOrd="0" presId="urn:microsoft.com/office/officeart/2008/layout/HorizontalMultiLevelHierarchy"/>
    <dgm:cxn modelId="{11120357-168C-4470-BDF7-CD1AD676AC70}" type="presParOf" srcId="{DD1CCE3A-2CA5-4061-8DCC-9FEEFB7B25AD}" destId="{28AD9EDC-3716-40F9-A963-533275D04A75}" srcOrd="1" destOrd="0" presId="urn:microsoft.com/office/officeart/2008/layout/HorizontalMultiLevelHierarchy"/>
  </dgm:cxnLst>
  <dgm:bg/>
  <dgm:whole>
    <a:ln w="28575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618E8-30FA-47A6-A2A5-23F775B41608}">
      <dsp:nvSpPr>
        <dsp:cNvPr id="0" name=""/>
        <dsp:cNvSpPr/>
      </dsp:nvSpPr>
      <dsp:spPr>
        <a:xfrm>
          <a:off x="2915221" y="3003046"/>
          <a:ext cx="415275" cy="395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7637" y="0"/>
              </a:lnTo>
              <a:lnTo>
                <a:pt x="207637" y="395651"/>
              </a:lnTo>
              <a:lnTo>
                <a:pt x="415275" y="39565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108520" y="3186532"/>
        <a:ext cx="28679" cy="28679"/>
      </dsp:txXfrm>
    </dsp:sp>
    <dsp:sp modelId="{9A85185C-A9B9-4C48-89CC-703CEEFFDE60}">
      <dsp:nvSpPr>
        <dsp:cNvPr id="0" name=""/>
        <dsp:cNvSpPr/>
      </dsp:nvSpPr>
      <dsp:spPr>
        <a:xfrm>
          <a:off x="2915221" y="2607395"/>
          <a:ext cx="415275" cy="395651"/>
        </a:xfrm>
        <a:custGeom>
          <a:avLst/>
          <a:gdLst/>
          <a:ahLst/>
          <a:cxnLst/>
          <a:rect l="0" t="0" r="0" b="0"/>
          <a:pathLst>
            <a:path>
              <a:moveTo>
                <a:pt x="0" y="395651"/>
              </a:moveTo>
              <a:lnTo>
                <a:pt x="207637" y="395651"/>
              </a:lnTo>
              <a:lnTo>
                <a:pt x="207637" y="0"/>
              </a:lnTo>
              <a:lnTo>
                <a:pt x="415275" y="0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108520" y="2790881"/>
        <a:ext cx="28679" cy="28679"/>
      </dsp:txXfrm>
    </dsp:sp>
    <dsp:sp modelId="{84B995B9-72DF-482E-96BC-DE92D733444B}">
      <dsp:nvSpPr>
        <dsp:cNvPr id="0" name=""/>
        <dsp:cNvSpPr/>
      </dsp:nvSpPr>
      <dsp:spPr>
        <a:xfrm>
          <a:off x="423567" y="2074264"/>
          <a:ext cx="415275" cy="928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7637" y="0"/>
              </a:lnTo>
              <a:lnTo>
                <a:pt x="207637" y="928782"/>
              </a:lnTo>
              <a:lnTo>
                <a:pt x="415275" y="92878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605770" y="2513220"/>
        <a:ext cx="50869" cy="50869"/>
      </dsp:txXfrm>
    </dsp:sp>
    <dsp:sp modelId="{D4999646-780C-4A46-9AA9-DBA8BD83C8F8}">
      <dsp:nvSpPr>
        <dsp:cNvPr id="0" name=""/>
        <dsp:cNvSpPr/>
      </dsp:nvSpPr>
      <dsp:spPr>
        <a:xfrm>
          <a:off x="2915221" y="1145482"/>
          <a:ext cx="415275" cy="5257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7637" y="0"/>
              </a:lnTo>
              <a:lnTo>
                <a:pt x="207637" y="525725"/>
              </a:lnTo>
              <a:lnTo>
                <a:pt x="415275" y="525725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106110" y="1391596"/>
        <a:ext cx="33497" cy="33497"/>
      </dsp:txXfrm>
    </dsp:sp>
    <dsp:sp modelId="{5015D883-2418-473E-9B66-74F6594F790D}">
      <dsp:nvSpPr>
        <dsp:cNvPr id="0" name=""/>
        <dsp:cNvSpPr/>
      </dsp:nvSpPr>
      <dsp:spPr>
        <a:xfrm>
          <a:off x="2915221" y="604946"/>
          <a:ext cx="415275" cy="540535"/>
        </a:xfrm>
        <a:custGeom>
          <a:avLst/>
          <a:gdLst/>
          <a:ahLst/>
          <a:cxnLst/>
          <a:rect l="0" t="0" r="0" b="0"/>
          <a:pathLst>
            <a:path>
              <a:moveTo>
                <a:pt x="0" y="540535"/>
              </a:moveTo>
              <a:lnTo>
                <a:pt x="207637" y="540535"/>
              </a:lnTo>
              <a:lnTo>
                <a:pt x="207637" y="0"/>
              </a:lnTo>
              <a:lnTo>
                <a:pt x="415275" y="0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105818" y="858173"/>
        <a:ext cx="34081" cy="34081"/>
      </dsp:txXfrm>
    </dsp:sp>
    <dsp:sp modelId="{E41AF180-09B1-4438-AD14-120AD8F563E7}">
      <dsp:nvSpPr>
        <dsp:cNvPr id="0" name=""/>
        <dsp:cNvSpPr/>
      </dsp:nvSpPr>
      <dsp:spPr>
        <a:xfrm>
          <a:off x="423567" y="1145482"/>
          <a:ext cx="415275" cy="928782"/>
        </a:xfrm>
        <a:custGeom>
          <a:avLst/>
          <a:gdLst/>
          <a:ahLst/>
          <a:cxnLst/>
          <a:rect l="0" t="0" r="0" b="0"/>
          <a:pathLst>
            <a:path>
              <a:moveTo>
                <a:pt x="0" y="928782"/>
              </a:moveTo>
              <a:lnTo>
                <a:pt x="207637" y="928782"/>
              </a:lnTo>
              <a:lnTo>
                <a:pt x="207637" y="0"/>
              </a:lnTo>
              <a:lnTo>
                <a:pt x="415275" y="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605770" y="1584438"/>
        <a:ext cx="50869" cy="50869"/>
      </dsp:txXfrm>
    </dsp:sp>
    <dsp:sp modelId="{F0292EA4-6E69-43FF-9650-B9E132DEC685}">
      <dsp:nvSpPr>
        <dsp:cNvPr id="0" name=""/>
        <dsp:cNvSpPr/>
      </dsp:nvSpPr>
      <dsp:spPr>
        <a:xfrm rot="16200000">
          <a:off x="-1451300" y="1865297"/>
          <a:ext cx="3331801" cy="4179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光电效应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-1451300" y="1865297"/>
        <a:ext cx="3331801" cy="417934"/>
      </dsp:txXfrm>
    </dsp:sp>
    <dsp:sp modelId="{2AB2EE76-4475-44BC-81BB-6F6AE1B92483}">
      <dsp:nvSpPr>
        <dsp:cNvPr id="0" name=""/>
        <dsp:cNvSpPr/>
      </dsp:nvSpPr>
      <dsp:spPr>
        <a:xfrm>
          <a:off x="838842" y="828960"/>
          <a:ext cx="2076378" cy="6330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内光电效应</a:t>
          </a:r>
          <a:endParaRPr lang="en-US" altLang="zh-CN" sz="2000" b="1" kern="1200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838842" y="828960"/>
        <a:ext cx="2076378" cy="633042"/>
      </dsp:txXfrm>
    </dsp:sp>
    <dsp:sp modelId="{5C067BE3-3446-40F9-B4AC-6B99FC261C58}">
      <dsp:nvSpPr>
        <dsp:cNvPr id="0" name=""/>
        <dsp:cNvSpPr/>
      </dsp:nvSpPr>
      <dsp:spPr>
        <a:xfrm>
          <a:off x="3330497" y="158350"/>
          <a:ext cx="2076378" cy="89319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光电池</a:t>
          </a:r>
          <a:endParaRPr lang="en-US" altLang="zh-CN" sz="2000" b="1" kern="1200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（光生伏打效应）</a:t>
          </a:r>
          <a:endParaRPr lang="en-US" altLang="zh-CN" sz="2000" b="1" kern="1200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330497" y="158350"/>
        <a:ext cx="2076378" cy="893191"/>
      </dsp:txXfrm>
    </dsp:sp>
    <dsp:sp modelId="{8E998058-529A-425D-B6FA-F8A57704427F}">
      <dsp:nvSpPr>
        <dsp:cNvPr id="0" name=""/>
        <dsp:cNvSpPr/>
      </dsp:nvSpPr>
      <dsp:spPr>
        <a:xfrm>
          <a:off x="3330497" y="1209802"/>
          <a:ext cx="2076378" cy="9228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光敏电阻</a:t>
          </a:r>
          <a:endParaRPr lang="en-US" altLang="zh-CN" sz="2000" b="1" kern="1200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（光电导效应）</a:t>
          </a:r>
          <a:endParaRPr lang="en-US" altLang="zh-CN" sz="2000" b="1" kern="1200" dirty="0" smtClean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330497" y="1209802"/>
        <a:ext cx="2076378" cy="922811"/>
      </dsp:txXfrm>
    </dsp:sp>
    <dsp:sp modelId="{50359887-3513-4266-A496-0A7E21D94C1F}">
      <dsp:nvSpPr>
        <dsp:cNvPr id="0" name=""/>
        <dsp:cNvSpPr/>
      </dsp:nvSpPr>
      <dsp:spPr>
        <a:xfrm>
          <a:off x="838842" y="2686525"/>
          <a:ext cx="2076378" cy="6330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外光电效应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838842" y="2686525"/>
        <a:ext cx="2076378" cy="633042"/>
      </dsp:txXfrm>
    </dsp:sp>
    <dsp:sp modelId="{20D12E34-155E-4557-ACDF-5B3EB35B3AC9}">
      <dsp:nvSpPr>
        <dsp:cNvPr id="0" name=""/>
        <dsp:cNvSpPr/>
      </dsp:nvSpPr>
      <dsp:spPr>
        <a:xfrm>
          <a:off x="3330497" y="2290874"/>
          <a:ext cx="2076378" cy="6330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光电管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330497" y="2290874"/>
        <a:ext cx="2076378" cy="633042"/>
      </dsp:txXfrm>
    </dsp:sp>
    <dsp:sp modelId="{C49ABEA2-CEE1-47AD-A59C-1C532DC08099}">
      <dsp:nvSpPr>
        <dsp:cNvPr id="0" name=""/>
        <dsp:cNvSpPr/>
      </dsp:nvSpPr>
      <dsp:spPr>
        <a:xfrm>
          <a:off x="3330497" y="3082176"/>
          <a:ext cx="2076378" cy="6330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光电倍增管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330497" y="3082176"/>
        <a:ext cx="2076378" cy="633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262531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42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6858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0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2pPr>
            <a:lvl3pPr marL="11430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3pPr>
            <a:lvl4pPr marL="16002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4pPr>
            <a:lvl5pPr marL="20574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75462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33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24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7EF6-3172-4E4B-B9A2-1C5902C289B2}" type="datetimeFigureOut">
              <a:rPr lang="zh-CN" altLang="en-US" smtClean="0"/>
              <a:t>2022/3/1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5F72-D721-4CB2-959B-31C196EA2B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/>
          <a:srcRect r="67965"/>
          <a:stretch/>
        </p:blipFill>
        <p:spPr>
          <a:xfrm>
            <a:off x="11377829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67" y="216174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9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 userDrawn="1"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0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3.png"/><Relationship Id="rId21" Type="http://schemas.openxmlformats.org/officeDocument/2006/relationships/image" Target="../media/image5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9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6" r="12398"/>
          <a:stretch/>
        </p:blipFill>
        <p:spPr>
          <a:xfrm rot="16200000">
            <a:off x="3817214" y="-1525408"/>
            <a:ext cx="4557562" cy="12192001"/>
          </a:xfrm>
          <a:prstGeom prst="rect">
            <a:avLst/>
          </a:prstGeom>
        </p:spPr>
      </p:pic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1155024" y="2041645"/>
            <a:ext cx="9881937" cy="2387600"/>
          </a:xfrm>
        </p:spPr>
        <p:txBody>
          <a:bodyPr anchor="ctr"/>
          <a:lstStyle/>
          <a:p>
            <a:pPr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 代 物 理 学 选 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6915" y="4475980"/>
            <a:ext cx="2518154" cy="175418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河北工业大学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01" r="82217"/>
          <a:stretch/>
        </p:blipFill>
        <p:spPr>
          <a:xfrm rot="5400000">
            <a:off x="5850549" y="-5850556"/>
            <a:ext cx="490889" cy="12192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第四讲 光电效应</a:t>
            </a:r>
          </a:p>
        </p:txBody>
      </p:sp>
      <p:pic>
        <p:nvPicPr>
          <p:cNvPr id="32771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1209675"/>
            <a:ext cx="845185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3379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4.1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光电效应的实验规律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71525" y="1758950"/>
            <a:ext cx="10704513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赫兹（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Hertz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）发现用紫外光线照射金属电极时，能够助长火花放电。进一步研究表明，当用高频电磁波照射金属表面时，从金属中能够跳出带电粒子，这种现象称为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光电效应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。对跳出的带电粒子进行核质比（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/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）测量，结果证明它们就是普通电子。</a:t>
            </a: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008188" y="3271838"/>
            <a:ext cx="8175625" cy="3405372"/>
            <a:chOff x="2260881" y="3271837"/>
            <a:chExt cx="8176210" cy="3405976"/>
          </a:xfrm>
        </p:grpSpPr>
        <p:sp>
          <p:nvSpPr>
            <p:cNvPr id="33798" name="文本框 1"/>
            <p:cNvSpPr txBox="1">
              <a:spLocks noChangeArrowheads="1"/>
            </p:cNvSpPr>
            <p:nvPr/>
          </p:nvSpPr>
          <p:spPr bwMode="auto">
            <a:xfrm>
              <a:off x="4610084" y="6308416"/>
              <a:ext cx="2724018" cy="369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光电效应实验装置示意图</a:t>
              </a:r>
            </a:p>
          </p:txBody>
        </p:sp>
        <p:grpSp>
          <p:nvGrpSpPr>
            <p:cNvPr id="33799" name="组合 7"/>
            <p:cNvGrpSpPr>
              <a:grpSpLocks/>
            </p:cNvGrpSpPr>
            <p:nvPr/>
          </p:nvGrpSpPr>
          <p:grpSpPr bwMode="auto">
            <a:xfrm>
              <a:off x="2260881" y="3271837"/>
              <a:ext cx="8176210" cy="3042059"/>
              <a:chOff x="3656806" y="3271836"/>
              <a:chExt cx="8176210" cy="3042059"/>
            </a:xfrm>
          </p:grpSpPr>
          <p:pic>
            <p:nvPicPr>
              <p:cNvPr id="33800" name="图片 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56806" y="3271836"/>
                <a:ext cx="3759993" cy="3036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801" name="图片 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037"/>
              <a:stretch>
                <a:fillRect/>
              </a:stretch>
            </p:blipFill>
            <p:spPr bwMode="auto">
              <a:xfrm>
                <a:off x="7416800" y="3271836"/>
                <a:ext cx="4416216" cy="3042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6660236" y="634039"/>
            <a:ext cx="5294758" cy="2597711"/>
            <a:chOff x="6660236" y="634039"/>
            <a:chExt cx="5294758" cy="2597711"/>
          </a:xfrm>
        </p:grpSpPr>
        <p:grpSp>
          <p:nvGrpSpPr>
            <p:cNvPr id="50" name="组合 49"/>
            <p:cNvGrpSpPr/>
            <p:nvPr/>
          </p:nvGrpSpPr>
          <p:grpSpPr>
            <a:xfrm>
              <a:off x="6660236" y="749257"/>
              <a:ext cx="5294758" cy="2482493"/>
              <a:chOff x="1323940" y="1787120"/>
              <a:chExt cx="5294758" cy="2482493"/>
            </a:xfrm>
          </p:grpSpPr>
          <p:sp>
            <p:nvSpPr>
              <p:cNvPr id="53" name="圆角矩形 52"/>
              <p:cNvSpPr/>
              <p:nvPr/>
            </p:nvSpPr>
            <p:spPr>
              <a:xfrm>
                <a:off x="1654140" y="2179951"/>
                <a:ext cx="4643918" cy="4225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CCECFF"/>
                  </a:gs>
                  <a:gs pos="100000">
                    <a:srgbClr val="99CCFF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cxnSp>
            <p:nvCxnSpPr>
              <p:cNvPr id="54" name="直接连接符 53"/>
              <p:cNvCxnSpPr/>
              <p:nvPr/>
            </p:nvCxnSpPr>
            <p:spPr>
              <a:xfrm>
                <a:off x="1323940" y="2393950"/>
                <a:ext cx="66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1984340" y="2266503"/>
                <a:ext cx="0" cy="2548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5958298" y="2393950"/>
                <a:ext cx="66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5958298" y="2266503"/>
                <a:ext cx="0" cy="2548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1330556" y="3114240"/>
                <a:ext cx="5288142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1323940" y="2408766"/>
                <a:ext cx="0" cy="96970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6618698" y="2393950"/>
                <a:ext cx="0" cy="13409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1330556" y="3378467"/>
                <a:ext cx="193340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3263957" y="3378467"/>
                <a:ext cx="0" cy="356403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1330556" y="3775823"/>
                <a:ext cx="1230054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>
                <a:endCxn id="66" idx="1"/>
              </p:cNvCxnSpPr>
              <p:nvPr/>
            </p:nvCxnSpPr>
            <p:spPr>
              <a:xfrm>
                <a:off x="1369313" y="3775823"/>
                <a:ext cx="1191297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3976099" y="3775823"/>
                <a:ext cx="557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矩形 65"/>
              <p:cNvSpPr/>
              <p:nvPr/>
            </p:nvSpPr>
            <p:spPr>
              <a:xfrm>
                <a:off x="2560610" y="3727111"/>
                <a:ext cx="1406694" cy="9742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cxnSp>
            <p:nvCxnSpPr>
              <p:cNvPr id="67" name="直接连接符 66"/>
              <p:cNvCxnSpPr/>
              <p:nvPr/>
            </p:nvCxnSpPr>
            <p:spPr>
              <a:xfrm>
                <a:off x="4915122" y="3580176"/>
                <a:ext cx="0" cy="39129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4542514" y="3487387"/>
                <a:ext cx="0" cy="576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4666717" y="3580176"/>
                <a:ext cx="0" cy="39129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4790920" y="3487387"/>
                <a:ext cx="0" cy="576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4915122" y="3775823"/>
                <a:ext cx="7284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6153204" y="3767519"/>
                <a:ext cx="46549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3" name="组合 72"/>
              <p:cNvGrpSpPr/>
              <p:nvPr/>
            </p:nvGrpSpPr>
            <p:grpSpPr>
              <a:xfrm>
                <a:off x="5643571" y="3521007"/>
                <a:ext cx="509633" cy="509633"/>
                <a:chOff x="4915122" y="4757752"/>
                <a:chExt cx="509633" cy="509633"/>
              </a:xfrm>
            </p:grpSpPr>
            <p:sp>
              <p:nvSpPr>
                <p:cNvPr id="91" name="椭圆 90"/>
                <p:cNvSpPr/>
                <p:nvPr/>
              </p:nvSpPr>
              <p:spPr>
                <a:xfrm>
                  <a:off x="4915122" y="4757752"/>
                  <a:ext cx="509633" cy="50963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5000661" y="4781736"/>
                  <a:ext cx="40748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latin typeface="Times New Roman" panose="02020603050405020304" pitchFamily="18" charset="0"/>
                      <a:ea typeface="方正新书宋简体" panose="03000509000000000000" pitchFamily="65" charset="-122"/>
                    </a:rPr>
                    <a:t>A</a:t>
                  </a:r>
                  <a:endParaRPr lang="zh-CN" altLang="en-US" sz="2400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3712487" y="2859748"/>
                <a:ext cx="509633" cy="509633"/>
                <a:chOff x="4915122" y="4757752"/>
                <a:chExt cx="509633" cy="509633"/>
              </a:xfrm>
            </p:grpSpPr>
            <p:sp>
              <p:nvSpPr>
                <p:cNvPr id="89" name="椭圆 88"/>
                <p:cNvSpPr/>
                <p:nvPr/>
              </p:nvSpPr>
              <p:spPr>
                <a:xfrm>
                  <a:off x="4915122" y="4757752"/>
                  <a:ext cx="509633" cy="50963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5000661" y="4781736"/>
                  <a:ext cx="40748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latin typeface="Times New Roman" panose="02020603050405020304" pitchFamily="18" charset="0"/>
                      <a:ea typeface="方正新书宋简体" panose="03000509000000000000" pitchFamily="65" charset="-122"/>
                    </a:rPr>
                    <a:t>V</a:t>
                  </a:r>
                  <a:endParaRPr lang="zh-CN" altLang="en-US" sz="2400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p:grpSp>
          <p:cxnSp>
            <p:nvCxnSpPr>
              <p:cNvPr id="75" name="直接连接符 74"/>
              <p:cNvCxnSpPr/>
              <p:nvPr/>
            </p:nvCxnSpPr>
            <p:spPr>
              <a:xfrm>
                <a:off x="1330556" y="3775823"/>
                <a:ext cx="0" cy="493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5229456" y="3784763"/>
                <a:ext cx="0" cy="4848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1330556" y="4269613"/>
                <a:ext cx="38989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/>
              <p:cNvSpPr txBox="1"/>
              <p:nvPr/>
            </p:nvSpPr>
            <p:spPr>
              <a:xfrm>
                <a:off x="4609932" y="1810618"/>
                <a:ext cx="133882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真空石英管</a:t>
                </a:r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5753584" y="2617202"/>
                <a:ext cx="4074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C</a:t>
                </a:r>
                <a:endParaRPr lang="zh-CN" altLang="en-US" sz="2400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1811055" y="2607532"/>
                <a:ext cx="42351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K</a:t>
                </a:r>
                <a:endParaRPr lang="zh-CN" altLang="en-US" sz="2400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1" name="平行四边形 80"/>
              <p:cNvSpPr/>
              <p:nvPr/>
            </p:nvSpPr>
            <p:spPr>
              <a:xfrm rot="19962543">
                <a:off x="1869091" y="1787120"/>
                <a:ext cx="2297258" cy="185107"/>
              </a:xfrm>
              <a:prstGeom prst="parallelogram">
                <a:avLst>
                  <a:gd name="adj" fmla="val 50000"/>
                </a:avLst>
              </a:prstGeom>
              <a:solidFill>
                <a:srgbClr val="FF0000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2529772" y="2301048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2913825" y="2443462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3353278" y="2369745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4297998" y="2372523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5805370" y="2301048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5120408" y="2248088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4990008" y="2433010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</p:grpSp>
        <p:sp>
          <p:nvSpPr>
            <p:cNvPr id="51" name="平行四边形 50"/>
            <p:cNvSpPr/>
            <p:nvPr/>
          </p:nvSpPr>
          <p:spPr>
            <a:xfrm rot="19962543">
              <a:off x="7349583" y="711961"/>
              <a:ext cx="2144802" cy="190665"/>
            </a:xfrm>
            <a:prstGeom prst="parallelogram">
              <a:avLst>
                <a:gd name="adj" fmla="val 50000"/>
              </a:avLst>
            </a:prstGeom>
            <a:solidFill>
              <a:srgbClr val="FFFF00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52" name="平行四边形 51"/>
            <p:cNvSpPr/>
            <p:nvPr/>
          </p:nvSpPr>
          <p:spPr>
            <a:xfrm rot="19962543">
              <a:off x="7504896" y="634039"/>
              <a:ext cx="2119339" cy="203279"/>
            </a:xfrm>
            <a:prstGeom prst="parallelogram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660236" y="516727"/>
            <a:ext cx="5294758" cy="2729930"/>
            <a:chOff x="6660236" y="501820"/>
            <a:chExt cx="5294758" cy="2729930"/>
          </a:xfrm>
        </p:grpSpPr>
        <p:grpSp>
          <p:nvGrpSpPr>
            <p:cNvPr id="6" name="组合 5"/>
            <p:cNvGrpSpPr/>
            <p:nvPr/>
          </p:nvGrpSpPr>
          <p:grpSpPr>
            <a:xfrm>
              <a:off x="6660236" y="749257"/>
              <a:ext cx="5294758" cy="2482493"/>
              <a:chOff x="1323940" y="1787120"/>
              <a:chExt cx="5294758" cy="2482493"/>
            </a:xfrm>
          </p:grpSpPr>
          <p:sp>
            <p:nvSpPr>
              <p:cNvPr id="9" name="圆角矩形 8"/>
              <p:cNvSpPr/>
              <p:nvPr/>
            </p:nvSpPr>
            <p:spPr>
              <a:xfrm>
                <a:off x="1654140" y="2179951"/>
                <a:ext cx="4643918" cy="4225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CCECFF"/>
                  </a:gs>
                  <a:gs pos="100000">
                    <a:srgbClr val="99CCFF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1323940" y="2393950"/>
                <a:ext cx="66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984340" y="2266503"/>
                <a:ext cx="0" cy="2548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5958298" y="2393950"/>
                <a:ext cx="660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5958298" y="2266503"/>
                <a:ext cx="0" cy="2548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330556" y="3114240"/>
                <a:ext cx="5288142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1323940" y="2408766"/>
                <a:ext cx="0" cy="96970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6618698" y="2393950"/>
                <a:ext cx="0" cy="13409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1330556" y="3378467"/>
                <a:ext cx="193340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3263957" y="3378467"/>
                <a:ext cx="0" cy="356403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1330556" y="3775823"/>
                <a:ext cx="1230054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>
                <a:endCxn id="22" idx="1"/>
              </p:cNvCxnSpPr>
              <p:nvPr/>
            </p:nvCxnSpPr>
            <p:spPr>
              <a:xfrm>
                <a:off x="1369313" y="3775823"/>
                <a:ext cx="1191297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3976099" y="3775823"/>
                <a:ext cx="557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矩形 21"/>
              <p:cNvSpPr/>
              <p:nvPr/>
            </p:nvSpPr>
            <p:spPr>
              <a:xfrm>
                <a:off x="2560610" y="3727111"/>
                <a:ext cx="1406694" cy="9742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>
                <a:off x="4915122" y="3580176"/>
                <a:ext cx="0" cy="39129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4542514" y="3487387"/>
                <a:ext cx="0" cy="576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4666717" y="3580176"/>
                <a:ext cx="0" cy="39129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4790920" y="3487387"/>
                <a:ext cx="0" cy="576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4915122" y="3775823"/>
                <a:ext cx="7284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6153204" y="3767519"/>
                <a:ext cx="46549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组合 28"/>
              <p:cNvGrpSpPr/>
              <p:nvPr/>
            </p:nvGrpSpPr>
            <p:grpSpPr>
              <a:xfrm>
                <a:off x="5643571" y="3521007"/>
                <a:ext cx="509633" cy="509633"/>
                <a:chOff x="4915122" y="4757752"/>
                <a:chExt cx="509633" cy="509633"/>
              </a:xfrm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4915122" y="4757752"/>
                  <a:ext cx="509633" cy="50963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  <p:sp>
              <p:nvSpPr>
                <p:cNvPr id="48" name="文本框 47"/>
                <p:cNvSpPr txBox="1"/>
                <p:nvPr/>
              </p:nvSpPr>
              <p:spPr>
                <a:xfrm>
                  <a:off x="5000661" y="4781736"/>
                  <a:ext cx="40748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latin typeface="Times New Roman" panose="02020603050405020304" pitchFamily="18" charset="0"/>
                      <a:ea typeface="方正新书宋简体" panose="03000509000000000000" pitchFamily="65" charset="-122"/>
                    </a:rPr>
                    <a:t>A</a:t>
                  </a:r>
                  <a:endParaRPr lang="zh-CN" altLang="en-US" sz="2400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3712487" y="2859748"/>
                <a:ext cx="509633" cy="509633"/>
                <a:chOff x="4915122" y="4757752"/>
                <a:chExt cx="509633" cy="509633"/>
              </a:xfrm>
            </p:grpSpPr>
            <p:sp>
              <p:nvSpPr>
                <p:cNvPr id="45" name="椭圆 44"/>
                <p:cNvSpPr/>
                <p:nvPr/>
              </p:nvSpPr>
              <p:spPr>
                <a:xfrm>
                  <a:off x="4915122" y="4757752"/>
                  <a:ext cx="509633" cy="50963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5000661" y="4781736"/>
                  <a:ext cx="407484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latin typeface="Times New Roman" panose="02020603050405020304" pitchFamily="18" charset="0"/>
                      <a:ea typeface="方正新书宋简体" panose="03000509000000000000" pitchFamily="65" charset="-122"/>
                    </a:rPr>
                    <a:t>V</a:t>
                  </a:r>
                  <a:endParaRPr lang="zh-CN" altLang="en-US" sz="2400" b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>
                <a:off x="1330556" y="3775823"/>
                <a:ext cx="0" cy="493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5229456" y="3784763"/>
                <a:ext cx="0" cy="4848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1330556" y="4269613"/>
                <a:ext cx="38989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/>
              <p:cNvSpPr txBox="1"/>
              <p:nvPr/>
            </p:nvSpPr>
            <p:spPr>
              <a:xfrm>
                <a:off x="4609932" y="1810618"/>
                <a:ext cx="133882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真空石英管</a:t>
                </a:r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753584" y="2617202"/>
                <a:ext cx="4074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C</a:t>
                </a:r>
                <a:endParaRPr lang="zh-CN" altLang="en-US" sz="2400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811055" y="2607532"/>
                <a:ext cx="42351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K</a:t>
                </a:r>
                <a:endParaRPr lang="zh-CN" altLang="en-US" sz="2400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37" name="平行四边形 36"/>
              <p:cNvSpPr/>
              <p:nvPr/>
            </p:nvSpPr>
            <p:spPr>
              <a:xfrm rot="19962543">
                <a:off x="1869091" y="1787120"/>
                <a:ext cx="2297258" cy="185107"/>
              </a:xfrm>
              <a:prstGeom prst="parallelogram">
                <a:avLst>
                  <a:gd name="adj" fmla="val 50000"/>
                </a:avLst>
              </a:prstGeom>
              <a:solidFill>
                <a:srgbClr val="FF0000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2529772" y="2301048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2913825" y="2443462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3353278" y="2369745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4297998" y="2372523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5805370" y="2301048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5120408" y="2248088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4990008" y="2433010"/>
                <a:ext cx="90163" cy="9016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</p:grpSp>
        <p:sp>
          <p:nvSpPr>
            <p:cNvPr id="7" name="平行四边形 6"/>
            <p:cNvSpPr/>
            <p:nvPr/>
          </p:nvSpPr>
          <p:spPr>
            <a:xfrm rot="19962543">
              <a:off x="7342161" y="643334"/>
              <a:ext cx="2144802" cy="299151"/>
            </a:xfrm>
            <a:prstGeom prst="parallelogram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 rot="19962543">
              <a:off x="7495242" y="501820"/>
              <a:ext cx="2119339" cy="430293"/>
            </a:xfrm>
            <a:prstGeom prst="parallelogram">
              <a:avLst>
                <a:gd name="adj" fmla="val 50000"/>
              </a:avLst>
            </a:prstGeom>
            <a:solidFill>
              <a:srgbClr val="FFFF00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660235" y="789250"/>
            <a:ext cx="5294758" cy="2458995"/>
            <a:chOff x="1323940" y="1810618"/>
            <a:chExt cx="5294758" cy="2458995"/>
          </a:xfrm>
        </p:grpSpPr>
        <p:sp>
          <p:nvSpPr>
            <p:cNvPr id="104" name="圆角矩形 103"/>
            <p:cNvSpPr/>
            <p:nvPr/>
          </p:nvSpPr>
          <p:spPr>
            <a:xfrm>
              <a:off x="1654140" y="2179951"/>
              <a:ext cx="4643918" cy="42252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CCECFF"/>
                </a:gs>
                <a:gs pos="100000">
                  <a:srgbClr val="99CCFF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cxnSp>
          <p:nvCxnSpPr>
            <p:cNvPr id="105" name="直接连接符 104"/>
            <p:cNvCxnSpPr/>
            <p:nvPr/>
          </p:nvCxnSpPr>
          <p:spPr>
            <a:xfrm>
              <a:off x="1323940" y="2393950"/>
              <a:ext cx="66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1984340" y="2266503"/>
              <a:ext cx="0" cy="25489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5958298" y="2393950"/>
              <a:ext cx="66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5958298" y="2266503"/>
              <a:ext cx="0" cy="25489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1330556" y="3114240"/>
              <a:ext cx="528814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1323940" y="2408766"/>
              <a:ext cx="0" cy="9697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6618698" y="2393950"/>
              <a:ext cx="0" cy="13735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1330556" y="3378467"/>
              <a:ext cx="193340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3263957" y="3378467"/>
              <a:ext cx="0" cy="35640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1330556" y="3775823"/>
              <a:ext cx="123005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>
              <a:endCxn id="117" idx="1"/>
            </p:cNvCxnSpPr>
            <p:nvPr/>
          </p:nvCxnSpPr>
          <p:spPr>
            <a:xfrm flipV="1">
              <a:off x="1330556" y="3775824"/>
              <a:ext cx="1230054" cy="75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3976099" y="3775823"/>
              <a:ext cx="557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矩形 116"/>
            <p:cNvSpPr/>
            <p:nvPr/>
          </p:nvSpPr>
          <p:spPr>
            <a:xfrm>
              <a:off x="2560610" y="3727111"/>
              <a:ext cx="1406694" cy="9742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cxnSp>
          <p:nvCxnSpPr>
            <p:cNvPr id="118" name="直接连接符 117"/>
            <p:cNvCxnSpPr/>
            <p:nvPr/>
          </p:nvCxnSpPr>
          <p:spPr>
            <a:xfrm>
              <a:off x="4915122" y="3571871"/>
              <a:ext cx="0" cy="3912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4542514" y="3487387"/>
              <a:ext cx="0" cy="5768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4666717" y="3580176"/>
              <a:ext cx="0" cy="3912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4790920" y="3487387"/>
              <a:ext cx="0" cy="5768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4915122" y="3775823"/>
              <a:ext cx="7284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6153204" y="3767519"/>
              <a:ext cx="4654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组合 123"/>
            <p:cNvGrpSpPr/>
            <p:nvPr/>
          </p:nvGrpSpPr>
          <p:grpSpPr>
            <a:xfrm>
              <a:off x="5643571" y="3521007"/>
              <a:ext cx="509633" cy="509633"/>
              <a:chOff x="4915122" y="4757752"/>
              <a:chExt cx="509633" cy="509633"/>
            </a:xfrm>
          </p:grpSpPr>
          <p:sp>
            <p:nvSpPr>
              <p:cNvPr id="142" name="椭圆 141"/>
              <p:cNvSpPr/>
              <p:nvPr/>
            </p:nvSpPr>
            <p:spPr>
              <a:xfrm>
                <a:off x="4915122" y="4757752"/>
                <a:ext cx="509633" cy="50963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5000661" y="4781736"/>
                <a:ext cx="4074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A</a:t>
                </a:r>
                <a:endParaRPr lang="zh-CN" altLang="en-US" sz="2400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</p:grpSp>
        <p:grpSp>
          <p:nvGrpSpPr>
            <p:cNvPr id="125" name="组合 124"/>
            <p:cNvGrpSpPr/>
            <p:nvPr/>
          </p:nvGrpSpPr>
          <p:grpSpPr>
            <a:xfrm>
              <a:off x="3712487" y="2859748"/>
              <a:ext cx="509633" cy="509633"/>
              <a:chOff x="4915122" y="4757752"/>
              <a:chExt cx="509633" cy="509633"/>
            </a:xfrm>
          </p:grpSpPr>
          <p:sp>
            <p:nvSpPr>
              <p:cNvPr id="140" name="椭圆 139"/>
              <p:cNvSpPr/>
              <p:nvPr/>
            </p:nvSpPr>
            <p:spPr>
              <a:xfrm>
                <a:off x="4915122" y="4757752"/>
                <a:ext cx="509633" cy="50963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>
                <a:off x="5000661" y="4781736"/>
                <a:ext cx="4074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V</a:t>
                </a:r>
                <a:endParaRPr lang="zh-CN" altLang="en-US" sz="2400" b="1" dirty="0"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</p:grpSp>
        <p:cxnSp>
          <p:nvCxnSpPr>
            <p:cNvPr id="126" name="直接连接符 125"/>
            <p:cNvCxnSpPr/>
            <p:nvPr/>
          </p:nvCxnSpPr>
          <p:spPr>
            <a:xfrm>
              <a:off x="1330556" y="3775823"/>
              <a:ext cx="0" cy="493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5229456" y="3784763"/>
              <a:ext cx="0" cy="484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1330556" y="4269613"/>
              <a:ext cx="38989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4609932" y="1810618"/>
              <a:ext cx="13388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真空石英管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5753584" y="2617202"/>
              <a:ext cx="4074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C</a:t>
              </a:r>
              <a:endParaRPr lang="zh-CN" altLang="en-US" sz="2400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1811055" y="2607532"/>
              <a:ext cx="4235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K</a:t>
              </a:r>
              <a:endParaRPr lang="zh-CN" altLang="en-US" sz="2400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2" name="平行四边形 131"/>
            <p:cNvSpPr/>
            <p:nvPr/>
          </p:nvSpPr>
          <p:spPr>
            <a:xfrm rot="19962543">
              <a:off x="1880116" y="1833108"/>
              <a:ext cx="2096797" cy="184535"/>
            </a:xfrm>
            <a:prstGeom prst="parallelogram">
              <a:avLst>
                <a:gd name="adj" fmla="val 50000"/>
              </a:avLst>
            </a:prstGeom>
            <a:solidFill>
              <a:srgbClr val="FFFF00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3" name="椭圆 132"/>
            <p:cNvSpPr/>
            <p:nvPr/>
          </p:nvSpPr>
          <p:spPr>
            <a:xfrm>
              <a:off x="2529772" y="2301048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2913825" y="2443462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3353278" y="2369745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6" name="椭圆 135"/>
            <p:cNvSpPr/>
            <p:nvPr/>
          </p:nvSpPr>
          <p:spPr>
            <a:xfrm>
              <a:off x="4297998" y="2372523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5805370" y="2301048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5120408" y="2248088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4990008" y="2433010"/>
              <a:ext cx="90163" cy="9016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</p:grpSp>
      <p:sp>
        <p:nvSpPr>
          <p:cNvPr id="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94" name="内容占位符 2"/>
          <p:cNvSpPr txBox="1">
            <a:spLocks/>
          </p:cNvSpPr>
          <p:nvPr/>
        </p:nvSpPr>
        <p:spPr bwMode="auto">
          <a:xfrm>
            <a:off x="1298575" y="1284288"/>
            <a:ext cx="361318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4.1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光电效应的实验规律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95" name="矩形 94"/>
          <p:cNvSpPr>
            <a:spLocks noChangeArrowheads="1"/>
          </p:cNvSpPr>
          <p:nvPr/>
        </p:nvSpPr>
        <p:spPr bwMode="auto">
          <a:xfrm>
            <a:off x="494124" y="1758950"/>
            <a:ext cx="6423025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入射光频率和光强固定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194550" y="3752276"/>
            <a:ext cx="4591477" cy="2997502"/>
            <a:chOff x="7194550" y="3752276"/>
            <a:chExt cx="4591477" cy="2997502"/>
          </a:xfrm>
        </p:grpSpPr>
        <p:cxnSp>
          <p:nvCxnSpPr>
            <p:cNvPr id="97" name="直接箭头连接符 96"/>
            <p:cNvCxnSpPr/>
            <p:nvPr/>
          </p:nvCxnSpPr>
          <p:spPr>
            <a:xfrm>
              <a:off x="7194550" y="6272275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/>
            <p:nvPr/>
          </p:nvCxnSpPr>
          <p:spPr>
            <a:xfrm flipV="1">
              <a:off x="8242300" y="3752276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任意多边形 98"/>
            <p:cNvSpPr/>
            <p:nvPr/>
          </p:nvSpPr>
          <p:spPr>
            <a:xfrm>
              <a:off x="7740890" y="4104980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1309677" y="6380446"/>
              <a:ext cx="4763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V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/>
                <p:cNvSpPr txBox="1"/>
                <p:nvPr/>
              </p:nvSpPr>
              <p:spPr>
                <a:xfrm>
                  <a:off x="7740347" y="3881685"/>
                  <a:ext cx="46658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zh-CN" altLang="en-US" sz="2400" b="1" i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01" name="文本框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0347" y="3881685"/>
                  <a:ext cx="466585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/>
                <p:cNvSpPr txBox="1"/>
                <p:nvPr/>
              </p:nvSpPr>
              <p:spPr>
                <a:xfrm>
                  <a:off x="7346982" y="6330553"/>
                  <a:ext cx="728496" cy="404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02" name="文本框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6982" y="6330553"/>
                  <a:ext cx="728496" cy="404213"/>
                </a:xfrm>
                <a:prstGeom prst="rect">
                  <a:avLst/>
                </a:prstGeom>
                <a:blipFill>
                  <a:blip r:embed="rId4"/>
                  <a:stretch>
                    <a:fillRect b="-194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4" name="矩形 143"/>
          <p:cNvSpPr>
            <a:spLocks noChangeArrowheads="1"/>
          </p:cNvSpPr>
          <p:nvPr/>
        </p:nvSpPr>
        <p:spPr bwMode="auto">
          <a:xfrm>
            <a:off x="411556" y="3228137"/>
            <a:ext cx="4155899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入射光频率固定，改变光强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45" name="矩形 144"/>
          <p:cNvSpPr>
            <a:spLocks noChangeArrowheads="1"/>
          </p:cNvSpPr>
          <p:nvPr/>
        </p:nvSpPr>
        <p:spPr bwMode="auto">
          <a:xfrm>
            <a:off x="760875" y="2218351"/>
            <a:ext cx="5685680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电压达到一定数值之后，光电流达到饱和值</a:t>
            </a:r>
            <a:endParaRPr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760875" y="2745558"/>
            <a:ext cx="2191626" cy="501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存在截止电压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g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47" name="矩形 146"/>
          <p:cNvSpPr>
            <a:spLocks noChangeArrowheads="1"/>
          </p:cNvSpPr>
          <p:nvPr/>
        </p:nvSpPr>
        <p:spPr bwMode="auto">
          <a:xfrm>
            <a:off x="760875" y="3755344"/>
            <a:ext cx="5297605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光强越强，饱和光电流越大</a:t>
            </a:r>
            <a:endParaRPr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48" name="矩形 147"/>
          <p:cNvSpPr>
            <a:spLocks noChangeArrowheads="1"/>
          </p:cNvSpPr>
          <p:nvPr/>
        </p:nvSpPr>
        <p:spPr bwMode="auto">
          <a:xfrm>
            <a:off x="411556" y="4240168"/>
            <a:ext cx="4155899" cy="497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光强固定，改变频率</a:t>
            </a:r>
            <a:r>
              <a:rPr lang="el-GR" altLang="zh-CN" b="1" i="1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＞</a:t>
            </a:r>
            <a:r>
              <a:rPr lang="el-GR" altLang="zh-CN" b="1" i="1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＞</a:t>
            </a:r>
            <a:r>
              <a:rPr lang="el-GR" altLang="zh-CN" b="1" i="1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b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9" name="矩形 148"/>
          <p:cNvSpPr>
            <a:spLocks noChangeArrowheads="1"/>
          </p:cNvSpPr>
          <p:nvPr/>
        </p:nvSpPr>
        <p:spPr bwMode="auto">
          <a:xfrm>
            <a:off x="760875" y="4767375"/>
            <a:ext cx="5297605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入射光频率越高，截止电压越高</a:t>
            </a:r>
            <a:endParaRPr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50" name="矩形 149"/>
          <p:cNvSpPr>
            <a:spLocks noChangeArrowheads="1"/>
          </p:cNvSpPr>
          <p:nvPr/>
        </p:nvSpPr>
        <p:spPr bwMode="auto">
          <a:xfrm>
            <a:off x="411556" y="5252199"/>
            <a:ext cx="4155899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截止电压对频率的依赖关系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51" name="矩形 150"/>
          <p:cNvSpPr>
            <a:spLocks noChangeArrowheads="1"/>
          </p:cNvSpPr>
          <p:nvPr/>
        </p:nvSpPr>
        <p:spPr bwMode="auto">
          <a:xfrm>
            <a:off x="760875" y="5737022"/>
            <a:ext cx="6064153" cy="96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截止电压与入射光频率呈线性关系，且存在遏止频率，不同材料的遏制频率不同，但斜率一定</a:t>
            </a:r>
            <a:endParaRPr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7205129" y="3725143"/>
            <a:ext cx="4641462" cy="2965992"/>
            <a:chOff x="7007956" y="156084"/>
            <a:chExt cx="4641462" cy="2965992"/>
          </a:xfrm>
        </p:grpSpPr>
        <p:sp>
          <p:nvSpPr>
            <p:cNvPr id="153" name="任意多边形 152"/>
            <p:cNvSpPr/>
            <p:nvPr/>
          </p:nvSpPr>
          <p:spPr>
            <a:xfrm>
              <a:off x="7401896" y="955305"/>
              <a:ext cx="2820838" cy="1712512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ea typeface="方正新书宋简体" panose="03000509000000000000" pitchFamily="65" charset="-122"/>
              </a:endParaRPr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7401896" y="1451493"/>
              <a:ext cx="2820838" cy="1216324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ea typeface="方正新书宋简体" panose="03000509000000000000" pitchFamily="65" charset="-122"/>
              </a:endParaRPr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7401896" y="500521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ea typeface="方正新书宋简体" panose="03000509000000000000" pitchFamily="65" charset="-122"/>
              </a:endParaRPr>
            </a:p>
          </p:txBody>
        </p:sp>
        <p:cxnSp>
          <p:nvCxnSpPr>
            <p:cNvPr id="156" name="直接箭头连接符 155"/>
            <p:cNvCxnSpPr/>
            <p:nvPr/>
          </p:nvCxnSpPr>
          <p:spPr>
            <a:xfrm>
              <a:off x="7007956" y="2676083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箭头连接符 156"/>
            <p:cNvCxnSpPr/>
            <p:nvPr/>
          </p:nvCxnSpPr>
          <p:spPr>
            <a:xfrm flipV="1">
              <a:off x="8055706" y="156084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/>
                <p:cNvSpPr txBox="1"/>
                <p:nvPr/>
              </p:nvSpPr>
              <p:spPr>
                <a:xfrm>
                  <a:off x="10269355" y="1250278"/>
                  <a:ext cx="728496" cy="3901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方正新书宋简体" panose="03000509000000000000" pitchFamily="65" charset="-122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58" name="文本框 1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355" y="1250278"/>
                  <a:ext cx="728496" cy="390171"/>
                </a:xfrm>
                <a:prstGeom prst="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/>
                <p:cNvSpPr txBox="1"/>
                <p:nvPr/>
              </p:nvSpPr>
              <p:spPr>
                <a:xfrm>
                  <a:off x="10269355" y="291274"/>
                  <a:ext cx="7284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FF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59" name="文本框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355" y="291274"/>
                  <a:ext cx="72849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/>
                <p:cNvSpPr txBox="1"/>
                <p:nvPr/>
              </p:nvSpPr>
              <p:spPr>
                <a:xfrm>
                  <a:off x="10269355" y="787462"/>
                  <a:ext cx="7284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00B0F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60" name="文本框 1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355" y="787462"/>
                  <a:ext cx="72849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文本框 160"/>
            <p:cNvSpPr txBox="1"/>
            <p:nvPr/>
          </p:nvSpPr>
          <p:spPr>
            <a:xfrm>
              <a:off x="11173068" y="2747129"/>
              <a:ext cx="4763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V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/>
                <p:cNvSpPr txBox="1"/>
                <p:nvPr/>
              </p:nvSpPr>
              <p:spPr>
                <a:xfrm>
                  <a:off x="7603738" y="248368"/>
                  <a:ext cx="46658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zh-CN" altLang="en-US" sz="2400" b="1" i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62" name="文本框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3738" y="248368"/>
                  <a:ext cx="46658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/>
                <p:cNvSpPr txBox="1"/>
                <p:nvPr/>
              </p:nvSpPr>
              <p:spPr>
                <a:xfrm>
                  <a:off x="7109522" y="2717863"/>
                  <a:ext cx="728496" cy="404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63" name="文本框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522" y="2717863"/>
                  <a:ext cx="728496" cy="404213"/>
                </a:xfrm>
                <a:prstGeom prst="rect">
                  <a:avLst/>
                </a:prstGeom>
                <a:blipFill>
                  <a:blip r:embed="rId9"/>
                  <a:stretch>
                    <a:fillRect b="-196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组合 163"/>
          <p:cNvGrpSpPr/>
          <p:nvPr/>
        </p:nvGrpSpPr>
        <p:grpSpPr>
          <a:xfrm>
            <a:off x="6728039" y="3722495"/>
            <a:ext cx="5103935" cy="2935580"/>
            <a:chOff x="728094" y="2939952"/>
            <a:chExt cx="5103935" cy="2935580"/>
          </a:xfrm>
        </p:grpSpPr>
        <p:sp>
          <p:nvSpPr>
            <p:cNvPr id="165" name="任意多边形 164"/>
            <p:cNvSpPr/>
            <p:nvPr/>
          </p:nvSpPr>
          <p:spPr>
            <a:xfrm>
              <a:off x="1319989" y="3292656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ea typeface="方正新书宋简体" panose="03000509000000000000" pitchFamily="65" charset="-122"/>
              </a:endParaRPr>
            </a:p>
          </p:txBody>
        </p:sp>
        <p:cxnSp>
          <p:nvCxnSpPr>
            <p:cNvPr id="166" name="直接箭头连接符 165"/>
            <p:cNvCxnSpPr/>
            <p:nvPr/>
          </p:nvCxnSpPr>
          <p:spPr>
            <a:xfrm>
              <a:off x="1205184" y="5459951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箭头连接符 166"/>
            <p:cNvCxnSpPr/>
            <p:nvPr/>
          </p:nvCxnSpPr>
          <p:spPr>
            <a:xfrm flipV="1">
              <a:off x="2252934" y="2939952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任意多边形 167"/>
            <p:cNvSpPr/>
            <p:nvPr/>
          </p:nvSpPr>
          <p:spPr>
            <a:xfrm>
              <a:off x="1770774" y="3292656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ea typeface="方正新书宋简体" panose="03000509000000000000" pitchFamily="65" charset="-122"/>
              </a:endParaRPr>
            </a:p>
          </p:txBody>
        </p:sp>
        <p:sp>
          <p:nvSpPr>
            <p:cNvPr id="169" name="任意多边形 168"/>
            <p:cNvSpPr/>
            <p:nvPr/>
          </p:nvSpPr>
          <p:spPr>
            <a:xfrm>
              <a:off x="2221558" y="3292656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00B0F0"/>
                </a:solidFill>
                <a:ea typeface="方正新书宋简体" panose="03000509000000000000" pitchFamily="65" charset="-122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5355679" y="5506200"/>
              <a:ext cx="4763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V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/>
                <p:cNvSpPr txBox="1"/>
                <p:nvPr/>
              </p:nvSpPr>
              <p:spPr>
                <a:xfrm>
                  <a:off x="1786349" y="3007439"/>
                  <a:ext cx="46658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zh-CN" altLang="en-US" sz="2400" b="1" i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1" name="文本框 1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6349" y="3007439"/>
                  <a:ext cx="46658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/>
                <p:cNvSpPr txBox="1"/>
                <p:nvPr/>
              </p:nvSpPr>
              <p:spPr>
                <a:xfrm>
                  <a:off x="1251010" y="4715926"/>
                  <a:ext cx="7284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𝛎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2" name="文本框 1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1010" y="4715926"/>
                  <a:ext cx="72849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本框 172"/>
                <p:cNvSpPr txBox="1"/>
                <p:nvPr/>
              </p:nvSpPr>
              <p:spPr>
                <a:xfrm>
                  <a:off x="1770036" y="4715926"/>
                  <a:ext cx="7284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𝛎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FF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3" name="文本框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36" y="4715926"/>
                  <a:ext cx="728496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/>
                <p:cNvSpPr txBox="1"/>
                <p:nvPr/>
              </p:nvSpPr>
              <p:spPr>
                <a:xfrm>
                  <a:off x="2289062" y="4715926"/>
                  <a:ext cx="72849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𝛎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00B0F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4" name="文本框 1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9062" y="4715926"/>
                  <a:ext cx="728496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639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/>
                <p:cNvSpPr txBox="1"/>
                <p:nvPr/>
              </p:nvSpPr>
              <p:spPr>
                <a:xfrm>
                  <a:off x="728094" y="5469522"/>
                  <a:ext cx="728496" cy="4044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𝐠𝟏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5" name="文本框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094" y="5469522"/>
                  <a:ext cx="728496" cy="404406"/>
                </a:xfrm>
                <a:prstGeom prst="rect">
                  <a:avLst/>
                </a:prstGeom>
                <a:blipFill>
                  <a:blip r:embed="rId14"/>
                  <a:stretch>
                    <a:fillRect l="-7563" r="-4202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/>
                <p:cNvSpPr txBox="1"/>
                <p:nvPr/>
              </p:nvSpPr>
              <p:spPr>
                <a:xfrm>
                  <a:off x="1460480" y="5469522"/>
                  <a:ext cx="728496" cy="4042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𝐠𝟐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FF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6" name="文本框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480" y="5469522"/>
                  <a:ext cx="728496" cy="404213"/>
                </a:xfrm>
                <a:prstGeom prst="rect">
                  <a:avLst/>
                </a:prstGeom>
                <a:blipFill>
                  <a:blip r:embed="rId15"/>
                  <a:stretch>
                    <a:fillRect l="-7563" r="-7563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/>
                <p:cNvSpPr txBox="1"/>
                <p:nvPr/>
              </p:nvSpPr>
              <p:spPr>
                <a:xfrm>
                  <a:off x="2192866" y="5469522"/>
                  <a:ext cx="728496" cy="404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𝐠𝟑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00B0F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77" name="文本框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866" y="5469522"/>
                  <a:ext cx="728496" cy="404213"/>
                </a:xfrm>
                <a:prstGeom prst="rect">
                  <a:avLst/>
                </a:prstGeom>
                <a:blipFill>
                  <a:blip r:embed="rId16"/>
                  <a:stretch>
                    <a:fillRect l="-7563" r="-4202" b="-2575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8" name="组合 177"/>
          <p:cNvGrpSpPr/>
          <p:nvPr/>
        </p:nvGrpSpPr>
        <p:grpSpPr>
          <a:xfrm>
            <a:off x="7183396" y="3405039"/>
            <a:ext cx="4538122" cy="3258333"/>
            <a:chOff x="6672099" y="3371902"/>
            <a:chExt cx="4538122" cy="3258333"/>
          </a:xfrm>
        </p:grpSpPr>
        <p:cxnSp>
          <p:nvCxnSpPr>
            <p:cNvPr id="179" name="直接箭头连接符 178"/>
            <p:cNvCxnSpPr/>
            <p:nvPr/>
          </p:nvCxnSpPr>
          <p:spPr>
            <a:xfrm>
              <a:off x="6672099" y="6232209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/>
            <p:nvPr/>
          </p:nvCxnSpPr>
          <p:spPr>
            <a:xfrm flipV="1">
              <a:off x="7719849" y="3712210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 flipV="1">
              <a:off x="8277949" y="3892210"/>
              <a:ext cx="1368000" cy="234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V="1">
              <a:off x="8622852" y="3892210"/>
              <a:ext cx="1368000" cy="2340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 flipV="1">
              <a:off x="9392874" y="3892210"/>
              <a:ext cx="1368000" cy="234000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文本框 183"/>
            <p:cNvSpPr txBox="1"/>
            <p:nvPr/>
          </p:nvSpPr>
          <p:spPr>
            <a:xfrm>
              <a:off x="10712243" y="6260903"/>
              <a:ext cx="4763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ea typeface="Cambria Math" panose="02040503050406030204" pitchFamily="18" charset="0"/>
                </a:rPr>
                <a:t>ν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/>
                <p:cNvSpPr txBox="1"/>
                <p:nvPr/>
              </p:nvSpPr>
              <p:spPr>
                <a:xfrm>
                  <a:off x="9767304" y="3371902"/>
                  <a:ext cx="7284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𝐊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85" name="文本框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304" y="3371902"/>
                  <a:ext cx="728496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/>
                <p:cNvSpPr txBox="1"/>
                <p:nvPr/>
              </p:nvSpPr>
              <p:spPr>
                <a:xfrm>
                  <a:off x="10481725" y="3371902"/>
                  <a:ext cx="7284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𝐂𝐮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86" name="文本框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725" y="3371902"/>
                  <a:ext cx="728496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186"/>
                <p:cNvSpPr txBox="1"/>
                <p:nvPr/>
              </p:nvSpPr>
              <p:spPr>
                <a:xfrm>
                  <a:off x="9329331" y="3371902"/>
                  <a:ext cx="72849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𝐂𝐬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87" name="文本框 1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9331" y="3371902"/>
                  <a:ext cx="728496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1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/>
                <p:cNvSpPr txBox="1"/>
                <p:nvPr/>
              </p:nvSpPr>
              <p:spPr>
                <a:xfrm>
                  <a:off x="7085370" y="3712210"/>
                  <a:ext cx="728496" cy="404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88" name="文本框 1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5370" y="3712210"/>
                  <a:ext cx="728496" cy="404213"/>
                </a:xfrm>
                <a:prstGeom prst="rect">
                  <a:avLst/>
                </a:prstGeom>
                <a:blipFill>
                  <a:blip r:embed="rId20"/>
                  <a:stretch>
                    <a:fillRect b="-196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6930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66563" y="1229697"/>
            <a:ext cx="4303063" cy="38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4.1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光电效应的实验规律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39513" y="1704359"/>
            <a:ext cx="64230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存在最小的辐射频率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ν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（截止频率）。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39513" y="3288684"/>
            <a:ext cx="64230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当频率一定时（在截止频率之上），单位时间内发射出来的电子数目即光电流强度与光辐射强度成正比。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39513" y="4263409"/>
            <a:ext cx="69437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光电子的射出是瞬时的，与光照相比没有时间延迟效应。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1066563" y="4834909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经典理论解释光电效应的困难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39513" y="5244484"/>
            <a:ext cx="107045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光电子初动能与光照强度无关。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39513" y="5682634"/>
            <a:ext cx="107045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光电流和频率无关，更不要提截止频率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539513" y="6130309"/>
            <a:ext cx="10704513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光电子飞出与光照时间无关（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10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-9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</a:t>
            </a: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6845822" y="765718"/>
            <a:ext cx="2520000" cy="2578835"/>
            <a:chOff x="7194550" y="3752276"/>
            <a:chExt cx="4591477" cy="3067484"/>
          </a:xfrm>
        </p:grpSpPr>
        <p:cxnSp>
          <p:nvCxnSpPr>
            <p:cNvPr id="14" name="直接箭头连接符 13"/>
            <p:cNvCxnSpPr/>
            <p:nvPr/>
          </p:nvCxnSpPr>
          <p:spPr>
            <a:xfrm>
              <a:off x="7194550" y="6272275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8242300" y="3752276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任意多边形 15"/>
            <p:cNvSpPr/>
            <p:nvPr/>
          </p:nvSpPr>
          <p:spPr>
            <a:xfrm>
              <a:off x="7740890" y="4104980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309676" y="6380445"/>
              <a:ext cx="476351" cy="4393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V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7740347" y="3881685"/>
                  <a:ext cx="466585" cy="4393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zh-CN" altLang="en-US" sz="2400" b="1" i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0347" y="3881685"/>
                  <a:ext cx="466585" cy="439315"/>
                </a:xfrm>
                <a:prstGeom prst="rect">
                  <a:avLst/>
                </a:prstGeom>
                <a:blipFill>
                  <a:blip r:embed="rId3"/>
                  <a:stretch>
                    <a:fillRect l="-16667" r="-19048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7346983" y="6330553"/>
                  <a:ext cx="728494" cy="4810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6983" y="6330553"/>
                  <a:ext cx="728494" cy="481035"/>
                </a:xfrm>
                <a:prstGeom prst="rect">
                  <a:avLst/>
                </a:prstGeom>
                <a:blipFill>
                  <a:blip r:embed="rId4"/>
                  <a:stretch>
                    <a:fillRect l="-13846" r="-58462" b="-194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/>
          <p:cNvGrpSpPr>
            <a:grpSpLocks noChangeAspect="1"/>
          </p:cNvGrpSpPr>
          <p:nvPr/>
        </p:nvGrpSpPr>
        <p:grpSpPr>
          <a:xfrm>
            <a:off x="9551145" y="736545"/>
            <a:ext cx="2520000" cy="2580975"/>
            <a:chOff x="7007956" y="156084"/>
            <a:chExt cx="4641462" cy="3037757"/>
          </a:xfrm>
        </p:grpSpPr>
        <p:sp>
          <p:nvSpPr>
            <p:cNvPr id="21" name="任意多边形 20"/>
            <p:cNvSpPr/>
            <p:nvPr/>
          </p:nvSpPr>
          <p:spPr>
            <a:xfrm>
              <a:off x="7401896" y="955305"/>
              <a:ext cx="2820838" cy="1712512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7401896" y="1451493"/>
              <a:ext cx="2820838" cy="1216324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7401896" y="500521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7007956" y="2676083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8055706" y="156084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0269355" y="1250278"/>
                  <a:ext cx="728498" cy="4597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355" y="1250278"/>
                  <a:ext cx="728498" cy="459752"/>
                </a:xfrm>
                <a:prstGeom prst="rect">
                  <a:avLst/>
                </a:prstGeom>
                <a:blipFill>
                  <a:blip r:embed="rId5"/>
                  <a:stretch>
                    <a:fillRect l="-26154" r="-27692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10269355" y="291274"/>
                  <a:ext cx="728498" cy="4346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FF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355" y="291274"/>
                  <a:ext cx="728498" cy="434697"/>
                </a:xfrm>
                <a:prstGeom prst="rect">
                  <a:avLst/>
                </a:prstGeom>
                <a:blipFill>
                  <a:blip r:embed="rId6"/>
                  <a:stretch>
                    <a:fillRect l="-26154" r="-18462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10269355" y="787463"/>
                  <a:ext cx="728498" cy="4346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00B0F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355" y="787463"/>
                  <a:ext cx="728498" cy="434697"/>
                </a:xfrm>
                <a:prstGeom prst="rect">
                  <a:avLst/>
                </a:prstGeom>
                <a:blipFill>
                  <a:blip r:embed="rId7"/>
                  <a:stretch>
                    <a:fillRect l="-26154" r="-18462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11173070" y="2747129"/>
              <a:ext cx="476348" cy="4346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V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7603737" y="248368"/>
                  <a:ext cx="466585" cy="4346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zh-CN" altLang="en-US" sz="2400" b="1" i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3737" y="248368"/>
                  <a:ext cx="466585" cy="434697"/>
                </a:xfrm>
                <a:prstGeom prst="rect">
                  <a:avLst/>
                </a:prstGeom>
                <a:blipFill>
                  <a:blip r:embed="rId8"/>
                  <a:stretch>
                    <a:fillRect l="-19512" r="-19512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7109521" y="2717863"/>
                  <a:ext cx="728498" cy="4759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521" y="2717863"/>
                  <a:ext cx="728498" cy="475978"/>
                </a:xfrm>
                <a:prstGeom prst="rect">
                  <a:avLst/>
                </a:prstGeom>
                <a:blipFill>
                  <a:blip r:embed="rId9"/>
                  <a:stretch>
                    <a:fillRect l="-13846" r="-58462" b="-196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6845822" y="3862460"/>
            <a:ext cx="2520000" cy="2575873"/>
            <a:chOff x="728094" y="2939952"/>
            <a:chExt cx="5103935" cy="3000668"/>
          </a:xfrm>
        </p:grpSpPr>
        <p:sp>
          <p:nvSpPr>
            <p:cNvPr id="33" name="任意多边形 32"/>
            <p:cNvSpPr/>
            <p:nvPr/>
          </p:nvSpPr>
          <p:spPr>
            <a:xfrm>
              <a:off x="1319989" y="3292656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1205184" y="5459951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V="1">
              <a:off x="2252934" y="2939952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任意多边形 35"/>
            <p:cNvSpPr/>
            <p:nvPr/>
          </p:nvSpPr>
          <p:spPr>
            <a:xfrm>
              <a:off x="1770774" y="3292656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2221558" y="3292656"/>
              <a:ext cx="2820838" cy="2167296"/>
            </a:xfrm>
            <a:custGeom>
              <a:avLst/>
              <a:gdLst>
                <a:gd name="connsiteX0" fmla="*/ 0 w 2820838"/>
                <a:gd name="connsiteY0" fmla="*/ 1712512 h 1712512"/>
                <a:gd name="connsiteX1" fmla="*/ 500332 w 2820838"/>
                <a:gd name="connsiteY1" fmla="*/ 1367456 h 1712512"/>
                <a:gd name="connsiteX2" fmla="*/ 888521 w 2820838"/>
                <a:gd name="connsiteY2" fmla="*/ 289154 h 1712512"/>
                <a:gd name="connsiteX3" fmla="*/ 1457864 w 2820838"/>
                <a:gd name="connsiteY3" fmla="*/ 38988 h 1712512"/>
                <a:gd name="connsiteX4" fmla="*/ 2820838 w 2820838"/>
                <a:gd name="connsiteY4" fmla="*/ 4482 h 171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0838" h="1712512">
                  <a:moveTo>
                    <a:pt x="0" y="1712512"/>
                  </a:moveTo>
                  <a:cubicBezTo>
                    <a:pt x="176122" y="1658597"/>
                    <a:pt x="352245" y="1604682"/>
                    <a:pt x="500332" y="1367456"/>
                  </a:cubicBezTo>
                  <a:cubicBezTo>
                    <a:pt x="648419" y="1130230"/>
                    <a:pt x="728932" y="510565"/>
                    <a:pt x="888521" y="289154"/>
                  </a:cubicBezTo>
                  <a:cubicBezTo>
                    <a:pt x="1048110" y="67743"/>
                    <a:pt x="1135811" y="86433"/>
                    <a:pt x="1457864" y="38988"/>
                  </a:cubicBezTo>
                  <a:cubicBezTo>
                    <a:pt x="1779917" y="-8457"/>
                    <a:pt x="2300377" y="-1988"/>
                    <a:pt x="2820838" y="4482"/>
                  </a:cubicBezTo>
                </a:path>
              </a:pathLst>
            </a:cu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355678" y="5506199"/>
              <a:ext cx="476351" cy="430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V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1786350" y="3007439"/>
                  <a:ext cx="466585" cy="4302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zh-CN" altLang="en-US" sz="2400" b="1" i="1" dirty="0"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6350" y="3007439"/>
                  <a:ext cx="466585" cy="430240"/>
                </a:xfrm>
                <a:prstGeom prst="rect">
                  <a:avLst/>
                </a:prstGeom>
                <a:blipFill>
                  <a:blip r:embed="rId10"/>
                  <a:stretch>
                    <a:fillRect l="-26316" r="-23684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1251010" y="4715926"/>
                  <a:ext cx="728498" cy="4302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𝛎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1010" y="4715926"/>
                  <a:ext cx="728498" cy="430240"/>
                </a:xfrm>
                <a:prstGeom prst="rect">
                  <a:avLst/>
                </a:prstGeom>
                <a:blipFill>
                  <a:blip r:embed="rId11"/>
                  <a:stretch>
                    <a:fillRect l="-22034" r="-5085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/>
                <p:cNvSpPr txBox="1"/>
                <p:nvPr/>
              </p:nvSpPr>
              <p:spPr>
                <a:xfrm>
                  <a:off x="1770036" y="4715926"/>
                  <a:ext cx="728498" cy="4302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𝛎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FF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41" name="文本框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36" y="4715926"/>
                  <a:ext cx="728498" cy="430240"/>
                </a:xfrm>
                <a:prstGeom prst="rect">
                  <a:avLst/>
                </a:prstGeom>
                <a:blipFill>
                  <a:blip r:embed="rId12"/>
                  <a:stretch>
                    <a:fillRect l="-22034" r="-5085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/>
                <p:cNvSpPr txBox="1"/>
                <p:nvPr/>
              </p:nvSpPr>
              <p:spPr>
                <a:xfrm>
                  <a:off x="2289062" y="4715926"/>
                  <a:ext cx="728498" cy="4302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2400" b="1" i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𝛎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00B0F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9062" y="4715926"/>
                  <a:ext cx="728498" cy="430240"/>
                </a:xfrm>
                <a:prstGeom prst="rect">
                  <a:avLst/>
                </a:prstGeom>
                <a:blipFill>
                  <a:blip r:embed="rId13"/>
                  <a:stretch>
                    <a:fillRect l="-22034" r="-5085" b="-1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728094" y="5469522"/>
                  <a:ext cx="728498" cy="471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𝐠𝟏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00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094" y="5469522"/>
                  <a:ext cx="728498" cy="471098"/>
                </a:xfrm>
                <a:prstGeom prst="rect">
                  <a:avLst/>
                </a:prstGeom>
                <a:blipFill>
                  <a:blip r:embed="rId14"/>
                  <a:stretch>
                    <a:fillRect l="-13559" r="-110169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/>
                <p:cNvSpPr txBox="1"/>
                <p:nvPr/>
              </p:nvSpPr>
              <p:spPr>
                <a:xfrm>
                  <a:off x="1460480" y="5469522"/>
                  <a:ext cx="728498" cy="471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𝐠𝟐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FFFF0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44" name="文本框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480" y="5469522"/>
                  <a:ext cx="728498" cy="471098"/>
                </a:xfrm>
                <a:prstGeom prst="rect">
                  <a:avLst/>
                </a:prstGeom>
                <a:blipFill>
                  <a:blip r:embed="rId15"/>
                  <a:stretch>
                    <a:fillRect l="-13559" r="-116949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/>
                <p:cNvSpPr txBox="1"/>
                <p:nvPr/>
              </p:nvSpPr>
              <p:spPr>
                <a:xfrm>
                  <a:off x="2192867" y="5469522"/>
                  <a:ext cx="728498" cy="4710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𝐠𝟑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rgbClr val="00B0F0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45" name="文本框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867" y="5469522"/>
                  <a:ext cx="728498" cy="471098"/>
                </a:xfrm>
                <a:prstGeom prst="rect">
                  <a:avLst/>
                </a:prstGeom>
                <a:blipFill>
                  <a:blip r:embed="rId16"/>
                  <a:stretch>
                    <a:fillRect l="-15254" r="-110169" b="-2575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/>
          <p:cNvGrpSpPr>
            <a:grpSpLocks noChangeAspect="1"/>
          </p:cNvGrpSpPr>
          <p:nvPr/>
        </p:nvGrpSpPr>
        <p:grpSpPr>
          <a:xfrm>
            <a:off x="9551145" y="3806587"/>
            <a:ext cx="2520000" cy="2603690"/>
            <a:chOff x="6672099" y="3371902"/>
            <a:chExt cx="4538122" cy="3366543"/>
          </a:xfrm>
        </p:grpSpPr>
        <p:cxnSp>
          <p:nvCxnSpPr>
            <p:cNvPr id="47" name="直接箭头连接符 46"/>
            <p:cNvCxnSpPr/>
            <p:nvPr/>
          </p:nvCxnSpPr>
          <p:spPr>
            <a:xfrm>
              <a:off x="6672099" y="6232209"/>
              <a:ext cx="43200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V="1">
              <a:off x="7719849" y="3712210"/>
              <a:ext cx="0" cy="252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V="1">
              <a:off x="8277949" y="3892210"/>
              <a:ext cx="1368000" cy="234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V="1">
              <a:off x="8622852" y="3892210"/>
              <a:ext cx="1368000" cy="2340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392874" y="3892210"/>
              <a:ext cx="1368000" cy="234000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0712243" y="6260903"/>
              <a:ext cx="476350" cy="4775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ea typeface="方正新书宋简体" panose="03000509000000000000" pitchFamily="65" charset="-122"/>
                </a:rPr>
                <a:t>ν</a:t>
              </a:r>
              <a:endParaRPr lang="zh-CN" altLang="en-US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/>
                <p:cNvSpPr txBox="1"/>
                <p:nvPr/>
              </p:nvSpPr>
              <p:spPr>
                <a:xfrm>
                  <a:off x="9767303" y="3371902"/>
                  <a:ext cx="728496" cy="4775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𝐊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53" name="文本框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7303" y="3371902"/>
                  <a:ext cx="728496" cy="477542"/>
                </a:xfrm>
                <a:prstGeom prst="rect">
                  <a:avLst/>
                </a:prstGeom>
                <a:blipFill>
                  <a:blip r:embed="rId17"/>
                  <a:stretch>
                    <a:fillRect l="-3030" r="-3030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/>
                <p:cNvSpPr txBox="1"/>
                <p:nvPr/>
              </p:nvSpPr>
              <p:spPr>
                <a:xfrm>
                  <a:off x="10481725" y="3371902"/>
                  <a:ext cx="728496" cy="4775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𝐂𝐮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54" name="文本框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725" y="3371902"/>
                  <a:ext cx="728496" cy="477542"/>
                </a:xfrm>
                <a:prstGeom prst="rect">
                  <a:avLst/>
                </a:prstGeom>
                <a:blipFill>
                  <a:blip r:embed="rId18"/>
                  <a:stretch>
                    <a:fillRect l="-22727" r="-2121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/>
                <p:cNvSpPr txBox="1"/>
                <p:nvPr/>
              </p:nvSpPr>
              <p:spPr>
                <a:xfrm>
                  <a:off x="9329332" y="3371902"/>
                  <a:ext cx="728496" cy="4775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𝐂𝐬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55" name="文本框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9332" y="3371902"/>
                  <a:ext cx="728496" cy="477542"/>
                </a:xfrm>
                <a:prstGeom prst="rect">
                  <a:avLst/>
                </a:prstGeom>
                <a:blipFill>
                  <a:blip r:embed="rId19"/>
                  <a:stretch>
                    <a:fillRect l="-16667" r="-16667" b="-81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/>
                <p:cNvSpPr txBox="1"/>
                <p:nvPr/>
              </p:nvSpPr>
              <p:spPr>
                <a:xfrm>
                  <a:off x="7085371" y="3712209"/>
                  <a:ext cx="728496" cy="5228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  <m:r>
                              <m:rPr>
                                <m:nor/>
                              </m:rPr>
                              <a:rPr lang="zh-CN" altLang="en-US" sz="2400" b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方正新书宋简体" panose="03000509000000000000" pitchFamily="65" charset="-122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endParaRPr>
                </a:p>
              </p:txBody>
            </p:sp>
          </mc:Choice>
          <mc:Fallback xmlns="">
            <p:sp>
              <p:nvSpPr>
                <p:cNvPr id="56" name="文本框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5371" y="3712209"/>
                  <a:ext cx="728496" cy="522893"/>
                </a:xfrm>
                <a:prstGeom prst="rect">
                  <a:avLst/>
                </a:prstGeom>
                <a:blipFill>
                  <a:blip r:embed="rId20"/>
                  <a:stretch>
                    <a:fillRect l="-25373" b="-196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/>
              <p:cNvSpPr>
                <a:spLocks noChangeArrowheads="1"/>
              </p:cNvSpPr>
              <p:nvPr/>
            </p:nvSpPr>
            <p:spPr bwMode="auto">
              <a:xfrm>
                <a:off x="539513" y="2027033"/>
                <a:ext cx="6423025" cy="1165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ü"/>
                </a:pPr>
                <a:r>
                  <a:rPr lang="zh-CN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光电子具有各种初速度，其最大初动能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方正新书宋简体" panose="03000509000000000000" pitchFamily="65" charset="-122"/>
                      </a:rPr>
                      <m:t>𝒎</m:t>
                    </m:r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  <m:t>𝒎</m:t>
                        </m:r>
                      </m:sub>
                      <m:sup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方正新书宋简体" panose="03000509000000000000" pitchFamily="65" charset="-12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方正新书宋简体" panose="03000509000000000000" pitchFamily="65" charset="-122"/>
                  </a:rPr>
                  <a:t>与光辐射频率呈线性关系，而与光辐射强度无关。</a:t>
                </a:r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方正新书宋简体" panose="03000509000000000000" pitchFamily="65" charset="-122"/>
                </a:endParaRPr>
              </a:p>
            </p:txBody>
          </p:sp>
        </mc:Choice>
        <mc:Fallback xmlns=""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13" y="2027033"/>
                <a:ext cx="6423025" cy="1165832"/>
              </a:xfrm>
              <a:prstGeom prst="rect">
                <a:avLst/>
              </a:prstGeom>
              <a:blipFill>
                <a:blip r:embed="rId21"/>
                <a:stretch>
                  <a:fillRect l="-855" r="-95" b="-83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2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3584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4.2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爱因斯坦光电效应理论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71525" y="2776538"/>
            <a:ext cx="107045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当光子与物质相互作用时，光子只能整个被吸收或者被反射。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71521" y="1758470"/>
            <a:ext cx="10704513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光由粒子组成，这种粒子称为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</a:rPr>
              <a:t>光子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，每个光子以光速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c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运动，光子的能量为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807112"/>
              </p:ext>
            </p:extLst>
          </p:nvPr>
        </p:nvGraphicFramePr>
        <p:xfrm>
          <a:off x="4414838" y="2346325"/>
          <a:ext cx="1866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50" name="Equation" r:id="rId3" imgW="1866600" imgH="368280" progId="Equation.DSMT4">
                  <p:embed/>
                </p:oleObj>
              </mc:Choice>
              <mc:Fallback>
                <p:oleObj name="Equation" r:id="rId3" imgW="186660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4838" y="2346325"/>
                        <a:ext cx="1866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71521" y="3367798"/>
            <a:ext cx="3637757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爱因斯坦光电效应方程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489500"/>
              </p:ext>
            </p:extLst>
          </p:nvPr>
        </p:nvGraphicFramePr>
        <p:xfrm>
          <a:off x="4319588" y="3889375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51" name="Equation" r:id="rId5" imgW="2057400" imgH="736560" progId="Equation.DSMT4">
                  <p:embed/>
                </p:oleObj>
              </mc:Choice>
              <mc:Fallback>
                <p:oleObj name="Equation" r:id="rId5" imgW="2057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19588" y="3889375"/>
                        <a:ext cx="2057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764381" y="4640934"/>
            <a:ext cx="3637757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W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称为逸出功，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W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h</a:t>
            </a:r>
            <a:r>
              <a:rPr lang="el-GR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ν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0</a:t>
            </a:r>
            <a:endParaRPr lang="zh-CN" altLang="en-US" sz="2400" b="1" baseline="-25000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764380" y="5149599"/>
            <a:ext cx="3637757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进一步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771990"/>
              </p:ext>
            </p:extLst>
          </p:nvPr>
        </p:nvGraphicFramePr>
        <p:xfrm>
          <a:off x="3630613" y="5668963"/>
          <a:ext cx="427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52" name="Equation" r:id="rId7" imgW="4279680" imgH="736560" progId="Equation.DSMT4">
                  <p:embed/>
                </p:oleObj>
              </mc:Choice>
              <mc:Fallback>
                <p:oleObj name="Equation" r:id="rId7" imgW="4279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0613" y="5668963"/>
                        <a:ext cx="427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13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3686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小习题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71525" y="1758950"/>
            <a:ext cx="10704513" cy="96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金属铯的逸出功为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1.9eV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，试求铯的光电效应阈值频率（截止频率）。如果想要得到具有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1.5eV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动能的光电子，需要用何种波长的光进行照射？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71522" y="2785111"/>
            <a:ext cx="312751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答：由逸出功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W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=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h</a:t>
            </a:r>
            <a:r>
              <a:rPr lang="el-GR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ν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0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可知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912258"/>
              </p:ext>
            </p:extLst>
          </p:nvPr>
        </p:nvGraphicFramePr>
        <p:xfrm>
          <a:off x="2243897" y="3382869"/>
          <a:ext cx="7175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836" name="Equation" r:id="rId3" imgW="7175160" imgH="774360" progId="Equation.DSMT4">
                  <p:embed/>
                </p:oleObj>
              </mc:Choice>
              <mc:Fallback>
                <p:oleObj name="Equation" r:id="rId3" imgW="7175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3897" y="3382869"/>
                        <a:ext cx="7175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298575" y="4235116"/>
            <a:ext cx="312751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由</a:t>
            </a:r>
            <a:r>
              <a:rPr lang="en-US" altLang="zh-CN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E</a:t>
            </a:r>
            <a:r>
              <a:rPr lang="en-US" altLang="zh-CN" b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m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=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h</a:t>
            </a:r>
            <a:r>
              <a:rPr lang="el-GR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ν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-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W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=</a:t>
            </a:r>
            <a:r>
              <a:rPr lang="en-US" altLang="zh-CN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hc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/</a:t>
            </a:r>
            <a:r>
              <a:rPr lang="el-GR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可得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052448"/>
              </p:ext>
            </p:extLst>
          </p:nvPr>
        </p:nvGraphicFramePr>
        <p:xfrm>
          <a:off x="2911388" y="4866661"/>
          <a:ext cx="4800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837" name="Equation" r:id="rId5" imgW="4800600" imgH="812520" progId="Equation.DSMT4">
                  <p:embed/>
                </p:oleObj>
              </mc:Choice>
              <mc:Fallback>
                <p:oleObj name="Equation" r:id="rId5" imgW="4800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1388" y="4866661"/>
                        <a:ext cx="4800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随堂测验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771525" y="1758950"/>
            <a:ext cx="10704513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金属钨的逸出功为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4.52eV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）钨金属光电效应的截止波长是多少？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）当入射光波波长为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200.0nm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时，光电子的最大初动能是多少？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c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）在此情况截止电势是多少？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908001" y="4195123"/>
            <a:ext cx="94551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a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）根据爱因斯坦方程，                                                                    ，在紫外区域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853661"/>
              </p:ext>
            </p:extLst>
          </p:nvPr>
        </p:nvGraphicFramePr>
        <p:xfrm>
          <a:off x="3960477" y="4136395"/>
          <a:ext cx="40510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39" name="Equation" r:id="rId3" imgW="4051080" imgH="736560" progId="Equation.DSMT4">
                  <p:embed/>
                </p:oleObj>
              </mc:Choice>
              <mc:Fallback>
                <p:oleObj name="Equation" r:id="rId3" imgW="4051080" imgH="73656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0477" y="4136395"/>
                        <a:ext cx="4051080" cy="736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908001" y="5915729"/>
            <a:ext cx="1971677" cy="501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）截止电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势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08001" y="3692290"/>
            <a:ext cx="70083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答：</a:t>
            </a:r>
          </a:p>
        </p:txBody>
      </p:sp>
      <p:sp>
        <p:nvSpPr>
          <p:cNvPr id="33" name="矩形 32"/>
          <p:cNvSpPr/>
          <p:nvPr/>
        </p:nvSpPr>
        <p:spPr>
          <a:xfrm>
            <a:off x="908001" y="5109951"/>
            <a:ext cx="3336454" cy="501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b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）光电子的最大初动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能</a:t>
            </a:r>
            <a:endParaRPr lang="en-US" altLang="zh-CN" sz="20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267397"/>
              </p:ext>
            </p:extLst>
          </p:nvPr>
        </p:nvGraphicFramePr>
        <p:xfrm>
          <a:off x="4091535" y="5053801"/>
          <a:ext cx="70228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40" name="Equation" r:id="rId5" imgW="7022880" imgH="736560" progId="Equation.DSMT4">
                  <p:embed/>
                </p:oleObj>
              </mc:Choice>
              <mc:Fallback>
                <p:oleObj name="Equation" r:id="rId5" imgW="7022880" imgH="7365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91535" y="5053801"/>
                        <a:ext cx="7022880" cy="736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94543"/>
              </p:ext>
            </p:extLst>
          </p:nvPr>
        </p:nvGraphicFramePr>
        <p:xfrm>
          <a:off x="2879678" y="5866693"/>
          <a:ext cx="32763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41" name="Equation" r:id="rId7" imgW="3276360" imgH="736560" progId="Equation.DSMT4">
                  <p:embed/>
                </p:oleObj>
              </mc:Choice>
              <mc:Fallback>
                <p:oleObj name="Equation" r:id="rId7" imgW="3276360" imgH="7365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79678" y="5866693"/>
                        <a:ext cx="3276360" cy="736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第四讲 光电效应</a:t>
            </a:r>
          </a:p>
        </p:txBody>
      </p:sp>
      <p:sp>
        <p:nvSpPr>
          <p:cNvPr id="3891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4.3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光电效应的分类及应用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hlinkClick r:id="" action="ppaction://noaction"/>
            </a:endParaRP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703201674"/>
              </p:ext>
            </p:extLst>
          </p:nvPr>
        </p:nvGraphicFramePr>
        <p:xfrm>
          <a:off x="646113" y="1830244"/>
          <a:ext cx="5412509" cy="3898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8917" name="图片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1" t="13799" r="6799" b="9415"/>
          <a:stretch>
            <a:fillRect/>
          </a:stretch>
        </p:blipFill>
        <p:spPr bwMode="auto">
          <a:xfrm>
            <a:off x="6538913" y="1503363"/>
            <a:ext cx="2514600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图片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825" y="1503363"/>
            <a:ext cx="244633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图片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913" y="3478213"/>
            <a:ext cx="2538412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图片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825" y="3709988"/>
            <a:ext cx="2451100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64F8762-51AA-45A3-89A1-90111EC3B3A6}"/>
    </a:ext>
  </a:extLst>
</a:theme>
</file>

<file path=ppt/theme/theme5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7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D5229C70-5AFB-4F66-8E7C-A2400D6A6E8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26259</TotalTime>
  <Words>1089</Words>
  <Application>Microsoft Office PowerPoint</Application>
  <PresentationFormat>宽屏</PresentationFormat>
  <Paragraphs>122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等线</vt:lpstr>
      <vt:lpstr>等线 Light</vt:lpstr>
      <vt:lpstr>方正新书宋简体</vt:lpstr>
      <vt:lpstr>宋体</vt:lpstr>
      <vt:lpstr>Arial</vt:lpstr>
      <vt:lpstr>Calibri</vt:lpstr>
      <vt:lpstr>Cambria Math</vt:lpstr>
      <vt:lpstr>Times New Roman</vt:lpstr>
      <vt:lpstr>Wingdings</vt:lpstr>
      <vt:lpstr>Wingdings 3</vt:lpstr>
      <vt:lpstr>母版尝试</vt:lpstr>
      <vt:lpstr>1_Office 主题​​</vt:lpstr>
      <vt:lpstr>自定义设计方案</vt:lpstr>
      <vt:lpstr>2_Office 主题​​</vt:lpstr>
      <vt:lpstr>母版尝试-无校徽</vt:lpstr>
      <vt:lpstr>3_Office 主题​​</vt:lpstr>
      <vt:lpstr>4_Office 主题​​</vt:lpstr>
      <vt:lpstr>Equation</vt:lpstr>
      <vt:lpstr>近 代 物 理 学 选 讲</vt:lpstr>
      <vt:lpstr>第四讲 光电效应</vt:lpstr>
      <vt:lpstr>第四讲 光电效应</vt:lpstr>
      <vt:lpstr>第四讲 光电效应</vt:lpstr>
      <vt:lpstr>第四讲 光电效应</vt:lpstr>
      <vt:lpstr>第四讲 光电效应</vt:lpstr>
      <vt:lpstr>第四讲 光电效应</vt:lpstr>
      <vt:lpstr>第四讲 光电效应</vt:lpstr>
      <vt:lpstr>第四讲 光电效应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1133</cp:revision>
  <dcterms:created xsi:type="dcterms:W3CDTF">2017-02-21T13:54:52Z</dcterms:created>
  <dcterms:modified xsi:type="dcterms:W3CDTF">2022-02-28T23:47:23Z</dcterms:modified>
</cp:coreProperties>
</file>