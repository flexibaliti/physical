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72" r:id="rId1"/>
    <p:sldMasterId id="2147485076" r:id="rId2"/>
    <p:sldMasterId id="2147485088" r:id="rId3"/>
    <p:sldMasterId id="2147485078" r:id="rId4"/>
    <p:sldMasterId id="2147485080" r:id="rId5"/>
    <p:sldMasterId id="2147485084" r:id="rId6"/>
    <p:sldMasterId id="2147485086" r:id="rId7"/>
  </p:sldMasterIdLst>
  <p:sldIdLst>
    <p:sldId id="256" r:id="rId8"/>
    <p:sldId id="331" r:id="rId9"/>
    <p:sldId id="330" r:id="rId10"/>
    <p:sldId id="332" r:id="rId11"/>
    <p:sldId id="333" r:id="rId12"/>
    <p:sldId id="334" r:id="rId13"/>
    <p:sldId id="336" r:id="rId14"/>
    <p:sldId id="339" r:id="rId15"/>
    <p:sldId id="416" r:id="rId16"/>
    <p:sldId id="335" r:id="rId17"/>
    <p:sldId id="337" r:id="rId18"/>
    <p:sldId id="417" r:id="rId19"/>
    <p:sldId id="418" r:id="rId20"/>
    <p:sldId id="419" r:id="rId21"/>
    <p:sldId id="338" r:id="rId22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modifyVerifier cryptProviderType="rsaAES" cryptAlgorithmClass="hash" cryptAlgorithmType="typeAny" cryptAlgorithmSid="14" spinCount="100000" saltData="I4uBhazHn4X6j7GoemNFiw==" hashData="F7muzzrLgHM+kK5KcmklB3mEJeWXOsaYkZQa+/Q99i9Y1Ys/ATp6hgjuDAAWfE/EOW4r/RZs0clpAjdqaQtwaA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FF00"/>
    <a:srgbClr val="FF9900"/>
    <a:srgbClr val="41B0B9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5455" autoAdjust="0"/>
  </p:normalViewPr>
  <p:slideViewPr>
    <p:cSldViewPr snapToGrid="0">
      <p:cViewPr varScale="1">
        <p:scale>
          <a:sx n="74" d="100"/>
          <a:sy n="74" d="100"/>
        </p:scale>
        <p:origin x="408" y="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image" Target="../media/image28.wmf"/><Relationship Id="rId7" Type="http://schemas.openxmlformats.org/officeDocument/2006/relationships/image" Target="../media/image32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Relationship Id="rId9" Type="http://schemas.openxmlformats.org/officeDocument/2006/relationships/image" Target="../media/image34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image" Target="../media/image37.wmf"/><Relationship Id="rId7" Type="http://schemas.openxmlformats.org/officeDocument/2006/relationships/image" Target="../media/image41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8033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335431" y="478818"/>
            <a:ext cx="9952515" cy="80138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5000"/>
              </a:lnSpc>
              <a:defRPr sz="4200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26253170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125000"/>
              </a:lnSpc>
              <a:defRPr sz="42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6858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sz="20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2pPr>
            <a:lvl3pPr marL="11430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3pPr>
            <a:lvl4pPr marL="16002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4pPr>
            <a:lvl5pPr marL="20574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75462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433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791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683774" y="478818"/>
            <a:ext cx="9952515" cy="80138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233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3251830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524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emf"/><Relationship Id="rId4" Type="http://schemas.openxmlformats.org/officeDocument/2006/relationships/image" Target="../media/image3.emf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emf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/>
          </p:cNvPicPr>
          <p:nvPr/>
        </p:nvPicPr>
        <p:blipFill rotWithShape="1">
          <a:blip r:embed="rId3"/>
          <a:srcRect l="-1" r="156" b="79277"/>
          <a:stretch/>
        </p:blipFill>
        <p:spPr>
          <a:xfrm>
            <a:off x="0" y="682724"/>
            <a:ext cx="12192000" cy="1605600"/>
          </a:xfrm>
          <a:prstGeom prst="rect">
            <a:avLst/>
          </a:prstGeom>
        </p:spPr>
      </p:pic>
      <p:pic>
        <p:nvPicPr>
          <p:cNvPr id="8" name="图片 7"/>
          <p:cNvPicPr>
            <a:picLocks/>
          </p:cNvPicPr>
          <p:nvPr/>
        </p:nvPicPr>
        <p:blipFill rotWithShape="1">
          <a:blip r:embed="rId3"/>
          <a:srcRect r="117" b="79277"/>
          <a:stretch/>
        </p:blipFill>
        <p:spPr>
          <a:xfrm flipH="1">
            <a:off x="0" y="502725"/>
            <a:ext cx="12192000" cy="18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11" y="1013641"/>
            <a:ext cx="2881494" cy="9144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0936" y="1456441"/>
            <a:ext cx="2501064" cy="81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4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3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90936" y="6040800"/>
            <a:ext cx="2501064" cy="817200"/>
          </a:xfrm>
          <a:prstGeom prst="rect">
            <a:avLst/>
          </a:prstGeom>
        </p:spPr>
      </p:pic>
      <p:pic>
        <p:nvPicPr>
          <p:cNvPr id="43" name="图片 42"/>
          <p:cNvPicPr>
            <a:picLocks/>
          </p:cNvPicPr>
          <p:nvPr/>
        </p:nvPicPr>
        <p:blipFill rotWithShape="1">
          <a:blip r:embed="rId4"/>
          <a:srcRect b="40414"/>
          <a:stretch/>
        </p:blipFill>
        <p:spPr>
          <a:xfrm>
            <a:off x="0" y="122329"/>
            <a:ext cx="12191484" cy="344488"/>
          </a:xfrm>
          <a:custGeom>
            <a:avLst/>
            <a:gdLst>
              <a:gd name="connsiteX0" fmla="*/ 11320859 w 11520000"/>
              <a:gd name="connsiteY0" fmla="*/ 268405 h 325509"/>
              <a:gd name="connsiteX1" fmla="*/ 11520000 w 11520000"/>
              <a:gd name="connsiteY1" fmla="*/ 268405 h 325509"/>
              <a:gd name="connsiteX2" fmla="*/ 11520000 w 11520000"/>
              <a:gd name="connsiteY2" fmla="*/ 325509 h 325509"/>
              <a:gd name="connsiteX3" fmla="*/ 11296840 w 11520000"/>
              <a:gd name="connsiteY3" fmla="*/ 325509 h 325509"/>
              <a:gd name="connsiteX4" fmla="*/ 11316728 w 11520000"/>
              <a:gd name="connsiteY4" fmla="*/ 288869 h 325509"/>
              <a:gd name="connsiteX5" fmla="*/ 0 w 11520000"/>
              <a:gd name="connsiteY5" fmla="*/ 268405 h 325509"/>
              <a:gd name="connsiteX6" fmla="*/ 10715519 w 11520000"/>
              <a:gd name="connsiteY6" fmla="*/ 268405 h 325509"/>
              <a:gd name="connsiteX7" fmla="*/ 10719650 w 11520000"/>
              <a:gd name="connsiteY7" fmla="*/ 288869 h 325509"/>
              <a:gd name="connsiteX8" fmla="*/ 10739538 w 11520000"/>
              <a:gd name="connsiteY8" fmla="*/ 325509 h 325509"/>
              <a:gd name="connsiteX9" fmla="*/ 0 w 11520000"/>
              <a:gd name="connsiteY9" fmla="*/ 325509 h 325509"/>
              <a:gd name="connsiteX10" fmla="*/ 11342049 w 11520000"/>
              <a:gd name="connsiteY10" fmla="*/ 163448 h 325509"/>
              <a:gd name="connsiteX11" fmla="*/ 11520000 w 11520000"/>
              <a:gd name="connsiteY11" fmla="*/ 163448 h 325509"/>
              <a:gd name="connsiteX12" fmla="*/ 11520000 w 11520000"/>
              <a:gd name="connsiteY12" fmla="*/ 218165 h 325509"/>
              <a:gd name="connsiteX13" fmla="*/ 11331002 w 11520000"/>
              <a:gd name="connsiteY13" fmla="*/ 218165 h 325509"/>
              <a:gd name="connsiteX14" fmla="*/ 0 w 11520000"/>
              <a:gd name="connsiteY14" fmla="*/ 163448 h 325509"/>
              <a:gd name="connsiteX15" fmla="*/ 10694329 w 11520000"/>
              <a:gd name="connsiteY15" fmla="*/ 163448 h 325509"/>
              <a:gd name="connsiteX16" fmla="*/ 10705376 w 11520000"/>
              <a:gd name="connsiteY16" fmla="*/ 218165 h 325509"/>
              <a:gd name="connsiteX17" fmla="*/ 0 w 11520000"/>
              <a:gd name="connsiteY17" fmla="*/ 218165 h 325509"/>
              <a:gd name="connsiteX18" fmla="*/ 11296841 w 11520000"/>
              <a:gd name="connsiteY18" fmla="*/ 0 h 325509"/>
              <a:gd name="connsiteX19" fmla="*/ 11520000 w 11520000"/>
              <a:gd name="connsiteY19" fmla="*/ 0 h 325509"/>
              <a:gd name="connsiteX20" fmla="*/ 11520000 w 11520000"/>
              <a:gd name="connsiteY20" fmla="*/ 113207 h 325509"/>
              <a:gd name="connsiteX21" fmla="*/ 11332186 w 11520000"/>
              <a:gd name="connsiteY21" fmla="*/ 113207 h 325509"/>
              <a:gd name="connsiteX22" fmla="*/ 11316728 w 11520000"/>
              <a:gd name="connsiteY22" fmla="*/ 36639 h 325509"/>
              <a:gd name="connsiteX23" fmla="*/ 0 w 11520000"/>
              <a:gd name="connsiteY23" fmla="*/ 0 h 325509"/>
              <a:gd name="connsiteX24" fmla="*/ 10739537 w 11520000"/>
              <a:gd name="connsiteY24" fmla="*/ 0 h 325509"/>
              <a:gd name="connsiteX25" fmla="*/ 10719650 w 11520000"/>
              <a:gd name="connsiteY25" fmla="*/ 36639 h 325509"/>
              <a:gd name="connsiteX26" fmla="*/ 10704192 w 11520000"/>
              <a:gd name="connsiteY26" fmla="*/ 113207 h 325509"/>
              <a:gd name="connsiteX27" fmla="*/ 0 w 11520000"/>
              <a:gd name="connsiteY27" fmla="*/ 113207 h 32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520000" h="325509">
                <a:moveTo>
                  <a:pt x="11320859" y="268405"/>
                </a:moveTo>
                <a:lnTo>
                  <a:pt x="11520000" y="268405"/>
                </a:lnTo>
                <a:lnTo>
                  <a:pt x="11520000" y="325509"/>
                </a:lnTo>
                <a:lnTo>
                  <a:pt x="11296840" y="325509"/>
                </a:lnTo>
                <a:lnTo>
                  <a:pt x="11316728" y="288869"/>
                </a:lnTo>
                <a:close/>
                <a:moveTo>
                  <a:pt x="0" y="268405"/>
                </a:moveTo>
                <a:lnTo>
                  <a:pt x="10715519" y="268405"/>
                </a:lnTo>
                <a:lnTo>
                  <a:pt x="10719650" y="288869"/>
                </a:lnTo>
                <a:lnTo>
                  <a:pt x="10739538" y="325509"/>
                </a:lnTo>
                <a:lnTo>
                  <a:pt x="0" y="325509"/>
                </a:lnTo>
                <a:close/>
                <a:moveTo>
                  <a:pt x="11342049" y="163448"/>
                </a:moveTo>
                <a:lnTo>
                  <a:pt x="11520000" y="163448"/>
                </a:lnTo>
                <a:lnTo>
                  <a:pt x="11520000" y="218165"/>
                </a:lnTo>
                <a:lnTo>
                  <a:pt x="11331002" y="218165"/>
                </a:lnTo>
                <a:close/>
                <a:moveTo>
                  <a:pt x="0" y="163448"/>
                </a:moveTo>
                <a:lnTo>
                  <a:pt x="10694329" y="163448"/>
                </a:lnTo>
                <a:lnTo>
                  <a:pt x="10705376" y="218165"/>
                </a:lnTo>
                <a:lnTo>
                  <a:pt x="0" y="218165"/>
                </a:lnTo>
                <a:close/>
                <a:moveTo>
                  <a:pt x="11296841" y="0"/>
                </a:moveTo>
                <a:lnTo>
                  <a:pt x="11520000" y="0"/>
                </a:lnTo>
                <a:lnTo>
                  <a:pt x="11520000" y="113207"/>
                </a:lnTo>
                <a:lnTo>
                  <a:pt x="11332186" y="113207"/>
                </a:lnTo>
                <a:lnTo>
                  <a:pt x="11316728" y="36639"/>
                </a:lnTo>
                <a:close/>
                <a:moveTo>
                  <a:pt x="0" y="0"/>
                </a:moveTo>
                <a:lnTo>
                  <a:pt x="10739537" y="0"/>
                </a:lnTo>
                <a:lnTo>
                  <a:pt x="10719650" y="36639"/>
                </a:lnTo>
                <a:lnTo>
                  <a:pt x="10704192" y="113207"/>
                </a:lnTo>
                <a:lnTo>
                  <a:pt x="0" y="113207"/>
                </a:lnTo>
                <a:close/>
              </a:path>
            </a:pathLst>
          </a:custGeom>
          <a:ln>
            <a:noFill/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/>
          <a:srcRect r="67965"/>
          <a:stretch/>
        </p:blipFill>
        <p:spPr>
          <a:xfrm>
            <a:off x="11383653" y="11519"/>
            <a:ext cx="571476" cy="5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4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7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F7EF6-3172-4E4B-B9A2-1C5902C289B2}" type="datetimeFigureOut">
              <a:rPr lang="zh-CN" altLang="en-US" smtClean="0"/>
              <a:t>2022/3/24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25F72-D721-4CB2-959B-31C196EA2BB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90936" y="6040800"/>
            <a:ext cx="2501064" cy="817200"/>
          </a:xfrm>
          <a:prstGeom prst="rect">
            <a:avLst/>
          </a:prstGeom>
        </p:spPr>
      </p:pic>
      <p:pic>
        <p:nvPicPr>
          <p:cNvPr id="8" name="图片 7"/>
          <p:cNvPicPr>
            <a:picLocks/>
          </p:cNvPicPr>
          <p:nvPr userDrawn="1"/>
        </p:nvPicPr>
        <p:blipFill rotWithShape="1">
          <a:blip r:embed="rId4"/>
          <a:srcRect b="40414"/>
          <a:stretch/>
        </p:blipFill>
        <p:spPr>
          <a:xfrm>
            <a:off x="0" y="122329"/>
            <a:ext cx="12191484" cy="344488"/>
          </a:xfrm>
          <a:custGeom>
            <a:avLst/>
            <a:gdLst>
              <a:gd name="connsiteX0" fmla="*/ 11320859 w 11520000"/>
              <a:gd name="connsiteY0" fmla="*/ 268405 h 325509"/>
              <a:gd name="connsiteX1" fmla="*/ 11520000 w 11520000"/>
              <a:gd name="connsiteY1" fmla="*/ 268405 h 325509"/>
              <a:gd name="connsiteX2" fmla="*/ 11520000 w 11520000"/>
              <a:gd name="connsiteY2" fmla="*/ 325509 h 325509"/>
              <a:gd name="connsiteX3" fmla="*/ 11296840 w 11520000"/>
              <a:gd name="connsiteY3" fmla="*/ 325509 h 325509"/>
              <a:gd name="connsiteX4" fmla="*/ 11316728 w 11520000"/>
              <a:gd name="connsiteY4" fmla="*/ 288869 h 325509"/>
              <a:gd name="connsiteX5" fmla="*/ 0 w 11520000"/>
              <a:gd name="connsiteY5" fmla="*/ 268405 h 325509"/>
              <a:gd name="connsiteX6" fmla="*/ 10715519 w 11520000"/>
              <a:gd name="connsiteY6" fmla="*/ 268405 h 325509"/>
              <a:gd name="connsiteX7" fmla="*/ 10719650 w 11520000"/>
              <a:gd name="connsiteY7" fmla="*/ 288869 h 325509"/>
              <a:gd name="connsiteX8" fmla="*/ 10739538 w 11520000"/>
              <a:gd name="connsiteY8" fmla="*/ 325509 h 325509"/>
              <a:gd name="connsiteX9" fmla="*/ 0 w 11520000"/>
              <a:gd name="connsiteY9" fmla="*/ 325509 h 325509"/>
              <a:gd name="connsiteX10" fmla="*/ 11342049 w 11520000"/>
              <a:gd name="connsiteY10" fmla="*/ 163448 h 325509"/>
              <a:gd name="connsiteX11" fmla="*/ 11520000 w 11520000"/>
              <a:gd name="connsiteY11" fmla="*/ 163448 h 325509"/>
              <a:gd name="connsiteX12" fmla="*/ 11520000 w 11520000"/>
              <a:gd name="connsiteY12" fmla="*/ 218165 h 325509"/>
              <a:gd name="connsiteX13" fmla="*/ 11331002 w 11520000"/>
              <a:gd name="connsiteY13" fmla="*/ 218165 h 325509"/>
              <a:gd name="connsiteX14" fmla="*/ 0 w 11520000"/>
              <a:gd name="connsiteY14" fmla="*/ 163448 h 325509"/>
              <a:gd name="connsiteX15" fmla="*/ 10694329 w 11520000"/>
              <a:gd name="connsiteY15" fmla="*/ 163448 h 325509"/>
              <a:gd name="connsiteX16" fmla="*/ 10705376 w 11520000"/>
              <a:gd name="connsiteY16" fmla="*/ 218165 h 325509"/>
              <a:gd name="connsiteX17" fmla="*/ 0 w 11520000"/>
              <a:gd name="connsiteY17" fmla="*/ 218165 h 325509"/>
              <a:gd name="connsiteX18" fmla="*/ 11296841 w 11520000"/>
              <a:gd name="connsiteY18" fmla="*/ 0 h 325509"/>
              <a:gd name="connsiteX19" fmla="*/ 11520000 w 11520000"/>
              <a:gd name="connsiteY19" fmla="*/ 0 h 325509"/>
              <a:gd name="connsiteX20" fmla="*/ 11520000 w 11520000"/>
              <a:gd name="connsiteY20" fmla="*/ 113207 h 325509"/>
              <a:gd name="connsiteX21" fmla="*/ 11332186 w 11520000"/>
              <a:gd name="connsiteY21" fmla="*/ 113207 h 325509"/>
              <a:gd name="connsiteX22" fmla="*/ 11316728 w 11520000"/>
              <a:gd name="connsiteY22" fmla="*/ 36639 h 325509"/>
              <a:gd name="connsiteX23" fmla="*/ 0 w 11520000"/>
              <a:gd name="connsiteY23" fmla="*/ 0 h 325509"/>
              <a:gd name="connsiteX24" fmla="*/ 10739537 w 11520000"/>
              <a:gd name="connsiteY24" fmla="*/ 0 h 325509"/>
              <a:gd name="connsiteX25" fmla="*/ 10719650 w 11520000"/>
              <a:gd name="connsiteY25" fmla="*/ 36639 h 325509"/>
              <a:gd name="connsiteX26" fmla="*/ 10704192 w 11520000"/>
              <a:gd name="connsiteY26" fmla="*/ 113207 h 325509"/>
              <a:gd name="connsiteX27" fmla="*/ 0 w 11520000"/>
              <a:gd name="connsiteY27" fmla="*/ 113207 h 32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520000" h="325509">
                <a:moveTo>
                  <a:pt x="11320859" y="268405"/>
                </a:moveTo>
                <a:lnTo>
                  <a:pt x="11520000" y="268405"/>
                </a:lnTo>
                <a:lnTo>
                  <a:pt x="11520000" y="325509"/>
                </a:lnTo>
                <a:lnTo>
                  <a:pt x="11296840" y="325509"/>
                </a:lnTo>
                <a:lnTo>
                  <a:pt x="11316728" y="288869"/>
                </a:lnTo>
                <a:close/>
                <a:moveTo>
                  <a:pt x="0" y="268405"/>
                </a:moveTo>
                <a:lnTo>
                  <a:pt x="10715519" y="268405"/>
                </a:lnTo>
                <a:lnTo>
                  <a:pt x="10719650" y="288869"/>
                </a:lnTo>
                <a:lnTo>
                  <a:pt x="10739538" y="325509"/>
                </a:lnTo>
                <a:lnTo>
                  <a:pt x="0" y="325509"/>
                </a:lnTo>
                <a:close/>
                <a:moveTo>
                  <a:pt x="11342049" y="163448"/>
                </a:moveTo>
                <a:lnTo>
                  <a:pt x="11520000" y="163448"/>
                </a:lnTo>
                <a:lnTo>
                  <a:pt x="11520000" y="218165"/>
                </a:lnTo>
                <a:lnTo>
                  <a:pt x="11331002" y="218165"/>
                </a:lnTo>
                <a:close/>
                <a:moveTo>
                  <a:pt x="0" y="163448"/>
                </a:moveTo>
                <a:lnTo>
                  <a:pt x="10694329" y="163448"/>
                </a:lnTo>
                <a:lnTo>
                  <a:pt x="10705376" y="218165"/>
                </a:lnTo>
                <a:lnTo>
                  <a:pt x="0" y="218165"/>
                </a:lnTo>
                <a:close/>
                <a:moveTo>
                  <a:pt x="11296841" y="0"/>
                </a:moveTo>
                <a:lnTo>
                  <a:pt x="11520000" y="0"/>
                </a:lnTo>
                <a:lnTo>
                  <a:pt x="11520000" y="113207"/>
                </a:lnTo>
                <a:lnTo>
                  <a:pt x="11332186" y="113207"/>
                </a:lnTo>
                <a:lnTo>
                  <a:pt x="11316728" y="36639"/>
                </a:lnTo>
                <a:close/>
                <a:moveTo>
                  <a:pt x="0" y="0"/>
                </a:moveTo>
                <a:lnTo>
                  <a:pt x="10739537" y="0"/>
                </a:lnTo>
                <a:lnTo>
                  <a:pt x="10719650" y="36639"/>
                </a:lnTo>
                <a:lnTo>
                  <a:pt x="10704192" y="113207"/>
                </a:lnTo>
                <a:lnTo>
                  <a:pt x="0" y="113207"/>
                </a:lnTo>
                <a:close/>
              </a:path>
            </a:pathLst>
          </a:custGeom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5"/>
          <a:srcRect r="67965"/>
          <a:stretch/>
        </p:blipFill>
        <p:spPr>
          <a:xfrm>
            <a:off x="11377829" y="11519"/>
            <a:ext cx="571476" cy="5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5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90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/>
          </p:cNvPicPr>
          <p:nvPr/>
        </p:nvPicPr>
        <p:blipFill rotWithShape="1">
          <a:blip r:embed="rId3"/>
          <a:srcRect l="-1" r="156" b="79277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748100" y="3772292"/>
            <a:ext cx="9443900" cy="308570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33000">
                <a:schemeClr val="bg1">
                  <a:lumMod val="95000"/>
                  <a:alpha val="67000"/>
                </a:schemeClr>
              </a:gs>
              <a:gs pos="66000">
                <a:schemeClr val="bg1">
                  <a:lumMod val="85000"/>
                  <a:alpha val="34000"/>
                </a:schemeClr>
              </a:gs>
              <a:gs pos="100000">
                <a:schemeClr val="bg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067" y="216174"/>
            <a:ext cx="2881494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59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9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/>
          </p:cNvPicPr>
          <p:nvPr userDrawn="1"/>
        </p:nvPicPr>
        <p:blipFill rotWithShape="1">
          <a:blip r:embed="rId3"/>
          <a:srcRect l="-1" r="156" b="79277"/>
          <a:stretch/>
        </p:blipFill>
        <p:spPr>
          <a:xfrm>
            <a:off x="0" y="682724"/>
            <a:ext cx="12192000" cy="1605600"/>
          </a:xfrm>
          <a:prstGeom prst="rect">
            <a:avLst/>
          </a:prstGeom>
        </p:spPr>
      </p:pic>
      <p:pic>
        <p:nvPicPr>
          <p:cNvPr id="8" name="图片 7"/>
          <p:cNvPicPr>
            <a:picLocks/>
          </p:cNvPicPr>
          <p:nvPr userDrawn="1"/>
        </p:nvPicPr>
        <p:blipFill rotWithShape="1">
          <a:blip r:embed="rId3"/>
          <a:srcRect r="117" b="79277"/>
          <a:stretch/>
        </p:blipFill>
        <p:spPr>
          <a:xfrm flipH="1">
            <a:off x="0" y="502725"/>
            <a:ext cx="12192000" cy="18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936" y="1456441"/>
            <a:ext cx="2501064" cy="81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940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1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90936" y="6040800"/>
            <a:ext cx="2501064" cy="817200"/>
          </a:xfrm>
          <a:prstGeom prst="rect">
            <a:avLst/>
          </a:prstGeom>
        </p:spPr>
      </p:pic>
      <p:pic>
        <p:nvPicPr>
          <p:cNvPr id="43" name="图片 42"/>
          <p:cNvPicPr>
            <a:picLocks/>
          </p:cNvPicPr>
          <p:nvPr/>
        </p:nvPicPr>
        <p:blipFill rotWithShape="1">
          <a:blip r:embed="rId4"/>
          <a:srcRect b="40414"/>
          <a:stretch/>
        </p:blipFill>
        <p:spPr>
          <a:xfrm>
            <a:off x="0" y="122329"/>
            <a:ext cx="12191484" cy="344488"/>
          </a:xfrm>
          <a:custGeom>
            <a:avLst/>
            <a:gdLst>
              <a:gd name="connsiteX0" fmla="*/ 11320859 w 11520000"/>
              <a:gd name="connsiteY0" fmla="*/ 268405 h 325509"/>
              <a:gd name="connsiteX1" fmla="*/ 11520000 w 11520000"/>
              <a:gd name="connsiteY1" fmla="*/ 268405 h 325509"/>
              <a:gd name="connsiteX2" fmla="*/ 11520000 w 11520000"/>
              <a:gd name="connsiteY2" fmla="*/ 325509 h 325509"/>
              <a:gd name="connsiteX3" fmla="*/ 11296840 w 11520000"/>
              <a:gd name="connsiteY3" fmla="*/ 325509 h 325509"/>
              <a:gd name="connsiteX4" fmla="*/ 11316728 w 11520000"/>
              <a:gd name="connsiteY4" fmla="*/ 288869 h 325509"/>
              <a:gd name="connsiteX5" fmla="*/ 0 w 11520000"/>
              <a:gd name="connsiteY5" fmla="*/ 268405 h 325509"/>
              <a:gd name="connsiteX6" fmla="*/ 10715519 w 11520000"/>
              <a:gd name="connsiteY6" fmla="*/ 268405 h 325509"/>
              <a:gd name="connsiteX7" fmla="*/ 10719650 w 11520000"/>
              <a:gd name="connsiteY7" fmla="*/ 288869 h 325509"/>
              <a:gd name="connsiteX8" fmla="*/ 10739538 w 11520000"/>
              <a:gd name="connsiteY8" fmla="*/ 325509 h 325509"/>
              <a:gd name="connsiteX9" fmla="*/ 0 w 11520000"/>
              <a:gd name="connsiteY9" fmla="*/ 325509 h 325509"/>
              <a:gd name="connsiteX10" fmla="*/ 11342049 w 11520000"/>
              <a:gd name="connsiteY10" fmla="*/ 163448 h 325509"/>
              <a:gd name="connsiteX11" fmla="*/ 11520000 w 11520000"/>
              <a:gd name="connsiteY11" fmla="*/ 163448 h 325509"/>
              <a:gd name="connsiteX12" fmla="*/ 11520000 w 11520000"/>
              <a:gd name="connsiteY12" fmla="*/ 218165 h 325509"/>
              <a:gd name="connsiteX13" fmla="*/ 11331002 w 11520000"/>
              <a:gd name="connsiteY13" fmla="*/ 218165 h 325509"/>
              <a:gd name="connsiteX14" fmla="*/ 0 w 11520000"/>
              <a:gd name="connsiteY14" fmla="*/ 163448 h 325509"/>
              <a:gd name="connsiteX15" fmla="*/ 10694329 w 11520000"/>
              <a:gd name="connsiteY15" fmla="*/ 163448 h 325509"/>
              <a:gd name="connsiteX16" fmla="*/ 10705376 w 11520000"/>
              <a:gd name="connsiteY16" fmla="*/ 218165 h 325509"/>
              <a:gd name="connsiteX17" fmla="*/ 0 w 11520000"/>
              <a:gd name="connsiteY17" fmla="*/ 218165 h 325509"/>
              <a:gd name="connsiteX18" fmla="*/ 11296841 w 11520000"/>
              <a:gd name="connsiteY18" fmla="*/ 0 h 325509"/>
              <a:gd name="connsiteX19" fmla="*/ 11520000 w 11520000"/>
              <a:gd name="connsiteY19" fmla="*/ 0 h 325509"/>
              <a:gd name="connsiteX20" fmla="*/ 11520000 w 11520000"/>
              <a:gd name="connsiteY20" fmla="*/ 113207 h 325509"/>
              <a:gd name="connsiteX21" fmla="*/ 11332186 w 11520000"/>
              <a:gd name="connsiteY21" fmla="*/ 113207 h 325509"/>
              <a:gd name="connsiteX22" fmla="*/ 11316728 w 11520000"/>
              <a:gd name="connsiteY22" fmla="*/ 36639 h 325509"/>
              <a:gd name="connsiteX23" fmla="*/ 0 w 11520000"/>
              <a:gd name="connsiteY23" fmla="*/ 0 h 325509"/>
              <a:gd name="connsiteX24" fmla="*/ 10739537 w 11520000"/>
              <a:gd name="connsiteY24" fmla="*/ 0 h 325509"/>
              <a:gd name="connsiteX25" fmla="*/ 10719650 w 11520000"/>
              <a:gd name="connsiteY25" fmla="*/ 36639 h 325509"/>
              <a:gd name="connsiteX26" fmla="*/ 10704192 w 11520000"/>
              <a:gd name="connsiteY26" fmla="*/ 113207 h 325509"/>
              <a:gd name="connsiteX27" fmla="*/ 0 w 11520000"/>
              <a:gd name="connsiteY27" fmla="*/ 113207 h 32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520000" h="325509">
                <a:moveTo>
                  <a:pt x="11320859" y="268405"/>
                </a:moveTo>
                <a:lnTo>
                  <a:pt x="11520000" y="268405"/>
                </a:lnTo>
                <a:lnTo>
                  <a:pt x="11520000" y="325509"/>
                </a:lnTo>
                <a:lnTo>
                  <a:pt x="11296840" y="325509"/>
                </a:lnTo>
                <a:lnTo>
                  <a:pt x="11316728" y="288869"/>
                </a:lnTo>
                <a:close/>
                <a:moveTo>
                  <a:pt x="0" y="268405"/>
                </a:moveTo>
                <a:lnTo>
                  <a:pt x="10715519" y="268405"/>
                </a:lnTo>
                <a:lnTo>
                  <a:pt x="10719650" y="288869"/>
                </a:lnTo>
                <a:lnTo>
                  <a:pt x="10739538" y="325509"/>
                </a:lnTo>
                <a:lnTo>
                  <a:pt x="0" y="325509"/>
                </a:lnTo>
                <a:close/>
                <a:moveTo>
                  <a:pt x="11342049" y="163448"/>
                </a:moveTo>
                <a:lnTo>
                  <a:pt x="11520000" y="163448"/>
                </a:lnTo>
                <a:lnTo>
                  <a:pt x="11520000" y="218165"/>
                </a:lnTo>
                <a:lnTo>
                  <a:pt x="11331002" y="218165"/>
                </a:lnTo>
                <a:close/>
                <a:moveTo>
                  <a:pt x="0" y="163448"/>
                </a:moveTo>
                <a:lnTo>
                  <a:pt x="10694329" y="163448"/>
                </a:lnTo>
                <a:lnTo>
                  <a:pt x="10705376" y="218165"/>
                </a:lnTo>
                <a:lnTo>
                  <a:pt x="0" y="218165"/>
                </a:lnTo>
                <a:close/>
                <a:moveTo>
                  <a:pt x="11296841" y="0"/>
                </a:moveTo>
                <a:lnTo>
                  <a:pt x="11520000" y="0"/>
                </a:lnTo>
                <a:lnTo>
                  <a:pt x="11520000" y="113207"/>
                </a:lnTo>
                <a:lnTo>
                  <a:pt x="11332186" y="113207"/>
                </a:lnTo>
                <a:lnTo>
                  <a:pt x="11316728" y="36639"/>
                </a:lnTo>
                <a:close/>
                <a:moveTo>
                  <a:pt x="0" y="0"/>
                </a:moveTo>
                <a:lnTo>
                  <a:pt x="10739537" y="0"/>
                </a:lnTo>
                <a:lnTo>
                  <a:pt x="10719650" y="36639"/>
                </a:lnTo>
                <a:lnTo>
                  <a:pt x="10704192" y="113207"/>
                </a:lnTo>
                <a:lnTo>
                  <a:pt x="0" y="113207"/>
                </a:lnTo>
                <a:close/>
              </a:path>
            </a:pathLst>
          </a:custGeom>
          <a:ln>
            <a:noFill/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/>
          <a:srcRect r="67965"/>
          <a:stretch/>
        </p:blipFill>
        <p:spPr>
          <a:xfrm>
            <a:off x="11383653" y="11519"/>
            <a:ext cx="571476" cy="5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6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5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/>
          </p:cNvPicPr>
          <p:nvPr/>
        </p:nvPicPr>
        <p:blipFill rotWithShape="1">
          <a:blip r:embed="rId3"/>
          <a:srcRect l="-1" r="156" b="79277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748100" y="3772292"/>
            <a:ext cx="9443900" cy="308570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33000">
                <a:schemeClr val="bg1">
                  <a:lumMod val="95000"/>
                  <a:alpha val="67000"/>
                </a:schemeClr>
              </a:gs>
              <a:gs pos="66000">
                <a:schemeClr val="bg1">
                  <a:lumMod val="85000"/>
                  <a:alpha val="34000"/>
                </a:schemeClr>
              </a:gs>
              <a:gs pos="100000">
                <a:schemeClr val="bg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60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7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11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9.wmf"/><Relationship Id="rId4" Type="http://schemas.openxmlformats.org/officeDocument/2006/relationships/image" Target="../media/image12.png"/><Relationship Id="rId9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5.bin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4.png"/><Relationship Id="rId4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8.png"/><Relationship Id="rId4" Type="http://schemas.openxmlformats.org/officeDocument/2006/relationships/image" Target="../media/image1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oleObject" Target="../embeddings/oleObject9.bin"/><Relationship Id="rId7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9.wmf"/><Relationship Id="rId9" Type="http://schemas.openxmlformats.org/officeDocument/2006/relationships/image" Target="../media/image2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slide" Target="slide15.xml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33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30.wmf"/><Relationship Id="rId1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2.wmf"/><Relationship Id="rId20" Type="http://schemas.openxmlformats.org/officeDocument/2006/relationships/image" Target="../media/image34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29.wmf"/><Relationship Id="rId19" Type="http://schemas.openxmlformats.org/officeDocument/2006/relationships/oleObject" Target="../embeddings/oleObject22.bin"/><Relationship Id="rId4" Type="http://schemas.openxmlformats.org/officeDocument/2006/relationships/image" Target="../media/image26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3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42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9.wmf"/><Relationship Id="rId1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1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4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3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7" Type="http://schemas.openxmlformats.org/officeDocument/2006/relationships/image" Target="../media/image4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3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oleObject" Target="../embeddings/oleObject34.bin"/><Relationship Id="rId7" Type="http://schemas.openxmlformats.org/officeDocument/2006/relationships/image" Target="../media/image5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48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image" Target="../media/image57.jpeg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56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0.jpg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5" Type="http://schemas.openxmlformats.org/officeDocument/2006/relationships/image" Target="../media/image59.jpg"/><Relationship Id="rId10" Type="http://schemas.openxmlformats.org/officeDocument/2006/relationships/image" Target="../media/image5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58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&#12304;&#22825;&#25165;&#23450;&#24459;&#12305;&#26377;&#20160;&#20040;&#38453;&#23481;&#33021;&#21644;&#36825;&#24352;&#29031;&#29255;&#30456;&#25552;&#24182;&#35770;&#21527;&#65311;&#36825;&#37324;&#38754;&#30340;&#20154;&#20320;&#35748;&#35782;&#20960;&#20010;&#65311;%5b1080P%5d.fl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as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626" r="12398"/>
          <a:stretch/>
        </p:blipFill>
        <p:spPr>
          <a:xfrm rot="16200000">
            <a:off x="3817214" y="-1525408"/>
            <a:ext cx="4557562" cy="12192001"/>
          </a:xfrm>
          <a:prstGeom prst="rect">
            <a:avLst/>
          </a:prstGeom>
        </p:spPr>
      </p:pic>
      <p:sp>
        <p:nvSpPr>
          <p:cNvPr id="6146" name="标题 1"/>
          <p:cNvSpPr>
            <a:spLocks noGrp="1"/>
          </p:cNvSpPr>
          <p:nvPr>
            <p:ph type="ctrTitle"/>
          </p:nvPr>
        </p:nvSpPr>
        <p:spPr>
          <a:xfrm>
            <a:off x="1155024" y="2041645"/>
            <a:ext cx="9881937" cy="2387600"/>
          </a:xfrm>
        </p:spPr>
        <p:txBody>
          <a:bodyPr anchor="ctr"/>
          <a:lstStyle/>
          <a:p>
            <a:pPr eaLnBrk="1" hangingPunct="1">
              <a:lnSpc>
                <a:spcPct val="125000"/>
              </a:lnSpc>
            </a:pPr>
            <a:r>
              <a:rPr lang="zh-CN" altLang="en-US" sz="88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近 代 物 理 学 选 讲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836915" y="4475980"/>
            <a:ext cx="2518154" cy="1754187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河北工业大学</a:t>
            </a:r>
            <a:endParaRPr lang="en-US" altLang="zh-CN" sz="2800" b="1" dirty="0" smtClean="0">
              <a:solidFill>
                <a:schemeClr val="tx1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应用物理系</a:t>
            </a:r>
            <a:endParaRPr lang="en-US" altLang="zh-CN" sz="2800" b="1" dirty="0" smtClean="0">
              <a:solidFill>
                <a:schemeClr val="tx1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张  辉</a:t>
            </a:r>
            <a:endParaRPr lang="en-US" altLang="zh-CN" sz="2800" b="1" dirty="0" smtClean="0">
              <a:solidFill>
                <a:schemeClr val="tx1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as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401" r="82217"/>
          <a:stretch/>
        </p:blipFill>
        <p:spPr>
          <a:xfrm rot="5400000">
            <a:off x="5850549" y="-5850556"/>
            <a:ext cx="490889" cy="121920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第七讲 量子力学初步</a:t>
            </a:r>
          </a:p>
        </p:txBody>
      </p:sp>
      <p:grpSp>
        <p:nvGrpSpPr>
          <p:cNvPr id="73731" name="组合 5"/>
          <p:cNvGrpSpPr>
            <a:grpSpLocks/>
          </p:cNvGrpSpPr>
          <p:nvPr/>
        </p:nvGrpSpPr>
        <p:grpSpPr bwMode="auto">
          <a:xfrm>
            <a:off x="588963" y="1609725"/>
            <a:ext cx="11014075" cy="4100513"/>
            <a:chOff x="1684592" y="2201227"/>
            <a:chExt cx="7530624" cy="2804160"/>
          </a:xfrm>
        </p:grpSpPr>
        <p:pic>
          <p:nvPicPr>
            <p:cNvPr id="73732" name="图片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6"/>
            <a:stretch>
              <a:fillRect/>
            </a:stretch>
          </p:blipFill>
          <p:spPr bwMode="auto">
            <a:xfrm>
              <a:off x="5313418" y="2201227"/>
              <a:ext cx="3901798" cy="280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33" name="图片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51"/>
            <a:stretch>
              <a:fillRect/>
            </a:stretch>
          </p:blipFill>
          <p:spPr bwMode="auto">
            <a:xfrm>
              <a:off x="1684592" y="2201227"/>
              <a:ext cx="3628826" cy="280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第七讲 量子力学初步</a:t>
            </a:r>
          </a:p>
        </p:txBody>
      </p:sp>
      <p:sp>
        <p:nvSpPr>
          <p:cNvPr id="74755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7.1 </a:t>
            </a: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物质的波粒二象性</a:t>
            </a:r>
            <a:endParaRPr lang="zh-CN" altLang="en-US" b="1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pic>
        <p:nvPicPr>
          <p:cNvPr id="74756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3" y="1722438"/>
            <a:ext cx="3937000" cy="216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4757" name="组合 3"/>
          <p:cNvGrpSpPr>
            <a:grpSpLocks/>
          </p:cNvGrpSpPr>
          <p:nvPr/>
        </p:nvGrpSpPr>
        <p:grpSpPr bwMode="auto">
          <a:xfrm>
            <a:off x="8113713" y="1325563"/>
            <a:ext cx="3094037" cy="5265403"/>
            <a:chOff x="8286083" y="1377296"/>
            <a:chExt cx="2838450" cy="4829947"/>
          </a:xfrm>
        </p:grpSpPr>
        <p:pic>
          <p:nvPicPr>
            <p:cNvPr id="74764" name="Picture 5" descr="https://timgsa.baidu.com/timg?image&amp;quality=80&amp;size=b9999_10000&amp;sec=1491025459840&amp;di=05bc24233fe0205d5e8e7c8417fa5d15&amp;imgtype=0&amp;src=http%3A%2F%2Fimgsrc.baidu.com%2Fbaike%2Fpic%2Fitem%2Fe824b899a9014c084106f2440a7b02087bf4f416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6083" y="1377296"/>
              <a:ext cx="2838450" cy="42005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765" name="矩形 2"/>
            <p:cNvSpPr>
              <a:spLocks noChangeArrowheads="1"/>
            </p:cNvSpPr>
            <p:nvPr/>
          </p:nvSpPr>
          <p:spPr bwMode="auto">
            <a:xfrm>
              <a:off x="8729427" y="5670830"/>
              <a:ext cx="1951760" cy="536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Louis Victor de Broglie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1892—1987</a:t>
              </a:r>
              <a:endParaRPr lang="zh-CN" altLang="en-US" sz="160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4758" name="文本框 4"/>
          <p:cNvSpPr txBox="1">
            <a:spLocks noChangeArrowheads="1"/>
          </p:cNvSpPr>
          <p:nvPr/>
        </p:nvSpPr>
        <p:spPr bwMode="auto">
          <a:xfrm>
            <a:off x="4768850" y="1722438"/>
            <a:ext cx="3344863" cy="133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与任何一个实物粒子相联系存在一列波。实物粒子的能量、动量与频率、波长有如下关系</a:t>
            </a:r>
          </a:p>
        </p:txBody>
      </p:sp>
      <p:graphicFrame>
        <p:nvGraphicFramePr>
          <p:cNvPr id="74759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4885962"/>
              </p:ext>
            </p:extLst>
          </p:nvPr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72" name="Equation" r:id="rId5" imgW="114102" imgH="177492" progId="Equation.DSMT4">
                  <p:embed/>
                </p:oleObj>
              </mc:Choice>
              <mc:Fallback>
                <p:oleObj name="Equation" r:id="rId5" imgW="114102" imgH="177492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4"/>
          <p:cNvSpPr txBox="1">
            <a:spLocks noChangeArrowheads="1"/>
          </p:cNvSpPr>
          <p:nvPr/>
        </p:nvSpPr>
        <p:spPr bwMode="auto">
          <a:xfrm>
            <a:off x="5187368" y="3157493"/>
            <a:ext cx="2507825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E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h</a:t>
            </a:r>
            <a:r>
              <a:rPr lang="el-GR" altLang="zh-CN" sz="24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ν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ħ</a:t>
            </a:r>
            <a:r>
              <a:rPr lang="el-GR" altLang="zh-CN" sz="24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  p=h/</a:t>
            </a:r>
            <a:r>
              <a:rPr lang="el-GR" altLang="zh-CN" sz="24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λ</a:t>
            </a:r>
            <a:endParaRPr lang="zh-CN" altLang="en-US" sz="2400" b="1" i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870044"/>
              </p:ext>
            </p:extLst>
          </p:nvPr>
        </p:nvGraphicFramePr>
        <p:xfrm>
          <a:off x="5416550" y="3854450"/>
          <a:ext cx="1473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73" name="Equation" r:id="rId7" imgW="1473120" imgH="799920" progId="Equation.DSMT4">
                  <p:embed/>
                </p:oleObj>
              </mc:Choice>
              <mc:Fallback>
                <p:oleObj name="Equation" r:id="rId7" imgW="1473120" imgH="79992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16550" y="3854450"/>
                        <a:ext cx="14732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4"/>
          <p:cNvSpPr txBox="1">
            <a:spLocks noChangeArrowheads="1"/>
          </p:cNvSpPr>
          <p:nvPr/>
        </p:nvSpPr>
        <p:spPr bwMode="auto">
          <a:xfrm>
            <a:off x="916076" y="4430668"/>
            <a:ext cx="1625769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18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当</a:t>
            </a:r>
            <a:r>
              <a:rPr lang="en-US" altLang="zh-CN" sz="2200" b="1" dirty="0" err="1" smtClean="0">
                <a:latin typeface="HGB2X_CNKI" panose="02000500000000000000" pitchFamily="2" charset="-122"/>
                <a:ea typeface="HGB2X_CNKI" panose="02000500000000000000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200" b="1" i="1" dirty="0" err="1" smtClean="0">
                <a:latin typeface="Times New Roman" panose="02020603050405020304" pitchFamily="18" charset="0"/>
                <a:ea typeface="HGB2X_CNKI" panose="02000500000000000000" pitchFamily="2" charset="-122"/>
                <a:cs typeface="Times New Roman" panose="02020603050405020304" pitchFamily="18" charset="0"/>
              </a:rPr>
              <a:t>~c</a:t>
            </a:r>
            <a:r>
              <a:rPr lang="zh-CN" altLang="en-US" sz="1800" b="1" dirty="0" smtClean="0">
                <a:latin typeface="方正新书宋简体" panose="03000509000000000000" pitchFamily="65" charset="-122"/>
                <a:ea typeface="方正新书宋简体" panose="03000509000000000000" pitchFamily="65" charset="-122"/>
                <a:cs typeface="Times New Roman" panose="02020603050405020304" pitchFamily="18" charset="0"/>
              </a:rPr>
              <a:t>时</a:t>
            </a:r>
            <a:r>
              <a:rPr lang="zh-CN" altLang="en-US" sz="2200" b="1" dirty="0" smtClean="0">
                <a:latin typeface="HGB2X_CNKI" panose="02000500000000000000" pitchFamily="2" charset="-122"/>
                <a:ea typeface="HGB2X_CNKI" panose="02000500000000000000" pitchFamily="2" charset="-122"/>
                <a:cs typeface="Times New Roman" panose="02020603050405020304" pitchFamily="18" charset="0"/>
              </a:rPr>
              <a:t>，</a:t>
            </a:r>
            <a:endParaRPr lang="zh-CN" altLang="en-US" sz="2200" b="1" dirty="0">
              <a:latin typeface="HGB2X_CNKI" panose="02000500000000000000" pitchFamily="2" charset="-122"/>
              <a:ea typeface="HGB2X_CNKI" panose="02000500000000000000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167811"/>
              </p:ext>
            </p:extLst>
          </p:nvPr>
        </p:nvGraphicFramePr>
        <p:xfrm>
          <a:off x="2508250" y="4286250"/>
          <a:ext cx="1955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74" name="Equation" r:id="rId9" imgW="1955520" imgH="888840" progId="Equation.DSMT4">
                  <p:embed/>
                </p:oleObj>
              </mc:Choice>
              <mc:Fallback>
                <p:oleObj name="Equation" r:id="rId9" imgW="1955520" imgH="888840" progId="Equation.DSMT4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08250" y="4286250"/>
                        <a:ext cx="19558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4"/>
          <p:cNvSpPr txBox="1">
            <a:spLocks noChangeArrowheads="1"/>
          </p:cNvSpPr>
          <p:nvPr/>
        </p:nvSpPr>
        <p:spPr bwMode="auto">
          <a:xfrm>
            <a:off x="916076" y="5433177"/>
            <a:ext cx="2613407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18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当</a:t>
            </a:r>
            <a:r>
              <a:rPr lang="en-US" altLang="zh-CN" sz="2200" b="1" dirty="0" smtClean="0">
                <a:latin typeface="HGB2X_CNKI" panose="02000500000000000000" pitchFamily="2" charset="-122"/>
                <a:ea typeface="HGB2X_CNKI" panose="02000500000000000000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≪</a:t>
            </a:r>
            <a:r>
              <a:rPr lang="en-US" altLang="zh-CN" sz="2200" b="1" i="1" dirty="0" smtClean="0">
                <a:latin typeface="Times New Roman" panose="02020603050405020304" pitchFamily="18" charset="0"/>
                <a:ea typeface="HGB2X_CNKI" panose="02000500000000000000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1800" b="1" dirty="0" smtClean="0">
                <a:latin typeface="方正新书宋简体" panose="03000509000000000000" pitchFamily="65" charset="-122"/>
                <a:ea typeface="方正新书宋简体" panose="03000509000000000000" pitchFamily="65" charset="-122"/>
                <a:cs typeface="Times New Roman" panose="02020603050405020304" pitchFamily="18" charset="0"/>
              </a:rPr>
              <a:t>时</a:t>
            </a:r>
            <a:r>
              <a:rPr lang="zh-CN" altLang="en-US" sz="2200" b="1" dirty="0" smtClean="0">
                <a:latin typeface="HGB2X_CNKI" panose="02000500000000000000" pitchFamily="2" charset="-122"/>
                <a:ea typeface="HGB2X_CNKI" panose="02000500000000000000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200" b="1" i="1" dirty="0" smtClean="0">
                <a:latin typeface="Times New Roman" panose="02020603050405020304" pitchFamily="18" charset="0"/>
                <a:ea typeface="HGB2X_CNKI" panose="02000500000000000000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200" b="1" dirty="0" smtClean="0">
                <a:latin typeface="Times New Roman" panose="02020603050405020304" pitchFamily="18" charset="0"/>
                <a:ea typeface="HGB2X_CNKI" panose="02000500000000000000" pitchFamily="2" charset="-122"/>
                <a:cs typeface="Times New Roman" panose="02020603050405020304" pitchFamily="18" charset="0"/>
              </a:rPr>
              <a:t>≈</a:t>
            </a:r>
            <a:r>
              <a:rPr lang="en-US" altLang="zh-CN" sz="2200" b="1" i="1" dirty="0" smtClean="0">
                <a:latin typeface="Times New Roman" panose="02020603050405020304" pitchFamily="18" charset="0"/>
                <a:ea typeface="HGB2X_CNKI" panose="02000500000000000000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200" b="1" baseline="-25000" dirty="0">
                <a:latin typeface="Times New Roman" panose="02020603050405020304" pitchFamily="18" charset="0"/>
                <a:ea typeface="HGB2X_CNKI" panose="02000500000000000000" pitchFamily="2" charset="-122"/>
                <a:cs typeface="Times New Roman" panose="02020603050405020304" pitchFamily="18" charset="0"/>
              </a:rPr>
              <a:t>0</a:t>
            </a:r>
            <a:endParaRPr lang="zh-CN" altLang="en-US" sz="2200" b="1" baseline="-25000" dirty="0">
              <a:latin typeface="HGB2X_CNKI" panose="02000500000000000000" pitchFamily="2" charset="-122"/>
              <a:ea typeface="HGB2X_CNKI" panose="02000500000000000000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857567"/>
              </p:ext>
            </p:extLst>
          </p:nvPr>
        </p:nvGraphicFramePr>
        <p:xfrm>
          <a:off x="3548063" y="5365750"/>
          <a:ext cx="876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75" name="Equation" r:id="rId11" imgW="876240" imgH="736560" progId="Equation.DSMT4">
                  <p:embed/>
                </p:oleObj>
              </mc:Choice>
              <mc:Fallback>
                <p:oleObj name="Equation" r:id="rId11" imgW="876240" imgH="736560" progId="Equation.DSMT4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48063" y="5365750"/>
                        <a:ext cx="876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4"/>
          <p:cNvSpPr txBox="1">
            <a:spLocks noChangeArrowheads="1"/>
          </p:cNvSpPr>
          <p:nvPr/>
        </p:nvSpPr>
        <p:spPr bwMode="auto">
          <a:xfrm>
            <a:off x="4902271" y="5504222"/>
            <a:ext cx="3344863" cy="458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非相对论（</a:t>
            </a:r>
            <a:r>
              <a:rPr lang="en-US" altLang="zh-CN" sz="18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U</a:t>
            </a:r>
            <a:r>
              <a:rPr lang="zh-CN" altLang="en-US" sz="18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不能太大）</a:t>
            </a:r>
            <a:endParaRPr lang="zh-CN" altLang="en-US" sz="18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8" grpId="0"/>
      <p:bldP spid="17" grpId="0"/>
      <p:bldP spid="19" grpId="0"/>
      <p:bldP spid="21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第七讲 量子力学初步</a:t>
            </a:r>
          </a:p>
        </p:txBody>
      </p:sp>
      <p:sp>
        <p:nvSpPr>
          <p:cNvPr id="75779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7.2 </a:t>
            </a: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不确定关系</a:t>
            </a:r>
            <a:endParaRPr lang="zh-CN" altLang="en-US" b="1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graphicFrame>
        <p:nvGraphicFramePr>
          <p:cNvPr id="75780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895088"/>
              </p:ext>
            </p:extLst>
          </p:nvPr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019"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8188325" y="1244600"/>
            <a:ext cx="3116263" cy="5286273"/>
            <a:chOff x="8188089" y="1245107"/>
            <a:chExt cx="3116519" cy="5285438"/>
          </a:xfrm>
        </p:grpSpPr>
        <p:pic>
          <p:nvPicPr>
            <p:cNvPr id="75785" name="图片 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8089" y="1245107"/>
              <a:ext cx="3116519" cy="460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786" name="矩形 4"/>
            <p:cNvSpPr>
              <a:spLocks noChangeArrowheads="1"/>
            </p:cNvSpPr>
            <p:nvPr/>
          </p:nvSpPr>
          <p:spPr bwMode="auto">
            <a:xfrm>
              <a:off x="8431264" y="5884316"/>
              <a:ext cx="2630168" cy="646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Werner Karl Heisenberg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1901~1976</a:t>
              </a:r>
              <a:endParaRPr lang="zh-CN" altLang="en-US" sz="18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350020"/>
              </p:ext>
            </p:extLst>
          </p:nvPr>
        </p:nvGraphicFramePr>
        <p:xfrm>
          <a:off x="6367622" y="2716233"/>
          <a:ext cx="1320480" cy="142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020" name="Equation" r:id="rId6" imgW="1320480" imgH="1422360" progId="Equation.DSMT4">
                  <p:embed/>
                </p:oleObj>
              </mc:Choice>
              <mc:Fallback>
                <p:oleObj name="Equation" r:id="rId6" imgW="1320480" imgH="142236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7622" y="2716233"/>
                        <a:ext cx="1320480" cy="1422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931863" y="5383213"/>
            <a:ext cx="71501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一个微观粒子的某些物理量（如位置和动量，或方位角与动量矩，还有时间和能量等），不可能同时具有确定的数值，其中一个量越确定，另一个量的不确定程度就越大。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719" y="1608138"/>
            <a:ext cx="5880100" cy="3638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第七讲 量子力学初步</a:t>
            </a:r>
          </a:p>
        </p:txBody>
      </p:sp>
      <p:sp>
        <p:nvSpPr>
          <p:cNvPr id="76803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7.3 </a:t>
            </a: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波函数及其物理意义</a:t>
            </a:r>
            <a:endParaRPr lang="zh-CN" altLang="en-US" b="1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252016"/>
              </p:ext>
            </p:extLst>
          </p:nvPr>
        </p:nvGraphicFramePr>
        <p:xfrm>
          <a:off x="1897063" y="1812925"/>
          <a:ext cx="2590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75" name="Equation" r:id="rId3" imgW="2590560" imgH="482400" progId="Equation.DSMT4">
                  <p:embed/>
                </p:oleObj>
              </mc:Choice>
              <mc:Fallback>
                <p:oleObj name="Equation" r:id="rId3" imgW="2590560" imgH="4824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7063" y="1812925"/>
                        <a:ext cx="2590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931863" y="3411538"/>
            <a:ext cx="71501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波函数所满足的条件</a:t>
            </a:r>
          </a:p>
        </p:txBody>
      </p: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8315325" y="1503363"/>
            <a:ext cx="3116263" cy="4529137"/>
            <a:chOff x="7181850" y="1230313"/>
            <a:chExt cx="3714750" cy="5396164"/>
          </a:xfrm>
        </p:grpSpPr>
        <p:pic>
          <p:nvPicPr>
            <p:cNvPr id="76811" name="图片 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81850" y="1230313"/>
              <a:ext cx="3714750" cy="457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12" name="矩形 5"/>
            <p:cNvSpPr>
              <a:spLocks noChangeArrowheads="1"/>
            </p:cNvSpPr>
            <p:nvPr/>
          </p:nvSpPr>
          <p:spPr bwMode="auto">
            <a:xfrm>
              <a:off x="8240573" y="5856288"/>
              <a:ext cx="1597303" cy="770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Max Born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1882</a:t>
              </a:r>
              <a:r>
                <a:rPr lang="zh-CN" altLang="en-US" sz="1800" b="1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～</a:t>
              </a:r>
              <a:r>
                <a:rPr lang="en-US" altLang="zh-CN" sz="1800" b="1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1970</a:t>
              </a:r>
              <a:endParaRPr lang="zh-CN" altLang="en-US" sz="18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931863" y="2406650"/>
            <a:ext cx="6783387" cy="101441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波函数模的平方代表某时刻</a:t>
            </a: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t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在空间某点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x,y,z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附近单位体积内发现粒子的概率，即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|</a:t>
            </a: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Ψ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| </a:t>
            </a:r>
            <a:r>
              <a:rPr lang="en-US" altLang="zh-CN" sz="2000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 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代表概率密度。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931863" y="3908425"/>
            <a:ext cx="60960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单值：在任何一点，几率只能有一个值。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连续：几率一般不发生突变。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有限：几率不能无限大。</a:t>
            </a:r>
          </a:p>
        </p:txBody>
      </p:sp>
      <p:sp>
        <p:nvSpPr>
          <p:cNvPr id="14" name="矩形 13"/>
          <p:cNvSpPr/>
          <p:nvPr/>
        </p:nvSpPr>
        <p:spPr>
          <a:xfrm>
            <a:off x="931863" y="5402263"/>
            <a:ext cx="7075487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归一化条件：由于粒子总在空间某处出现，故在整个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空间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出现的总几率应当为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：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548379"/>
              </p:ext>
            </p:extLst>
          </p:nvPr>
        </p:nvGraphicFramePr>
        <p:xfrm>
          <a:off x="5227638" y="6013450"/>
          <a:ext cx="2717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76" name="Equation" r:id="rId6" imgW="2717640" imgH="533160" progId="Equation.DSMT4">
                  <p:embed/>
                </p:oleObj>
              </mc:Choice>
              <mc:Fallback>
                <p:oleObj name="Equation" r:id="rId6" imgW="2717640" imgH="5331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7638" y="6013450"/>
                        <a:ext cx="2717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第七讲 量子力学初步</a:t>
            </a:r>
          </a:p>
        </p:txBody>
      </p:sp>
      <p:sp>
        <p:nvSpPr>
          <p:cNvPr id="77827" name="内容占位符 2"/>
          <p:cNvSpPr txBox="1">
            <a:spLocks/>
          </p:cNvSpPr>
          <p:nvPr/>
        </p:nvSpPr>
        <p:spPr bwMode="auto">
          <a:xfrm>
            <a:off x="335431" y="1297669"/>
            <a:ext cx="283610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7.4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薛定谔波动方程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graphicFrame>
        <p:nvGraphicFramePr>
          <p:cNvPr id="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6305223"/>
              </p:ext>
            </p:extLst>
          </p:nvPr>
        </p:nvGraphicFramePr>
        <p:xfrm>
          <a:off x="1659078" y="2173969"/>
          <a:ext cx="3683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051" name="Equation" r:id="rId3" imgW="3682800" imgH="850680" progId="Equation.DSMT4">
                  <p:embed/>
                </p:oleObj>
              </mc:Choice>
              <mc:Fallback>
                <p:oleObj name="Equation" r:id="rId3" imgW="3682800" imgH="8506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9078" y="2173969"/>
                        <a:ext cx="3683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006734"/>
              </p:ext>
            </p:extLst>
          </p:nvPr>
        </p:nvGraphicFramePr>
        <p:xfrm>
          <a:off x="1007027" y="3398602"/>
          <a:ext cx="5219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052" name="Equation" r:id="rId5" imgW="5219640" imgH="901440" progId="Equation.DSMT4">
                  <p:embed/>
                </p:oleObj>
              </mc:Choice>
              <mc:Fallback>
                <p:oleObj name="Equation" r:id="rId5" imgW="5219640" imgH="9014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7027" y="3398602"/>
                        <a:ext cx="52197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639884" y="1762590"/>
            <a:ext cx="2749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自由粒子的薛定谔方程</a:t>
            </a:r>
          </a:p>
        </p:txBody>
      </p:sp>
      <p:sp>
        <p:nvSpPr>
          <p:cNvPr id="19" name="文本框 18"/>
          <p:cNvSpPr txBox="1">
            <a:spLocks noChangeArrowheads="1"/>
          </p:cNvSpPr>
          <p:nvPr/>
        </p:nvSpPr>
        <p:spPr bwMode="auto">
          <a:xfrm>
            <a:off x="639884" y="3044170"/>
            <a:ext cx="2765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一般粒子的薛定谔方程</a:t>
            </a:r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6709055" y="665148"/>
            <a:ext cx="5233987" cy="5051453"/>
            <a:chOff x="6377448" y="1503363"/>
            <a:chExt cx="5233675" cy="5051671"/>
          </a:xfrm>
        </p:grpSpPr>
        <p:pic>
          <p:nvPicPr>
            <p:cNvPr id="77833" name="Picture 5" descr="https://timgsa.baidu.com/timg?image&amp;quality=80&amp;size=b9999_10000&amp;sec=1491330571062&amp;di=771202487a9db9156423b382783961ce&amp;imgtype=0&amp;src=http%3A%2F%2Fphoto.hanyu.iciba.com%2Fupload%2Fencyclopedia_2%2F16%2F36%2Fbk_1636fd428c54efecdeb52e016e1eebac_IXrbFp.jp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7448" y="1503363"/>
              <a:ext cx="5233675" cy="4260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834" name="矩形 6"/>
            <p:cNvSpPr>
              <a:spLocks noChangeArrowheads="1"/>
            </p:cNvSpPr>
            <p:nvPr/>
          </p:nvSpPr>
          <p:spPr bwMode="auto">
            <a:xfrm>
              <a:off x="7956242" y="5908675"/>
              <a:ext cx="2076086" cy="646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Erwin Schrödinger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1887~1961</a:t>
              </a:r>
              <a:endParaRPr lang="zh-CN" altLang="en-US" sz="18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4054830"/>
              </p:ext>
            </p:extLst>
          </p:nvPr>
        </p:nvGraphicFramePr>
        <p:xfrm>
          <a:off x="914365" y="4769015"/>
          <a:ext cx="43942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053" name="Equation" r:id="rId8" imgW="4394160" imgH="1765080" progId="Equation.DSMT4">
                  <p:embed/>
                </p:oleObj>
              </mc:Choice>
              <mc:Fallback>
                <p:oleObj name="Equation" r:id="rId8" imgW="4394160" imgH="1765080" progId="Equation.DSMT4">
                  <p:embed/>
                  <p:pic>
                    <p:nvPicPr>
                      <p:cNvPr id="1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365" y="4769015"/>
                        <a:ext cx="4394200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639884" y="4368905"/>
            <a:ext cx="2249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当体系不显含时间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5425260" y="5316491"/>
            <a:ext cx="19912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定态薛定谔方程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第七讲 量子力学初步</a:t>
            </a:r>
          </a:p>
        </p:txBody>
      </p:sp>
      <p:sp>
        <p:nvSpPr>
          <p:cNvPr id="78851" name="内容占位符 2"/>
          <p:cNvSpPr txBox="1">
            <a:spLocks/>
          </p:cNvSpPr>
          <p:nvPr/>
        </p:nvSpPr>
        <p:spPr bwMode="auto">
          <a:xfrm>
            <a:off x="1298576" y="1284288"/>
            <a:ext cx="367099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态叠加原理和薛定谔的猫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pic>
        <p:nvPicPr>
          <p:cNvPr id="2" name="图片 1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29" r="21323"/>
          <a:stretch>
            <a:fillRect/>
          </a:stretch>
        </p:blipFill>
        <p:spPr bwMode="auto">
          <a:xfrm>
            <a:off x="8569325" y="1970088"/>
            <a:ext cx="2976563" cy="347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1297931" y="1684718"/>
            <a:ext cx="6345882" cy="1569660"/>
            <a:chOff x="1297931" y="1684718"/>
            <a:chExt cx="6345882" cy="1569660"/>
          </a:xfrm>
        </p:grpSpPr>
        <p:sp>
          <p:nvSpPr>
            <p:cNvPr id="78857" name="矩形 17"/>
            <p:cNvSpPr>
              <a:spLocks noChangeArrowheads="1"/>
            </p:cNvSpPr>
            <p:nvPr/>
          </p:nvSpPr>
          <p:spPr bwMode="auto">
            <a:xfrm>
              <a:off x="1297931" y="1684718"/>
              <a:ext cx="5566332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如果</a:t>
              </a:r>
              <a:r>
                <a:rPr lang="el-GR" altLang="zh-CN" sz="2200" b="1" i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Ψ</a:t>
              </a:r>
              <a:r>
                <a:rPr lang="en-US" altLang="zh-CN" sz="2200" b="1" baseline="-25000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2200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、</a:t>
              </a:r>
              <a:r>
                <a:rPr lang="el-GR" altLang="zh-CN" sz="2200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 </a:t>
              </a:r>
              <a:r>
                <a:rPr lang="el-GR" altLang="zh-CN" sz="2200" b="1" i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Ψ</a:t>
              </a:r>
              <a:r>
                <a:rPr lang="en-US" altLang="zh-CN" sz="2200" b="1" baseline="-25000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2</a:t>
              </a:r>
              <a:r>
                <a:rPr lang="zh-CN" altLang="en-US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是</a:t>
              </a:r>
              <a:r>
                <a: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方程的解，那么</a:t>
              </a:r>
              <a:r>
                <a:rPr lang="zh-CN" altLang="en-US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它们的线性组合</a:t>
              </a:r>
              <a:endPara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也</a:t>
              </a:r>
              <a:r>
                <a: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是方程的解</a:t>
              </a:r>
              <a:r>
                <a:rPr lang="zh-CN" altLang="en-US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2200" b="1" i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c</a:t>
              </a:r>
              <a:r>
                <a:rPr lang="en-US" altLang="zh-CN" sz="2200" b="1" i="1" baseline="-25000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i</a:t>
              </a:r>
              <a:r>
                <a:rPr lang="zh-CN" altLang="en-US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为</a:t>
              </a:r>
              <a:r>
                <a: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任意常数。</a:t>
              </a:r>
            </a:p>
          </p:txBody>
        </p:sp>
        <p:graphicFrame>
          <p:nvGraphicFramePr>
            <p:cNvPr id="15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4917486"/>
                </p:ext>
              </p:extLst>
            </p:nvPr>
          </p:nvGraphicFramePr>
          <p:xfrm>
            <a:off x="3033713" y="2227263"/>
            <a:ext cx="46101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4280" name="Equation" r:id="rId5" imgW="4609800" imgH="622080" progId="Equation.DSMT4">
                    <p:embed/>
                  </p:oleObj>
                </mc:Choice>
                <mc:Fallback>
                  <p:oleObj name="Equation" r:id="rId5" imgW="4609800" imgH="622080" progId="Equation.DSMT4">
                    <p:embed/>
                    <p:pic>
                      <p:nvPicPr>
                        <p:cNvPr id="16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3713" y="2227263"/>
                          <a:ext cx="4610100" cy="622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/>
          <p:nvPr/>
        </p:nvGrpSpPr>
        <p:grpSpPr>
          <a:xfrm>
            <a:off x="1297931" y="3404704"/>
            <a:ext cx="6345882" cy="1569660"/>
            <a:chOff x="1297931" y="1684718"/>
            <a:chExt cx="6345882" cy="1569660"/>
          </a:xfrm>
        </p:grpSpPr>
        <p:sp>
          <p:nvSpPr>
            <p:cNvPr id="18" name="矩形 17"/>
            <p:cNvSpPr>
              <a:spLocks noChangeArrowheads="1"/>
            </p:cNvSpPr>
            <p:nvPr/>
          </p:nvSpPr>
          <p:spPr bwMode="auto">
            <a:xfrm>
              <a:off x="1297931" y="1684718"/>
              <a:ext cx="6142994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如果</a:t>
              </a:r>
              <a:r>
                <a:rPr lang="el-GR" altLang="zh-CN" sz="2200" b="1" i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Ψ</a:t>
              </a:r>
              <a:r>
                <a:rPr lang="en-US" altLang="zh-CN" sz="2200" b="1" baseline="-25000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2200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、</a:t>
              </a:r>
              <a:r>
                <a:rPr lang="el-GR" altLang="zh-CN" sz="2200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 </a:t>
              </a:r>
              <a:r>
                <a:rPr lang="el-GR" altLang="zh-CN" sz="2200" b="1" i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Ψ</a:t>
              </a:r>
              <a:r>
                <a:rPr lang="en-US" altLang="zh-CN" sz="2200" b="1" baseline="-25000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2</a:t>
              </a:r>
              <a:r>
                <a:rPr lang="zh-CN" altLang="en-US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体系可能的状态，</a:t>
              </a:r>
              <a:r>
                <a: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那么</a:t>
              </a:r>
              <a:r>
                <a:rPr lang="zh-CN" altLang="en-US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它们的线性组合</a:t>
              </a:r>
              <a:endPara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也是体系一个可能的状态。</a:t>
              </a:r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9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5182275"/>
                </p:ext>
              </p:extLst>
            </p:nvPr>
          </p:nvGraphicFramePr>
          <p:xfrm>
            <a:off x="3033713" y="2228127"/>
            <a:ext cx="46101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4281" name="Equation" r:id="rId7" imgW="4609800" imgH="622080" progId="Equation.DSMT4">
                    <p:embed/>
                  </p:oleObj>
                </mc:Choice>
                <mc:Fallback>
                  <p:oleObj name="Equation" r:id="rId7" imgW="4609800" imgH="622080" progId="Equation.DSMT4">
                    <p:embed/>
                    <p:pic>
                      <p:nvPicPr>
                        <p:cNvPr id="15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3713" y="2228127"/>
                          <a:ext cx="4610100" cy="622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第七讲 量子力学初步</a:t>
            </a:r>
          </a:p>
        </p:txBody>
      </p:sp>
      <p:sp>
        <p:nvSpPr>
          <p:cNvPr id="81923" name="内容占位符 2"/>
          <p:cNvSpPr txBox="1">
            <a:spLocks/>
          </p:cNvSpPr>
          <p:nvPr/>
        </p:nvSpPr>
        <p:spPr bwMode="auto">
          <a:xfrm>
            <a:off x="335431" y="1282701"/>
            <a:ext cx="335293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7.5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力学量的算符表示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81924" name="文本框 1"/>
          <p:cNvSpPr txBox="1">
            <a:spLocks noChangeArrowheads="1"/>
          </p:cNvSpPr>
          <p:nvPr/>
        </p:nvSpPr>
        <p:spPr bwMode="auto">
          <a:xfrm>
            <a:off x="661988" y="1721644"/>
            <a:ext cx="6121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量子力学中描述系统的每一个力学量对应一个算符。</a:t>
            </a:r>
          </a:p>
        </p:txBody>
      </p:sp>
      <p:sp>
        <p:nvSpPr>
          <p:cNvPr id="81925" name="文本框 3"/>
          <p:cNvSpPr txBox="1">
            <a:spLocks noChangeArrowheads="1"/>
          </p:cNvSpPr>
          <p:nvPr/>
        </p:nvSpPr>
        <p:spPr bwMode="auto">
          <a:xfrm>
            <a:off x="619125" y="2268538"/>
            <a:ext cx="1217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动量算符</a:t>
            </a:r>
          </a:p>
        </p:txBody>
      </p:sp>
      <p:graphicFrame>
        <p:nvGraphicFramePr>
          <p:cNvPr id="81926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560512"/>
              </p:ext>
            </p:extLst>
          </p:nvPr>
        </p:nvGraphicFramePr>
        <p:xfrm>
          <a:off x="1944688" y="2284413"/>
          <a:ext cx="1257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176" name="Equation" r:id="rId3" imgW="1257120" imgH="368280" progId="Equation.DSMT4">
                  <p:embed/>
                </p:oleObj>
              </mc:Choice>
              <mc:Fallback>
                <p:oleObj name="Equation" r:id="rId3" imgW="1257120" imgH="36828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8" y="2284413"/>
                        <a:ext cx="12573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文本框 10"/>
          <p:cNvSpPr txBox="1">
            <a:spLocks noChangeArrowheads="1"/>
          </p:cNvSpPr>
          <p:nvPr/>
        </p:nvSpPr>
        <p:spPr bwMode="auto">
          <a:xfrm>
            <a:off x="3693354" y="2251708"/>
            <a:ext cx="1733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动量分量算符</a:t>
            </a:r>
          </a:p>
        </p:txBody>
      </p:sp>
      <p:graphicFrame>
        <p:nvGraphicFramePr>
          <p:cNvPr id="81928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890691"/>
              </p:ext>
            </p:extLst>
          </p:nvPr>
        </p:nvGraphicFramePr>
        <p:xfrm>
          <a:off x="5514216" y="2051683"/>
          <a:ext cx="29591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177" name="Equation" r:id="rId5" imgW="2958840" imgH="799920" progId="Equation.DSMT4">
                  <p:embed/>
                </p:oleObj>
              </mc:Choice>
              <mc:Fallback>
                <p:oleObj name="Equation" r:id="rId5" imgW="2958840" imgH="79992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4216" y="2051683"/>
                        <a:ext cx="29591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9" name="文本框 12"/>
          <p:cNvSpPr txBox="1">
            <a:spLocks noChangeArrowheads="1"/>
          </p:cNvSpPr>
          <p:nvPr/>
        </p:nvSpPr>
        <p:spPr bwMode="auto">
          <a:xfrm>
            <a:off x="604838" y="2854958"/>
            <a:ext cx="1733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动量平方算符</a:t>
            </a:r>
          </a:p>
        </p:txBody>
      </p:sp>
      <p:graphicFrame>
        <p:nvGraphicFramePr>
          <p:cNvPr id="81930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360981"/>
              </p:ext>
            </p:extLst>
          </p:nvPr>
        </p:nvGraphicFramePr>
        <p:xfrm>
          <a:off x="2268538" y="2851783"/>
          <a:ext cx="1485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178" name="Equation" r:id="rId7" imgW="1485720" imgH="406080" progId="Equation.DSMT4">
                  <p:embed/>
                </p:oleObj>
              </mc:Choice>
              <mc:Fallback>
                <p:oleObj name="Equation" r:id="rId7" imgW="1485720" imgH="40608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851783"/>
                        <a:ext cx="1485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1" name="文本框 14"/>
          <p:cNvSpPr txBox="1">
            <a:spLocks noChangeArrowheads="1"/>
          </p:cNvSpPr>
          <p:nvPr/>
        </p:nvSpPr>
        <p:spPr bwMode="auto">
          <a:xfrm>
            <a:off x="665991" y="3538377"/>
            <a:ext cx="1216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能量算符</a:t>
            </a:r>
          </a:p>
        </p:txBody>
      </p:sp>
      <p:graphicFrame>
        <p:nvGraphicFramePr>
          <p:cNvPr id="81932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1855263"/>
              </p:ext>
            </p:extLst>
          </p:nvPr>
        </p:nvGraphicFramePr>
        <p:xfrm>
          <a:off x="1883604" y="3319302"/>
          <a:ext cx="2603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179" name="Equation" r:id="rId9" imgW="2603160" imgH="838080" progId="Equation.DSMT4">
                  <p:embed/>
                </p:oleObj>
              </mc:Choice>
              <mc:Fallback>
                <p:oleObj name="Equation" r:id="rId9" imgW="2603160" imgH="838080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3604" y="3319302"/>
                        <a:ext cx="2603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3" name="文本框 16"/>
          <p:cNvSpPr txBox="1">
            <a:spLocks noChangeArrowheads="1"/>
          </p:cNvSpPr>
          <p:nvPr/>
        </p:nvSpPr>
        <p:spPr bwMode="auto">
          <a:xfrm>
            <a:off x="665991" y="4234496"/>
            <a:ext cx="14747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角动量算符</a:t>
            </a:r>
          </a:p>
        </p:txBody>
      </p:sp>
      <p:graphicFrame>
        <p:nvGraphicFramePr>
          <p:cNvPr id="81934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307547"/>
              </p:ext>
            </p:extLst>
          </p:nvPr>
        </p:nvGraphicFramePr>
        <p:xfrm>
          <a:off x="2169353" y="4218621"/>
          <a:ext cx="1143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180" name="Equation" r:id="rId11" imgW="1143000" imgH="431640" progId="Equation.DSMT4">
                  <p:embed/>
                </p:oleObj>
              </mc:Choice>
              <mc:Fallback>
                <p:oleObj name="Equation" r:id="rId11" imgW="1143000" imgH="43164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9353" y="4218621"/>
                        <a:ext cx="1143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5" name="文本框 18"/>
          <p:cNvSpPr txBox="1">
            <a:spLocks noChangeArrowheads="1"/>
          </p:cNvSpPr>
          <p:nvPr/>
        </p:nvSpPr>
        <p:spPr bwMode="auto">
          <a:xfrm>
            <a:off x="8310576" y="2664344"/>
            <a:ext cx="1990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角动量分量算符</a:t>
            </a:r>
          </a:p>
        </p:txBody>
      </p:sp>
      <p:graphicFrame>
        <p:nvGraphicFramePr>
          <p:cNvPr id="81936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9916877"/>
              </p:ext>
            </p:extLst>
          </p:nvPr>
        </p:nvGraphicFramePr>
        <p:xfrm>
          <a:off x="6911162" y="3100906"/>
          <a:ext cx="4584700" cy="279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181" name="Equation" r:id="rId13" imgW="4584600" imgH="2793960" progId="Equation.DSMT4">
                  <p:embed/>
                </p:oleObj>
              </mc:Choice>
              <mc:Fallback>
                <p:oleObj name="Equation" r:id="rId13" imgW="4584600" imgH="2793960" progId="Equation.DSMT4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1162" y="3100906"/>
                        <a:ext cx="4584700" cy="279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7" name="文本框 20"/>
          <p:cNvSpPr txBox="1">
            <a:spLocks noChangeArrowheads="1"/>
          </p:cNvSpPr>
          <p:nvPr/>
        </p:nvSpPr>
        <p:spPr bwMode="auto">
          <a:xfrm>
            <a:off x="665991" y="5379878"/>
            <a:ext cx="3125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球坐标下角动量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z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分量算符</a:t>
            </a:r>
          </a:p>
        </p:txBody>
      </p:sp>
      <p:graphicFrame>
        <p:nvGraphicFramePr>
          <p:cNvPr id="81938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62776"/>
              </p:ext>
            </p:extLst>
          </p:nvPr>
        </p:nvGraphicFramePr>
        <p:xfrm>
          <a:off x="3794954" y="5179853"/>
          <a:ext cx="1574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182" name="Equation" r:id="rId15" imgW="1574640" imgH="799920" progId="Equation.DSMT4">
                  <p:embed/>
                </p:oleObj>
              </mc:Choice>
              <mc:Fallback>
                <p:oleObj name="Equation" r:id="rId15" imgW="1574640" imgH="799920" progId="Equation.DSMT4">
                  <p:embed/>
                  <p:pic>
                    <p:nvPicPr>
                      <p:cNvPr id="0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4954" y="5179853"/>
                        <a:ext cx="15748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9" name="文本框 22"/>
          <p:cNvSpPr txBox="1">
            <a:spLocks noChangeArrowheads="1"/>
          </p:cNvSpPr>
          <p:nvPr/>
        </p:nvSpPr>
        <p:spPr bwMode="auto">
          <a:xfrm>
            <a:off x="665991" y="4768690"/>
            <a:ext cx="1990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角动量平方算符</a:t>
            </a:r>
          </a:p>
        </p:txBody>
      </p:sp>
      <p:graphicFrame>
        <p:nvGraphicFramePr>
          <p:cNvPr id="81940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4844665"/>
              </p:ext>
            </p:extLst>
          </p:nvPr>
        </p:nvGraphicFramePr>
        <p:xfrm>
          <a:off x="2567816" y="4727415"/>
          <a:ext cx="2133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183" name="Equation" r:id="rId17" imgW="2133360" imgH="482400" progId="Equation.DSMT4">
                  <p:embed/>
                </p:oleObj>
              </mc:Choice>
              <mc:Fallback>
                <p:oleObj name="Equation" r:id="rId17" imgW="2133360" imgH="482400" progId="Equation.DSMT4">
                  <p:embed/>
                  <p:pic>
                    <p:nvPicPr>
                      <p:cNvPr id="0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816" y="4727415"/>
                        <a:ext cx="2133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474210"/>
              </p:ext>
            </p:extLst>
          </p:nvPr>
        </p:nvGraphicFramePr>
        <p:xfrm>
          <a:off x="3128033" y="5894906"/>
          <a:ext cx="9029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184" name="Equation" r:id="rId19" imgW="9029520" imgH="901440" progId="Equation.DSMT4">
                  <p:embed/>
                </p:oleObj>
              </mc:Choice>
              <mc:Fallback>
                <p:oleObj name="Equation" r:id="rId19" imgW="9029520" imgH="90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128033" y="5894906"/>
                        <a:ext cx="90297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16"/>
          <p:cNvSpPr txBox="1">
            <a:spLocks noChangeArrowheads="1"/>
          </p:cNvSpPr>
          <p:nvPr/>
        </p:nvSpPr>
        <p:spPr bwMode="auto">
          <a:xfrm>
            <a:off x="665991" y="6145731"/>
            <a:ext cx="25074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球坐标下哈密顿算符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第七讲 量子力学初步</a:t>
            </a:r>
          </a:p>
        </p:txBody>
      </p:sp>
      <p:sp>
        <p:nvSpPr>
          <p:cNvPr id="81923" name="内容占位符 2"/>
          <p:cNvSpPr txBox="1">
            <a:spLocks/>
          </p:cNvSpPr>
          <p:nvPr/>
        </p:nvSpPr>
        <p:spPr bwMode="auto">
          <a:xfrm>
            <a:off x="335431" y="1282701"/>
            <a:ext cx="335293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7.5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力学量的算符表示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81924" name="文本框 1"/>
          <p:cNvSpPr txBox="1">
            <a:spLocks noChangeArrowheads="1"/>
          </p:cNvSpPr>
          <p:nvPr/>
        </p:nvSpPr>
        <p:spPr bwMode="auto">
          <a:xfrm>
            <a:off x="661988" y="1721644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本征方程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1926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230276"/>
              </p:ext>
            </p:extLst>
          </p:nvPr>
        </p:nvGraphicFramePr>
        <p:xfrm>
          <a:off x="2011900" y="2541037"/>
          <a:ext cx="1231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51" name="Equation" r:id="rId3" imgW="1231560" imgH="419040" progId="Equation.DSMT4">
                  <p:embed/>
                </p:oleObj>
              </mc:Choice>
              <mc:Fallback>
                <p:oleObj name="Equation" r:id="rId3" imgW="1231560" imgH="419040" progId="Equation.DSMT4">
                  <p:embed/>
                  <p:pic>
                    <p:nvPicPr>
                      <p:cNvPr id="81926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900" y="2541037"/>
                        <a:ext cx="1231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2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0664197"/>
              </p:ext>
            </p:extLst>
          </p:nvPr>
        </p:nvGraphicFramePr>
        <p:xfrm>
          <a:off x="923772" y="4992228"/>
          <a:ext cx="39751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52" name="Equation" r:id="rId5" imgW="3974760" imgH="901440" progId="Equation.DSMT4">
                  <p:embed/>
                </p:oleObj>
              </mc:Choice>
              <mc:Fallback>
                <p:oleObj name="Equation" r:id="rId5" imgW="3974760" imgH="901440" progId="Equation.DSMT4">
                  <p:embed/>
                  <p:pic>
                    <p:nvPicPr>
                      <p:cNvPr id="81932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772" y="4992228"/>
                        <a:ext cx="39751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1"/>
          <p:cNvSpPr txBox="1">
            <a:spLocks noChangeArrowheads="1"/>
          </p:cNvSpPr>
          <p:nvPr/>
        </p:nvSpPr>
        <p:spPr bwMode="auto">
          <a:xfrm>
            <a:off x="661988" y="2121754"/>
            <a:ext cx="43989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假定物理量</a:t>
            </a: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对应的算符为</a:t>
            </a: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Â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，则方程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1"/>
          <p:cNvSpPr txBox="1">
            <a:spLocks noChangeArrowheads="1"/>
          </p:cNvSpPr>
          <p:nvPr/>
        </p:nvSpPr>
        <p:spPr bwMode="auto">
          <a:xfrm>
            <a:off x="661988" y="2947586"/>
            <a:ext cx="5202065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称为物理量</a:t>
            </a: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的本征方程</a:t>
            </a:r>
            <a:endParaRPr lang="en-US" altLang="zh-CN" b="1" dirty="0" smtClean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为该算符的本征值，</a:t>
            </a:r>
            <a:r>
              <a:rPr lang="el-GR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Ψ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为该算符的本征函数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1"/>
          <p:cNvSpPr txBox="1">
            <a:spLocks noChangeArrowheads="1"/>
          </p:cNvSpPr>
          <p:nvPr/>
        </p:nvSpPr>
        <p:spPr bwMode="auto">
          <a:xfrm>
            <a:off x="661988" y="3789134"/>
            <a:ext cx="224933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该物理量的平均值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165775"/>
              </p:ext>
            </p:extLst>
          </p:nvPr>
        </p:nvGraphicFramePr>
        <p:xfrm>
          <a:off x="1401398" y="4266188"/>
          <a:ext cx="2120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53" name="Equation" r:id="rId7" imgW="2120760" imgH="596880" progId="Equation.DSMT4">
                  <p:embed/>
                </p:oleObj>
              </mc:Choice>
              <mc:Fallback>
                <p:oleObj name="Equation" r:id="rId7" imgW="21207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01398" y="4266188"/>
                        <a:ext cx="21209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6410861" y="1351519"/>
            <a:ext cx="1811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算符的对易关系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021952"/>
              </p:ext>
            </p:extLst>
          </p:nvPr>
        </p:nvGraphicFramePr>
        <p:xfrm>
          <a:off x="6563278" y="1720851"/>
          <a:ext cx="28321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54" name="Equation" r:id="rId9" imgW="2831760" imgH="558720" progId="Equation.DSMT4">
                  <p:embed/>
                </p:oleObj>
              </mc:Choice>
              <mc:Fallback>
                <p:oleObj name="Equation" r:id="rId9" imgW="2831760" imgH="55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63278" y="1720851"/>
                        <a:ext cx="283210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3132700"/>
              </p:ext>
            </p:extLst>
          </p:nvPr>
        </p:nvGraphicFramePr>
        <p:xfrm>
          <a:off x="6577925" y="2458992"/>
          <a:ext cx="32893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55" name="Equation" r:id="rId11" imgW="3288960" imgH="1206360" progId="Equation.DSMT4">
                  <p:embed/>
                </p:oleObj>
              </mc:Choice>
              <mc:Fallback>
                <p:oleObj name="Equation" r:id="rId11" imgW="3288960" imgH="1206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77925" y="2458992"/>
                        <a:ext cx="3289300" cy="120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/>
          <p:cNvSpPr/>
          <p:nvPr/>
        </p:nvSpPr>
        <p:spPr>
          <a:xfrm>
            <a:off x="10276212" y="2531707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不对易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0392429" y="3190129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对易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0119366"/>
              </p:ext>
            </p:extLst>
          </p:nvPr>
        </p:nvGraphicFramePr>
        <p:xfrm>
          <a:off x="6577925" y="3982272"/>
          <a:ext cx="4229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56" name="Equation" r:id="rId13" imgW="4228920" imgH="520560" progId="Equation.DSMT4">
                  <p:embed/>
                </p:oleObj>
              </mc:Choice>
              <mc:Fallback>
                <p:oleObj name="Equation" r:id="rId13" imgW="422892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577925" y="3982272"/>
                        <a:ext cx="42291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04877"/>
              </p:ext>
            </p:extLst>
          </p:nvPr>
        </p:nvGraphicFramePr>
        <p:xfrm>
          <a:off x="6563278" y="5041368"/>
          <a:ext cx="1930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57" name="Equation" r:id="rId15" imgW="1930320" imgH="520560" progId="Equation.DSMT4">
                  <p:embed/>
                </p:oleObj>
              </mc:Choice>
              <mc:Fallback>
                <p:oleObj name="Equation" r:id="rId15" imgW="193032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563278" y="5041368"/>
                        <a:ext cx="19304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735958"/>
              </p:ext>
            </p:extLst>
          </p:nvPr>
        </p:nvGraphicFramePr>
        <p:xfrm>
          <a:off x="9048391" y="4812666"/>
          <a:ext cx="17399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58" name="Equation" r:id="rId17" imgW="1739880" imgH="876240" progId="Equation.DSMT4">
                  <p:embed/>
                </p:oleObj>
              </mc:Choice>
              <mc:Fallback>
                <p:oleObj name="Equation" r:id="rId17" imgW="173988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048391" y="4812666"/>
                        <a:ext cx="17399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705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19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1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1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/>
      <p:bldP spid="21" grpId="0"/>
      <p:bldP spid="22" grpId="0"/>
      <p:bldP spid="23" grpId="0"/>
      <p:bldP spid="3" grpId="0"/>
      <p:bldP spid="28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第七讲 量子力学初步</a:t>
            </a:r>
          </a:p>
        </p:txBody>
      </p:sp>
      <p:sp>
        <p:nvSpPr>
          <p:cNvPr id="79875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7.6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一维无限深势阱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79876" name="文本框 2"/>
          <p:cNvSpPr txBox="1">
            <a:spLocks noChangeArrowheads="1"/>
          </p:cNvSpPr>
          <p:nvPr/>
        </p:nvSpPr>
        <p:spPr bwMode="auto">
          <a:xfrm>
            <a:off x="1200150" y="1765300"/>
            <a:ext cx="5191125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一个粒子在如图所示的势场中运动，它的势能为</a:t>
            </a:r>
            <a:endParaRPr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这种势场称为一维无限深势阱。在一维无限深势阱中粒子如何运动？它的波函数如何？能量如何？ </a:t>
            </a:r>
          </a:p>
        </p:txBody>
      </p:sp>
      <p:pic>
        <p:nvPicPr>
          <p:cNvPr id="79877" name="Picture 5" descr="https://timgsa.baidu.com/timg?image&amp;quality=80&amp;size=b9999_10000&amp;sec=1491335570339&amp;di=41b806d2a451cf3bcaefddff2610bb53&amp;imgtype=0&amp;src=http%3A%2F%2Fwww.wendangwang.com%2Fpic%2Fb4d38e89b21b5b1d9f579422%2F3-810-jpg_6-1080-0-0-108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59" t="10654" r="2728" b="44814"/>
          <a:stretch>
            <a:fillRect/>
          </a:stretch>
        </p:blipFill>
        <p:spPr bwMode="auto">
          <a:xfrm>
            <a:off x="6656388" y="1241425"/>
            <a:ext cx="4240212" cy="343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9878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725198"/>
              </p:ext>
            </p:extLst>
          </p:nvPr>
        </p:nvGraphicFramePr>
        <p:xfrm>
          <a:off x="1901825" y="2763838"/>
          <a:ext cx="31623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21" name="Equation" r:id="rId4" imgW="3162240" imgH="876240" progId="Equation.DSMT4">
                  <p:embed/>
                </p:oleObj>
              </mc:Choice>
              <mc:Fallback>
                <p:oleObj name="Equation" r:id="rId4" imgW="3162240" imgH="87624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825" y="2763838"/>
                        <a:ext cx="316230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第七讲 量子力学初步</a:t>
            </a:r>
          </a:p>
        </p:txBody>
      </p:sp>
      <p:sp>
        <p:nvSpPr>
          <p:cNvPr id="80899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7.6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一维无限深势阱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00150" y="1765300"/>
            <a:ext cx="10225088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能量不能任意取值，束缚在一维无限深势阱中的粒子的能量是量子的。</a:t>
            </a:r>
            <a:endParaRPr lang="en-US" altLang="zh-CN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处在不同能级的粒子，在势阱中的几率分布不同。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实际意义：金属内的自由电子，可看成在势阱中运动的粒子。 </a:t>
            </a:r>
          </a:p>
        </p:txBody>
      </p:sp>
      <p:pic>
        <p:nvPicPr>
          <p:cNvPr id="80901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3" y="3536950"/>
            <a:ext cx="6572250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090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1178631"/>
              </p:ext>
            </p:extLst>
          </p:nvPr>
        </p:nvGraphicFramePr>
        <p:xfrm>
          <a:off x="7994650" y="3498850"/>
          <a:ext cx="33258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044" name="Equation" r:id="rId4" imgW="3327120" imgH="838080" progId="Equation.DSMT4">
                  <p:embed/>
                </p:oleObj>
              </mc:Choice>
              <mc:Fallback>
                <p:oleObj name="Equation" r:id="rId4" imgW="3327120" imgH="83808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4650" y="3498850"/>
                        <a:ext cx="33258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5935101"/>
              </p:ext>
            </p:extLst>
          </p:nvPr>
        </p:nvGraphicFramePr>
        <p:xfrm>
          <a:off x="7473950" y="4611688"/>
          <a:ext cx="43688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045" name="Equation" r:id="rId6" imgW="4368600" imgH="1333440" progId="Equation.DSMT4">
                  <p:embed/>
                </p:oleObj>
              </mc:Choice>
              <mc:Fallback>
                <p:oleObj name="Equation" r:id="rId6" imgW="4368600" imgH="133344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50" y="4611688"/>
                        <a:ext cx="43688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第七讲 量子力学初步</a:t>
            </a:r>
          </a:p>
        </p:txBody>
      </p:sp>
      <p:sp>
        <p:nvSpPr>
          <p:cNvPr id="80899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7.7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维谐振子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graphicFrame>
        <p:nvGraphicFramePr>
          <p:cNvPr id="8090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916151"/>
              </p:ext>
            </p:extLst>
          </p:nvPr>
        </p:nvGraphicFramePr>
        <p:xfrm>
          <a:off x="6785476" y="1774712"/>
          <a:ext cx="40116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966" name="Equation" r:id="rId3" imgW="4012920" imgH="825480" progId="Equation.DSMT4">
                  <p:embed/>
                </p:oleObj>
              </mc:Choice>
              <mc:Fallback>
                <p:oleObj name="Equation" r:id="rId3" imgW="4012920" imgH="825480" progId="Equation.DSMT4">
                  <p:embed/>
                  <p:pic>
                    <p:nvPicPr>
                      <p:cNvPr id="80902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5476" y="1774712"/>
                        <a:ext cx="40116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0890790"/>
              </p:ext>
            </p:extLst>
          </p:nvPr>
        </p:nvGraphicFramePr>
        <p:xfrm>
          <a:off x="944563" y="1722438"/>
          <a:ext cx="4724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967" name="Equation" r:id="rId5" imgW="4724280" imgH="914400" progId="Equation.DSMT4">
                  <p:embed/>
                </p:oleObj>
              </mc:Choice>
              <mc:Fallback>
                <p:oleObj name="Equation" r:id="rId5" imgW="4724280" imgH="914400" progId="Equation.DSMT4">
                  <p:embed/>
                  <p:pic>
                    <p:nvPicPr>
                      <p:cNvPr id="8090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563" y="1722438"/>
                        <a:ext cx="4724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8028" y="2636838"/>
            <a:ext cx="4032450" cy="399620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3737" y="3204236"/>
            <a:ext cx="5024201" cy="286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0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第七讲 量子力学初步</a:t>
            </a:r>
          </a:p>
        </p:txBody>
      </p:sp>
      <p:sp>
        <p:nvSpPr>
          <p:cNvPr id="80899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7.8 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隧道贯穿效应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668547" y="1722438"/>
            <a:ext cx="5029200" cy="2436813"/>
            <a:chOff x="0" y="0"/>
            <a:chExt cx="3168" cy="1535"/>
          </a:xfrm>
        </p:grpSpPr>
        <p:graphicFrame>
          <p:nvGraphicFramePr>
            <p:cNvPr id="9" name="Object 9"/>
            <p:cNvGraphicFramePr>
              <a:graphicFrameLocks noChangeAspect="1"/>
            </p:cNvGraphicFramePr>
            <p:nvPr/>
          </p:nvGraphicFramePr>
          <p:xfrm>
            <a:off x="2400" y="96"/>
            <a:ext cx="464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764" r:id="rId3" imgW="304853" imgH="203341" progId="Equation.3">
                    <p:embed/>
                  </p:oleObj>
                </mc:Choice>
                <mc:Fallback>
                  <p:oleObj r:id="rId3" imgW="304853" imgH="203341" progId="Equation.3">
                    <p:embed/>
                    <p:pic>
                      <p:nvPicPr>
                        <p:cNvPr id="10343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96"/>
                          <a:ext cx="464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288" y="96"/>
            <a:ext cx="1082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765" r:id="rId5" imgW="710900" imgH="203341" progId="Equation.3">
                    <p:embed/>
                  </p:oleObj>
                </mc:Choice>
                <mc:Fallback>
                  <p:oleObj r:id="rId5" imgW="710900" imgH="203341" progId="Equation.3">
                    <p:embed/>
                    <p:pic>
                      <p:nvPicPr>
                        <p:cNvPr id="103434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96"/>
                          <a:ext cx="1082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1"/>
            <p:cNvGraphicFramePr>
              <a:graphicFrameLocks noChangeAspect="1"/>
            </p:cNvGraphicFramePr>
            <p:nvPr/>
          </p:nvGraphicFramePr>
          <p:xfrm>
            <a:off x="1872" y="0"/>
            <a:ext cx="181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766" r:id="rId7" imgW="165202" imgH="228620" progId="Equation.3">
                    <p:embed/>
                  </p:oleObj>
                </mc:Choice>
                <mc:Fallback>
                  <p:oleObj r:id="rId7" imgW="165202" imgH="228620" progId="Equation.3">
                    <p:embed/>
                    <p:pic>
                      <p:nvPicPr>
                        <p:cNvPr id="103435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0"/>
                          <a:ext cx="181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" name="Group 12"/>
            <p:cNvGrpSpPr>
              <a:grpSpLocks/>
            </p:cNvGrpSpPr>
            <p:nvPr/>
          </p:nvGrpSpPr>
          <p:grpSpPr bwMode="auto">
            <a:xfrm>
              <a:off x="768" y="213"/>
              <a:ext cx="2400" cy="1322"/>
              <a:chOff x="0" y="0"/>
              <a:chExt cx="2400" cy="1322"/>
            </a:xfrm>
          </p:grpSpPr>
          <p:sp>
            <p:nvSpPr>
              <p:cNvPr id="16" name="Line 13"/>
              <p:cNvSpPr>
                <a:spLocks noChangeShapeType="1"/>
              </p:cNvSpPr>
              <p:nvPr/>
            </p:nvSpPr>
            <p:spPr bwMode="auto">
              <a:xfrm>
                <a:off x="1488" y="0"/>
                <a:ext cx="0" cy="1088"/>
              </a:xfrm>
              <a:prstGeom prst="line">
                <a:avLst/>
              </a:pr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17" name="Object 14"/>
              <p:cNvGraphicFramePr>
                <a:graphicFrameLocks noChangeAspect="1"/>
              </p:cNvGraphicFramePr>
              <p:nvPr/>
            </p:nvGraphicFramePr>
            <p:xfrm>
              <a:off x="1440" y="1152"/>
              <a:ext cx="140" cy="1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2767" r:id="rId9" imgW="127042" imgH="139714" progId="Equation.3">
                      <p:embed/>
                    </p:oleObj>
                  </mc:Choice>
                  <mc:Fallback>
                    <p:oleObj r:id="rId9" imgW="127042" imgH="139714" progId="Equation.3">
                      <p:embed/>
                      <p:pic>
                        <p:nvPicPr>
                          <p:cNvPr id="103438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0" y="1152"/>
                            <a:ext cx="140" cy="1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" name="Line 15"/>
              <p:cNvSpPr>
                <a:spLocks noChangeShapeType="1"/>
              </p:cNvSpPr>
              <p:nvPr/>
            </p:nvSpPr>
            <p:spPr bwMode="auto">
              <a:xfrm>
                <a:off x="0" y="1104"/>
                <a:ext cx="2400" cy="0"/>
              </a:xfrm>
              <a:prstGeom prst="line">
                <a:avLst/>
              </a:prstGeom>
              <a:noFill/>
              <a:ln w="12700" cmpd="sng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19" name="Object 16"/>
              <p:cNvGraphicFramePr>
                <a:graphicFrameLocks noChangeAspect="1"/>
              </p:cNvGraphicFramePr>
              <p:nvPr/>
            </p:nvGraphicFramePr>
            <p:xfrm>
              <a:off x="864" y="1152"/>
              <a:ext cx="139" cy="1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2768" r:id="rId11" imgW="127042" imgH="177732" progId="Equation.3">
                      <p:embed/>
                    </p:oleObj>
                  </mc:Choice>
                  <mc:Fallback>
                    <p:oleObj r:id="rId11" imgW="127042" imgH="177732" progId="Equation.3">
                      <p:embed/>
                      <p:pic>
                        <p:nvPicPr>
                          <p:cNvPr id="10344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64" y="1152"/>
                            <a:ext cx="139" cy="1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" name="Line 17"/>
              <p:cNvSpPr>
                <a:spLocks noChangeShapeType="1"/>
              </p:cNvSpPr>
              <p:nvPr/>
            </p:nvSpPr>
            <p:spPr bwMode="auto">
              <a:xfrm>
                <a:off x="912" y="0"/>
                <a:ext cx="0" cy="1088"/>
              </a:xfrm>
              <a:prstGeom prst="line">
                <a:avLst/>
              </a:pr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1" name="Line 18"/>
              <p:cNvSpPr>
                <a:spLocks noChangeShapeType="1"/>
              </p:cNvSpPr>
              <p:nvPr/>
            </p:nvSpPr>
            <p:spPr bwMode="auto">
              <a:xfrm>
                <a:off x="912" y="0"/>
                <a:ext cx="586" cy="0"/>
              </a:xfrm>
              <a:prstGeom prst="line">
                <a:avLst/>
              </a:pr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2" name="Line 19"/>
              <p:cNvSpPr>
                <a:spLocks noChangeShapeType="1"/>
              </p:cNvSpPr>
              <p:nvPr/>
            </p:nvSpPr>
            <p:spPr bwMode="auto">
              <a:xfrm>
                <a:off x="48" y="576"/>
                <a:ext cx="2256" cy="0"/>
              </a:xfrm>
              <a:prstGeom prst="line">
                <a:avLst/>
              </a:prstGeom>
              <a:noFill/>
              <a:ln w="9525" cmpd="sng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3" name="未知"/>
              <p:cNvSpPr>
                <a:spLocks/>
              </p:cNvSpPr>
              <p:nvPr/>
            </p:nvSpPr>
            <p:spPr bwMode="auto">
              <a:xfrm>
                <a:off x="51" y="210"/>
                <a:ext cx="855" cy="747"/>
              </a:xfrm>
              <a:custGeom>
                <a:avLst/>
                <a:gdLst>
                  <a:gd name="T0" fmla="*/ 0 w 855"/>
                  <a:gd name="T1" fmla="*/ 378 h 747"/>
                  <a:gd name="T2" fmla="*/ 81 w 855"/>
                  <a:gd name="T3" fmla="*/ 9 h 747"/>
                  <a:gd name="T4" fmla="*/ 108 w 855"/>
                  <a:gd name="T5" fmla="*/ 27 h 747"/>
                  <a:gd name="T6" fmla="*/ 162 w 855"/>
                  <a:gd name="T7" fmla="*/ 189 h 747"/>
                  <a:gd name="T8" fmla="*/ 180 w 855"/>
                  <a:gd name="T9" fmla="*/ 243 h 747"/>
                  <a:gd name="T10" fmla="*/ 189 w 855"/>
                  <a:gd name="T11" fmla="*/ 270 h 747"/>
                  <a:gd name="T12" fmla="*/ 243 w 855"/>
                  <a:gd name="T13" fmla="*/ 621 h 747"/>
                  <a:gd name="T14" fmla="*/ 288 w 855"/>
                  <a:gd name="T15" fmla="*/ 738 h 747"/>
                  <a:gd name="T16" fmla="*/ 306 w 855"/>
                  <a:gd name="T17" fmla="*/ 684 h 747"/>
                  <a:gd name="T18" fmla="*/ 315 w 855"/>
                  <a:gd name="T19" fmla="*/ 657 h 747"/>
                  <a:gd name="T20" fmla="*/ 405 w 855"/>
                  <a:gd name="T21" fmla="*/ 252 h 747"/>
                  <a:gd name="T22" fmla="*/ 495 w 855"/>
                  <a:gd name="T23" fmla="*/ 0 h 747"/>
                  <a:gd name="T24" fmla="*/ 576 w 855"/>
                  <a:gd name="T25" fmla="*/ 261 h 747"/>
                  <a:gd name="T26" fmla="*/ 612 w 855"/>
                  <a:gd name="T27" fmla="*/ 459 h 747"/>
                  <a:gd name="T28" fmla="*/ 648 w 855"/>
                  <a:gd name="T29" fmla="*/ 747 h 747"/>
                  <a:gd name="T30" fmla="*/ 729 w 855"/>
                  <a:gd name="T31" fmla="*/ 558 h 747"/>
                  <a:gd name="T32" fmla="*/ 810 w 855"/>
                  <a:gd name="T33" fmla="*/ 171 h 747"/>
                  <a:gd name="T34" fmla="*/ 855 w 855"/>
                  <a:gd name="T35" fmla="*/ 27 h 7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55" h="747">
                    <a:moveTo>
                      <a:pt x="0" y="378"/>
                    </a:moveTo>
                    <a:cubicBezTo>
                      <a:pt x="29" y="261"/>
                      <a:pt x="12" y="113"/>
                      <a:pt x="81" y="9"/>
                    </a:cubicBezTo>
                    <a:cubicBezTo>
                      <a:pt x="90" y="15"/>
                      <a:pt x="102" y="18"/>
                      <a:pt x="108" y="27"/>
                    </a:cubicBezTo>
                    <a:cubicBezTo>
                      <a:pt x="130" y="63"/>
                      <a:pt x="147" y="145"/>
                      <a:pt x="162" y="189"/>
                    </a:cubicBezTo>
                    <a:cubicBezTo>
                      <a:pt x="168" y="207"/>
                      <a:pt x="174" y="225"/>
                      <a:pt x="180" y="243"/>
                    </a:cubicBezTo>
                    <a:cubicBezTo>
                      <a:pt x="183" y="252"/>
                      <a:pt x="189" y="270"/>
                      <a:pt x="189" y="270"/>
                    </a:cubicBezTo>
                    <a:cubicBezTo>
                      <a:pt x="206" y="387"/>
                      <a:pt x="225" y="504"/>
                      <a:pt x="243" y="621"/>
                    </a:cubicBezTo>
                    <a:cubicBezTo>
                      <a:pt x="251" y="670"/>
                      <a:pt x="238" y="721"/>
                      <a:pt x="288" y="738"/>
                    </a:cubicBezTo>
                    <a:cubicBezTo>
                      <a:pt x="294" y="720"/>
                      <a:pt x="300" y="702"/>
                      <a:pt x="306" y="684"/>
                    </a:cubicBezTo>
                    <a:cubicBezTo>
                      <a:pt x="309" y="675"/>
                      <a:pt x="315" y="657"/>
                      <a:pt x="315" y="657"/>
                    </a:cubicBezTo>
                    <a:cubicBezTo>
                      <a:pt x="335" y="519"/>
                      <a:pt x="385" y="389"/>
                      <a:pt x="405" y="252"/>
                    </a:cubicBezTo>
                    <a:cubicBezTo>
                      <a:pt x="417" y="166"/>
                      <a:pt x="416" y="53"/>
                      <a:pt x="495" y="0"/>
                    </a:cubicBezTo>
                    <a:cubicBezTo>
                      <a:pt x="523" y="85"/>
                      <a:pt x="557" y="173"/>
                      <a:pt x="576" y="261"/>
                    </a:cubicBezTo>
                    <a:cubicBezTo>
                      <a:pt x="591" y="327"/>
                      <a:pt x="596" y="394"/>
                      <a:pt x="612" y="459"/>
                    </a:cubicBezTo>
                    <a:cubicBezTo>
                      <a:pt x="622" y="556"/>
                      <a:pt x="617" y="654"/>
                      <a:pt x="648" y="747"/>
                    </a:cubicBezTo>
                    <a:cubicBezTo>
                      <a:pt x="719" y="723"/>
                      <a:pt x="716" y="620"/>
                      <a:pt x="729" y="558"/>
                    </a:cubicBezTo>
                    <a:cubicBezTo>
                      <a:pt x="757" y="429"/>
                      <a:pt x="786" y="301"/>
                      <a:pt x="810" y="171"/>
                    </a:cubicBezTo>
                    <a:cubicBezTo>
                      <a:pt x="818" y="128"/>
                      <a:pt x="823" y="59"/>
                      <a:pt x="855" y="27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4" name="未知"/>
              <p:cNvSpPr>
                <a:spLocks/>
              </p:cNvSpPr>
              <p:nvPr/>
            </p:nvSpPr>
            <p:spPr bwMode="auto">
              <a:xfrm>
                <a:off x="906" y="199"/>
                <a:ext cx="585" cy="398"/>
              </a:xfrm>
              <a:custGeom>
                <a:avLst/>
                <a:gdLst>
                  <a:gd name="T0" fmla="*/ 0 w 585"/>
                  <a:gd name="T1" fmla="*/ 47 h 398"/>
                  <a:gd name="T2" fmla="*/ 171 w 585"/>
                  <a:gd name="T3" fmla="*/ 74 h 398"/>
                  <a:gd name="T4" fmla="*/ 225 w 585"/>
                  <a:gd name="T5" fmla="*/ 110 h 398"/>
                  <a:gd name="T6" fmla="*/ 252 w 585"/>
                  <a:gd name="T7" fmla="*/ 128 h 398"/>
                  <a:gd name="T8" fmla="*/ 270 w 585"/>
                  <a:gd name="T9" fmla="*/ 155 h 398"/>
                  <a:gd name="T10" fmla="*/ 324 w 585"/>
                  <a:gd name="T11" fmla="*/ 191 h 398"/>
                  <a:gd name="T12" fmla="*/ 360 w 585"/>
                  <a:gd name="T13" fmla="*/ 245 h 398"/>
                  <a:gd name="T14" fmla="*/ 414 w 585"/>
                  <a:gd name="T15" fmla="*/ 281 h 398"/>
                  <a:gd name="T16" fmla="*/ 522 w 585"/>
                  <a:gd name="T17" fmla="*/ 362 h 398"/>
                  <a:gd name="T18" fmla="*/ 585 w 585"/>
                  <a:gd name="T19" fmla="*/ 398 h 3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5" h="398">
                    <a:moveTo>
                      <a:pt x="0" y="47"/>
                    </a:moveTo>
                    <a:cubicBezTo>
                      <a:pt x="71" y="0"/>
                      <a:pt x="106" y="31"/>
                      <a:pt x="171" y="74"/>
                    </a:cubicBezTo>
                    <a:cubicBezTo>
                      <a:pt x="189" y="86"/>
                      <a:pt x="207" y="98"/>
                      <a:pt x="225" y="110"/>
                    </a:cubicBezTo>
                    <a:cubicBezTo>
                      <a:pt x="234" y="116"/>
                      <a:pt x="252" y="128"/>
                      <a:pt x="252" y="128"/>
                    </a:cubicBezTo>
                    <a:cubicBezTo>
                      <a:pt x="258" y="137"/>
                      <a:pt x="262" y="148"/>
                      <a:pt x="270" y="155"/>
                    </a:cubicBezTo>
                    <a:cubicBezTo>
                      <a:pt x="286" y="169"/>
                      <a:pt x="324" y="191"/>
                      <a:pt x="324" y="191"/>
                    </a:cubicBezTo>
                    <a:cubicBezTo>
                      <a:pt x="336" y="209"/>
                      <a:pt x="348" y="227"/>
                      <a:pt x="360" y="245"/>
                    </a:cubicBezTo>
                    <a:cubicBezTo>
                      <a:pt x="372" y="263"/>
                      <a:pt x="399" y="266"/>
                      <a:pt x="414" y="281"/>
                    </a:cubicBezTo>
                    <a:cubicBezTo>
                      <a:pt x="447" y="314"/>
                      <a:pt x="484" y="337"/>
                      <a:pt x="522" y="362"/>
                    </a:cubicBezTo>
                    <a:cubicBezTo>
                      <a:pt x="541" y="374"/>
                      <a:pt x="570" y="383"/>
                      <a:pt x="585" y="398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3" name="未知"/>
            <p:cNvSpPr>
              <a:spLocks/>
            </p:cNvSpPr>
            <p:nvPr/>
          </p:nvSpPr>
          <p:spPr bwMode="auto">
            <a:xfrm>
              <a:off x="2253" y="636"/>
              <a:ext cx="747" cy="324"/>
            </a:xfrm>
            <a:custGeom>
              <a:avLst/>
              <a:gdLst>
                <a:gd name="T0" fmla="*/ 0 w 747"/>
                <a:gd name="T1" fmla="*/ 153 h 324"/>
                <a:gd name="T2" fmla="*/ 54 w 747"/>
                <a:gd name="T3" fmla="*/ 225 h 324"/>
                <a:gd name="T4" fmla="*/ 81 w 747"/>
                <a:gd name="T5" fmla="*/ 279 h 324"/>
                <a:gd name="T6" fmla="*/ 135 w 747"/>
                <a:gd name="T7" fmla="*/ 315 h 324"/>
                <a:gd name="T8" fmla="*/ 171 w 747"/>
                <a:gd name="T9" fmla="*/ 207 h 324"/>
                <a:gd name="T10" fmla="*/ 189 w 747"/>
                <a:gd name="T11" fmla="*/ 180 h 324"/>
                <a:gd name="T12" fmla="*/ 306 w 747"/>
                <a:gd name="T13" fmla="*/ 0 h 324"/>
                <a:gd name="T14" fmla="*/ 423 w 747"/>
                <a:gd name="T15" fmla="*/ 180 h 324"/>
                <a:gd name="T16" fmla="*/ 441 w 747"/>
                <a:gd name="T17" fmla="*/ 207 h 324"/>
                <a:gd name="T18" fmla="*/ 504 w 747"/>
                <a:gd name="T19" fmla="*/ 324 h 324"/>
                <a:gd name="T20" fmla="*/ 549 w 747"/>
                <a:gd name="T21" fmla="*/ 216 h 324"/>
                <a:gd name="T22" fmla="*/ 585 w 747"/>
                <a:gd name="T23" fmla="*/ 135 h 324"/>
                <a:gd name="T24" fmla="*/ 603 w 747"/>
                <a:gd name="T25" fmla="*/ 108 h 324"/>
                <a:gd name="T26" fmla="*/ 630 w 747"/>
                <a:gd name="T27" fmla="*/ 27 h 324"/>
                <a:gd name="T28" fmla="*/ 639 w 747"/>
                <a:gd name="T29" fmla="*/ 0 h 324"/>
                <a:gd name="T30" fmla="*/ 711 w 747"/>
                <a:gd name="T31" fmla="*/ 54 h 324"/>
                <a:gd name="T32" fmla="*/ 729 w 747"/>
                <a:gd name="T33" fmla="*/ 108 h 324"/>
                <a:gd name="T34" fmla="*/ 747 w 747"/>
                <a:gd name="T35" fmla="*/ 135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47" h="324">
                  <a:moveTo>
                    <a:pt x="0" y="153"/>
                  </a:moveTo>
                  <a:cubicBezTo>
                    <a:pt x="12" y="189"/>
                    <a:pt x="23" y="204"/>
                    <a:pt x="54" y="225"/>
                  </a:cubicBezTo>
                  <a:cubicBezTo>
                    <a:pt x="60" y="244"/>
                    <a:pt x="65" y="265"/>
                    <a:pt x="81" y="279"/>
                  </a:cubicBezTo>
                  <a:cubicBezTo>
                    <a:pt x="97" y="293"/>
                    <a:pt x="135" y="315"/>
                    <a:pt x="135" y="315"/>
                  </a:cubicBezTo>
                  <a:cubicBezTo>
                    <a:pt x="147" y="279"/>
                    <a:pt x="159" y="243"/>
                    <a:pt x="171" y="207"/>
                  </a:cubicBezTo>
                  <a:cubicBezTo>
                    <a:pt x="174" y="197"/>
                    <a:pt x="185" y="190"/>
                    <a:pt x="189" y="180"/>
                  </a:cubicBezTo>
                  <a:cubicBezTo>
                    <a:pt x="218" y="114"/>
                    <a:pt x="243" y="42"/>
                    <a:pt x="306" y="0"/>
                  </a:cubicBezTo>
                  <a:cubicBezTo>
                    <a:pt x="365" y="39"/>
                    <a:pt x="401" y="114"/>
                    <a:pt x="423" y="180"/>
                  </a:cubicBezTo>
                  <a:cubicBezTo>
                    <a:pt x="426" y="190"/>
                    <a:pt x="437" y="197"/>
                    <a:pt x="441" y="207"/>
                  </a:cubicBezTo>
                  <a:cubicBezTo>
                    <a:pt x="464" y="260"/>
                    <a:pt x="450" y="306"/>
                    <a:pt x="504" y="324"/>
                  </a:cubicBezTo>
                  <a:cubicBezTo>
                    <a:pt x="526" y="291"/>
                    <a:pt x="528" y="248"/>
                    <a:pt x="549" y="216"/>
                  </a:cubicBezTo>
                  <a:cubicBezTo>
                    <a:pt x="578" y="173"/>
                    <a:pt x="564" y="199"/>
                    <a:pt x="585" y="135"/>
                  </a:cubicBezTo>
                  <a:cubicBezTo>
                    <a:pt x="588" y="125"/>
                    <a:pt x="599" y="118"/>
                    <a:pt x="603" y="108"/>
                  </a:cubicBezTo>
                  <a:cubicBezTo>
                    <a:pt x="603" y="108"/>
                    <a:pt x="625" y="40"/>
                    <a:pt x="630" y="27"/>
                  </a:cubicBezTo>
                  <a:cubicBezTo>
                    <a:pt x="633" y="18"/>
                    <a:pt x="639" y="0"/>
                    <a:pt x="639" y="0"/>
                  </a:cubicBezTo>
                  <a:cubicBezTo>
                    <a:pt x="671" y="11"/>
                    <a:pt x="696" y="21"/>
                    <a:pt x="711" y="54"/>
                  </a:cubicBezTo>
                  <a:cubicBezTo>
                    <a:pt x="719" y="71"/>
                    <a:pt x="718" y="92"/>
                    <a:pt x="729" y="108"/>
                  </a:cubicBezTo>
                  <a:cubicBezTo>
                    <a:pt x="735" y="117"/>
                    <a:pt x="747" y="135"/>
                    <a:pt x="747" y="135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" name="Text Box 23"/>
            <p:cNvSpPr txBox="1">
              <a:spLocks noChangeArrowheads="1"/>
            </p:cNvSpPr>
            <p:nvPr/>
          </p:nvSpPr>
          <p:spPr bwMode="auto">
            <a:xfrm>
              <a:off x="0" y="453"/>
              <a:ext cx="768" cy="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/>
                <a:t>入射波</a:t>
              </a:r>
            </a:p>
            <a:p>
              <a:pPr>
                <a:spcBef>
                  <a:spcPct val="50000"/>
                </a:spcBef>
              </a:pPr>
              <a:r>
                <a:rPr lang="zh-CN" altLang="en-US" dirty="0"/>
                <a:t>反射波</a:t>
              </a:r>
            </a:p>
          </p:txBody>
        </p:sp>
        <p:sp>
          <p:nvSpPr>
            <p:cNvPr id="15" name="Text Box 24"/>
            <p:cNvSpPr txBox="1">
              <a:spLocks noChangeArrowheads="1"/>
            </p:cNvSpPr>
            <p:nvPr/>
          </p:nvSpPr>
          <p:spPr bwMode="auto">
            <a:xfrm>
              <a:off x="2400" y="336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/>
                <a:t>透射波</a:t>
              </a:r>
            </a:p>
          </p:txBody>
        </p:sp>
      </p:grpSp>
      <p:pic>
        <p:nvPicPr>
          <p:cNvPr id="26" name="Picture 2" descr="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366" y="1781184"/>
            <a:ext cx="3206750" cy="410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47" y="2678112"/>
            <a:ext cx="4857750" cy="36004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146" y="711289"/>
            <a:ext cx="5887165" cy="417988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594" y="1415361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79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第七讲 量子力学初步</a:t>
            </a:r>
          </a:p>
        </p:txBody>
      </p:sp>
      <p:sp>
        <p:nvSpPr>
          <p:cNvPr id="29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335431" y="2070100"/>
            <a:ext cx="8382000" cy="2590800"/>
          </a:xfrm>
          <a:prstGeom prst="rect">
            <a:avLst/>
          </a:prstGeom>
        </p:spPr>
        <p:txBody>
          <a:bodyPr/>
          <a:lstStyle>
            <a:lvl1pPr marL="228597" indent="-228597" algn="l" defTabSz="91438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91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86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80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7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>
                <a:srgbClr val="41B0B9"/>
              </a:buClr>
              <a:buFont typeface="Times New Roman" panose="02020603050405020304" pitchFamily="18" charset="0"/>
              <a:buChar char="►"/>
            </a:pPr>
            <a:r>
              <a:rPr lang="zh-CN" altLang="en-US" b="1" dirty="0" smtClean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概念是</a:t>
            </a:r>
            <a:r>
              <a:rPr lang="zh-CN" altLang="en-US" b="1" dirty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灵魂－建立起清晰的概念</a:t>
            </a:r>
            <a:endParaRPr lang="zh-CN" altLang="en-US" b="1" dirty="0" smtClean="0">
              <a:latin typeface="方正新书宋简体" panose="03000509000000000000" pitchFamily="65" charset="-122"/>
              <a:ea typeface="方正新书宋简体" panose="03000509000000000000" pitchFamily="65" charset="-122"/>
            </a:endParaRPr>
          </a:p>
          <a:p>
            <a:pPr fontAlgn="auto">
              <a:spcAft>
                <a:spcPts val="0"/>
              </a:spcAft>
              <a:buClr>
                <a:srgbClr val="41B0B9"/>
              </a:buClr>
              <a:buFont typeface="Times New Roman" panose="02020603050405020304" pitchFamily="18" charset="0"/>
              <a:buChar char="►"/>
            </a:pPr>
            <a:r>
              <a:rPr lang="zh-CN" altLang="en-US" b="1" dirty="0" smtClean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数学是桥梁－不必过分拘泥于数学推导</a:t>
            </a:r>
          </a:p>
          <a:p>
            <a:pPr fontAlgn="auto">
              <a:spcAft>
                <a:spcPts val="0"/>
              </a:spcAft>
              <a:buClr>
                <a:srgbClr val="41B0B9"/>
              </a:buClr>
              <a:buFont typeface="Times New Roman" panose="02020603050405020304" pitchFamily="18" charset="0"/>
              <a:buChar char="►"/>
            </a:pPr>
            <a:r>
              <a:rPr lang="zh-CN" altLang="en-US" b="1" dirty="0" smtClean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结论是收获－铭记结论在物理学和生活中的作用</a:t>
            </a:r>
            <a:endParaRPr lang="zh-CN" altLang="en-US" b="1" dirty="0">
              <a:latin typeface="方正新书宋简体" panose="03000509000000000000" pitchFamily="65" charset="-122"/>
              <a:ea typeface="方正新书宋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132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1927 Solvay Conference</a:t>
            </a:r>
            <a:r>
              <a:rPr lang="en-US" altLang="zh-C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——The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strongest circle of friends in history</a:t>
            </a:r>
            <a:endParaRPr lang="zh-CN" altLang="en-US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5171" name="图片 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13" y="1203325"/>
            <a:ext cx="10569575" cy="525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hlinkClick r:id="rId4" action="ppaction://hlinkfile"/>
          </p:cNvPr>
          <p:cNvSpPr/>
          <p:nvPr/>
        </p:nvSpPr>
        <p:spPr>
          <a:xfrm>
            <a:off x="0" y="6119336"/>
            <a:ext cx="1218497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皮卡尔德、亨利厄特、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保罗</a:t>
            </a:r>
            <a:r>
              <a: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埃伦费斯特</a:t>
            </a:r>
            <a:r>
              <a:rPr lang="zh-CN" altLang="en-US" sz="14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、赫尔岑、德</a:t>
            </a:r>
            <a:r>
              <a: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</a:t>
            </a:r>
            <a:r>
              <a:rPr lang="zh-CN" altLang="en-US" sz="14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唐德、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欧文</a:t>
            </a:r>
            <a:r>
              <a: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薛定谔</a:t>
            </a:r>
            <a:r>
              <a:rPr lang="zh-CN" altLang="en-US" sz="14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、费尔沙</a:t>
            </a:r>
            <a:r>
              <a: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 </a:t>
            </a:r>
            <a:r>
              <a:rPr lang="zh-CN" altLang="en-US" sz="14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菲尔特、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沃尔夫冈</a:t>
            </a:r>
            <a:r>
              <a: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泡利、沃纳</a:t>
            </a:r>
            <a:r>
              <a: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海森堡</a:t>
            </a:r>
            <a:r>
              <a:rPr lang="zh-CN" altLang="en-US" sz="14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、福勒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、里昂</a:t>
            </a:r>
            <a:r>
              <a: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布里</a:t>
            </a:r>
            <a:r>
              <a:rPr lang="zh-CN" altLang="en-US" sz="14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渊</a:t>
            </a:r>
            <a:endParaRPr lang="zh-CN" altLang="en-US" sz="14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4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彼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得</a:t>
            </a:r>
            <a:r>
              <a: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德拜、马丁</a:t>
            </a:r>
            <a:r>
              <a: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努森</a:t>
            </a:r>
            <a:r>
              <a:rPr lang="zh-CN" altLang="en-US" sz="14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、布拉格、克莱默、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保罗</a:t>
            </a:r>
            <a:r>
              <a: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狄拉克、亚瑟</a:t>
            </a:r>
            <a:r>
              <a: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康普顿、路易</a:t>
            </a:r>
            <a:r>
              <a: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德布罗意、马克斯</a:t>
            </a:r>
            <a:r>
              <a: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波恩、尼尔斯</a:t>
            </a:r>
            <a:r>
              <a: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</a:t>
            </a:r>
            <a:r>
              <a:rPr lang="zh-CN" altLang="en-US" sz="14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玻尔</a:t>
            </a:r>
            <a:endParaRPr lang="zh-CN" altLang="en-US" sz="14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4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欧文</a:t>
            </a:r>
            <a:r>
              <a: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朗缪尔、马克斯</a:t>
            </a:r>
            <a:r>
              <a: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普朗克、玛丽</a:t>
            </a:r>
            <a:r>
              <a: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居里、亨得里克</a:t>
            </a:r>
            <a:r>
              <a: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洛仑兹、阿尔伯特</a:t>
            </a:r>
            <a:r>
              <a: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爱因斯坦、保罗</a:t>
            </a:r>
            <a:r>
              <a:rPr lang="en-US" altLang="zh-CN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·</a:t>
            </a:r>
            <a:r>
              <a:rPr lang="zh-CN" altLang="en-US" sz="14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朗之万</a:t>
            </a:r>
            <a:r>
              <a:rPr lang="zh-CN" altLang="en-US" sz="14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、古伊、威尔逊、里查森</a:t>
            </a:r>
            <a:endParaRPr lang="zh-CN" altLang="en-US" sz="14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母版尝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CB506768-777D-4B12-9CC9-01354EF86361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F49BBFB9-20DF-44C8-AB6F-6503A88DF186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C64F8762-51AA-45A3-89A1-90111EC3B3A6}"/>
    </a:ext>
  </a:extLst>
</a:theme>
</file>

<file path=ppt/theme/theme5.xml><?xml version="1.0" encoding="utf-8"?>
<a:theme xmlns:a="http://schemas.openxmlformats.org/drawingml/2006/main" name="母版尝试-无校徽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0E4F761-CC50-41EA-B1B9-3BFF9F164859}"/>
    </a:ext>
  </a:extLst>
</a:theme>
</file>

<file path=ppt/theme/theme6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1347CAD-8FFD-475F-B990-62B7C3D69B52}"/>
    </a:ext>
  </a:extLst>
</a:theme>
</file>

<file path=ppt/theme/theme7.xml><?xml version="1.0" encoding="utf-8"?>
<a:theme xmlns:a="http://schemas.openxmlformats.org/drawingml/2006/main" name="4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D5229C70-5AFB-4F66-8E7C-A2400D6A6E8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丝状</Template>
  <TotalTime>28351</TotalTime>
  <Words>1181</Words>
  <Application>Microsoft Office PowerPoint</Application>
  <PresentationFormat>宽屏</PresentationFormat>
  <Paragraphs>94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4" baseType="lpstr">
      <vt:lpstr>HGB2X_CNKI</vt:lpstr>
      <vt:lpstr>等线</vt:lpstr>
      <vt:lpstr>等线 Light</vt:lpstr>
      <vt:lpstr>方正新书宋简体</vt:lpstr>
      <vt:lpstr>宋体</vt:lpstr>
      <vt:lpstr>Arial</vt:lpstr>
      <vt:lpstr>Calibri</vt:lpstr>
      <vt:lpstr>Times New Roman</vt:lpstr>
      <vt:lpstr>Wingdings</vt:lpstr>
      <vt:lpstr>Wingdings 3</vt:lpstr>
      <vt:lpstr>母版尝试</vt:lpstr>
      <vt:lpstr>1_Office 主题​​</vt:lpstr>
      <vt:lpstr>自定义设计方案</vt:lpstr>
      <vt:lpstr>2_Office 主题​​</vt:lpstr>
      <vt:lpstr>母版尝试-无校徽</vt:lpstr>
      <vt:lpstr>3_Office 主题​​</vt:lpstr>
      <vt:lpstr>4_Office 主题​​</vt:lpstr>
      <vt:lpstr>Equation</vt:lpstr>
      <vt:lpstr>Equation.3</vt:lpstr>
      <vt:lpstr>近 代 物 理 学 选 讲</vt:lpstr>
      <vt:lpstr>第七讲 量子力学初步</vt:lpstr>
      <vt:lpstr>第七讲 量子力学初步</vt:lpstr>
      <vt:lpstr>第七讲 量子力学初步</vt:lpstr>
      <vt:lpstr>第七讲 量子力学初步</vt:lpstr>
      <vt:lpstr>第七讲 量子力学初步</vt:lpstr>
      <vt:lpstr>第七讲 量子力学初步</vt:lpstr>
      <vt:lpstr>第七讲 量子力学初步</vt:lpstr>
      <vt:lpstr>第七讲 量子力学初步</vt:lpstr>
      <vt:lpstr>第七讲 量子力学初步</vt:lpstr>
      <vt:lpstr>第七讲 量子力学初步</vt:lpstr>
      <vt:lpstr>第七讲 量子力学初步</vt:lpstr>
      <vt:lpstr>第七讲 量子力学初步</vt:lpstr>
      <vt:lpstr>第七讲 量子力学初步</vt:lpstr>
      <vt:lpstr>1927 Solvay Conference——The strongest circle of friends in history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Home</dc:creator>
  <cp:lastModifiedBy>Ben</cp:lastModifiedBy>
  <cp:revision>1174</cp:revision>
  <dcterms:created xsi:type="dcterms:W3CDTF">2017-02-21T13:54:52Z</dcterms:created>
  <dcterms:modified xsi:type="dcterms:W3CDTF">2022-03-24T10:43:54Z</dcterms:modified>
</cp:coreProperties>
</file>