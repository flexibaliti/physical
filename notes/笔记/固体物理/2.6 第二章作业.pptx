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1" r:id="rId3"/>
    <p:sldId id="262" r:id="rId4"/>
    <p:sldId id="263" r:id="rId5"/>
    <p:sldId id="264" r:id="rId6"/>
    <p:sldId id="265" r:id="rId7"/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6A6EE-7670-424F-B0AA-047C66DD1984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EFD78-0239-4C05-ACC9-5AD3BA21CE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457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605DDB-9D24-4575-B196-830FEA8EE295}" type="slidenum">
              <a:rPr kumimoji="0" lang="zh-CN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62905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880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43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78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982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5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38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8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02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10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583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583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1384995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9774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E233F-DDCD-4976-8EAB-893B05F326C6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46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928035" y="9025589"/>
            <a:ext cx="27557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0593" y="9025589"/>
            <a:ext cx="19807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200544" y="9025589"/>
            <a:ext cx="19807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510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52828" y="723866"/>
            <a:ext cx="3112034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3267"/>
              </a:lnSpc>
              <a:spcBef>
                <a:spcPct val="0"/>
              </a:spcBef>
              <a:spcAft>
                <a:spcPct val="0"/>
              </a:spcAft>
            </a:pPr>
            <a:r>
              <a:rPr sz="3267" kern="0">
                <a:solidFill>
                  <a:srgbClr val="FFFF00"/>
                </a:solidFill>
                <a:latin typeface="SimHei"/>
                <a:cs typeface="SimHei"/>
              </a:rPr>
              <a:t>解答：波函数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52829" y="1551790"/>
            <a:ext cx="7569008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411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驻波：尝试解</a:t>
            </a:r>
            <a:r>
              <a:rPr sz="2178" b="1" kern="0">
                <a:solidFill>
                  <a:srgbClr val="FFFFFF"/>
                </a:solidFill>
                <a:latin typeface="VMTGAW+TimesNewRomanPS-BoldMT"/>
                <a:cs typeface="VMTGAW+TimesNewRomanPS-BoldMT"/>
              </a:rPr>
              <a:t>(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分离变量</a:t>
            </a:r>
            <a:r>
              <a:rPr sz="2178" kern="0" spc="28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平面波：尝试解</a:t>
            </a:r>
            <a:r>
              <a:rPr sz="2178" b="1" kern="0">
                <a:solidFill>
                  <a:srgbClr val="FFFFFF"/>
                </a:solidFill>
                <a:latin typeface="VMTGAW+TimesNewRomanPS-BoldMT"/>
                <a:cs typeface="VMTGAW+TimesNewRomanPS-BoldMT"/>
              </a:rPr>
              <a:t>(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三维</a:t>
            </a:r>
            <a:r>
              <a:rPr sz="2178" b="1" kern="0">
                <a:solidFill>
                  <a:srgbClr val="FFFFFF"/>
                </a:solidFill>
                <a:latin typeface="VMTGAW+TimesNewRomanPS-BoldMT"/>
                <a:cs typeface="VMTGAW+TimesNewRomanPS-BoldMT"/>
              </a:rPr>
              <a:t>)</a:t>
            </a:r>
          </a:p>
          <a:p>
            <a:pPr marL="311216" defTabSz="829909">
              <a:lnSpc>
                <a:spcPts val="2411"/>
              </a:lnSpc>
              <a:spcBef>
                <a:spcPts val="151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后的结果。</a:t>
            </a:r>
            <a:r>
              <a:rPr sz="2178" b="1" kern="0">
                <a:solidFill>
                  <a:srgbClr val="FFFFFF"/>
                </a:solidFill>
                <a:latin typeface="VMTGAW+TimesNewRomanPS-BoldMT"/>
                <a:cs typeface="VMTGAW+TimesNewRomanPS-BoldMT"/>
              </a:rPr>
              <a:t>y,z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类同</a:t>
            </a:r>
            <a:r>
              <a:rPr sz="2178" b="1" kern="0">
                <a:solidFill>
                  <a:srgbClr val="FFFFFF"/>
                </a:solidFill>
                <a:latin typeface="VMTGAW+TimesNewRomanPS-BoldMT"/>
                <a:cs typeface="VMTGAW+TimesNewRomanPS-BoldMT"/>
              </a:rPr>
              <a:t>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28392" y="2619737"/>
            <a:ext cx="2584717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ts val="375"/>
              </a:spcBef>
              <a:spcAft>
                <a:spcPct val="0"/>
              </a:spcAft>
            </a:pPr>
            <a:r>
              <a:rPr sz="2178" kern="0" dirty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 dirty="0" err="1">
                <a:solidFill>
                  <a:srgbClr val="FFFFFF"/>
                </a:solidFill>
                <a:latin typeface="KaiTi"/>
                <a:cs typeface="KaiTi"/>
              </a:rPr>
              <a:t>代入方程后得到</a:t>
            </a:r>
            <a:endParaRPr sz="2178" kern="0" dirty="0">
              <a:solidFill>
                <a:srgbClr val="FFFFFF"/>
              </a:solidFill>
              <a:latin typeface="KaiTi"/>
              <a:cs typeface="KaiT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48956" y="3142386"/>
            <a:ext cx="3512033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411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用</a:t>
            </a:r>
            <a:r>
              <a:rPr sz="2178" b="1" kern="0">
                <a:solidFill>
                  <a:srgbClr val="FFFFFF"/>
                </a:solidFill>
                <a:latin typeface="VMTGAW+TimesNewRomanPS-BoldMT"/>
                <a:cs typeface="VMTGAW+TimesNewRomanPS-BoldMT"/>
              </a:rPr>
              <a:t>Born-von Karman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循</a:t>
            </a:r>
          </a:p>
          <a:p>
            <a:pPr marL="311216" defTabSz="829909">
              <a:lnSpc>
                <a:spcPts val="2178"/>
              </a:lnSpc>
              <a:spcBef>
                <a:spcPts val="576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环边界条件，得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652829" y="3501096"/>
            <a:ext cx="3220955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 dirty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 dirty="0" err="1">
                <a:solidFill>
                  <a:srgbClr val="FFFFFF"/>
                </a:solidFill>
                <a:latin typeface="KaiTi"/>
                <a:cs typeface="KaiTi"/>
              </a:rPr>
              <a:t>用驻波边界条件，得</a:t>
            </a:r>
            <a:endParaRPr sz="2178" kern="0" dirty="0">
              <a:solidFill>
                <a:srgbClr val="FFFFFF"/>
              </a:solidFill>
              <a:latin typeface="KaiTi"/>
              <a:cs typeface="KaiT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52829" y="4694042"/>
            <a:ext cx="2385892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用归一条件得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248956" y="4694042"/>
            <a:ext cx="2385892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用归一条件得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088" y="2195054"/>
            <a:ext cx="2156507" cy="370243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37" y="2204539"/>
            <a:ext cx="1676831" cy="458103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075" y="2915942"/>
            <a:ext cx="3552461" cy="501321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075" y="3830990"/>
            <a:ext cx="3478222" cy="68687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134" y="5193499"/>
            <a:ext cx="2005282" cy="907563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7227" y="5193499"/>
            <a:ext cx="1123649" cy="907563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7202" y="3790738"/>
            <a:ext cx="3984634" cy="80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950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52828" y="723866"/>
            <a:ext cx="1867220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3267"/>
              </a:lnSpc>
              <a:spcBef>
                <a:spcPct val="0"/>
              </a:spcBef>
              <a:spcAft>
                <a:spcPct val="0"/>
              </a:spcAft>
            </a:pPr>
            <a:r>
              <a:rPr sz="3267" kern="0">
                <a:solidFill>
                  <a:srgbClr val="FFFF00"/>
                </a:solidFill>
                <a:latin typeface="SimHei"/>
                <a:cs typeface="SimHei"/>
              </a:rPr>
              <a:t>状态数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52828" y="1551790"/>
            <a:ext cx="753385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411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驻波解：</a:t>
            </a:r>
            <a:r>
              <a:rPr sz="2178" b="1" kern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k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空间，常数，</a:t>
            </a:r>
            <a:r>
              <a:rPr sz="2178" kern="0" spc="2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平面波解：</a:t>
            </a:r>
            <a:r>
              <a:rPr sz="2178" b="1" kern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k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空间，常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64032" y="1910501"/>
            <a:ext cx="2627939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每个状态的体积为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60160" y="1910500"/>
            <a:ext cx="3187913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 dirty="0" err="1">
                <a:solidFill>
                  <a:srgbClr val="FFFFFF"/>
                </a:solidFill>
                <a:latin typeface="KaiTi"/>
                <a:cs typeface="KaiTi"/>
              </a:rPr>
              <a:t>数，每个状态的体积为</a:t>
            </a:r>
            <a:endParaRPr sz="2178" kern="0" dirty="0">
              <a:solidFill>
                <a:srgbClr val="FFFFFF"/>
              </a:solidFill>
              <a:latin typeface="KaiTi"/>
              <a:cs typeface="KaiT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52828" y="2678346"/>
            <a:ext cx="785197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411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驻波条件时，</a:t>
            </a:r>
            <a:r>
              <a:rPr sz="2178" b="1" i="1" kern="0">
                <a:solidFill>
                  <a:srgbClr val="FFFFFF"/>
                </a:solidFill>
                <a:latin typeface="VNQLTH+TimesNewRomanPS-BoldItalicMT"/>
                <a:cs typeface="VNQLTH+TimesNewRomanPS-BoldItalicMT"/>
              </a:rPr>
              <a:t>n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只取正整</a:t>
            </a:r>
            <a:r>
              <a:rPr sz="2178" kern="0" spc="2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平面波条件时，</a:t>
            </a:r>
            <a:r>
              <a:rPr sz="2178" b="1" kern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n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能取整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64032" y="3009605"/>
            <a:ext cx="3358541" cy="974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411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数，所以只分布在</a:t>
            </a:r>
            <a:r>
              <a:rPr sz="2178" b="1" kern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k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空间</a:t>
            </a:r>
          </a:p>
          <a:p>
            <a:pPr defTabSz="829909">
              <a:lnSpc>
                <a:spcPts val="2178"/>
              </a:lnSpc>
              <a:spcBef>
                <a:spcPts val="577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的第一象限，因此，只</a:t>
            </a:r>
          </a:p>
          <a:p>
            <a:pPr defTabSz="829909">
              <a:lnSpc>
                <a:spcPts val="2411"/>
              </a:lnSpc>
              <a:spcBef>
                <a:spcPts val="4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有</a:t>
            </a:r>
            <a:r>
              <a:rPr sz="2178" b="1" kern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1/8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的球壳体积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60160" y="3009604"/>
            <a:ext cx="3358907" cy="974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411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数，所以能分布在整个</a:t>
            </a:r>
            <a:r>
              <a:rPr sz="2178" b="1" kern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k</a:t>
            </a:r>
          </a:p>
          <a:p>
            <a:pPr defTabSz="829909">
              <a:lnSpc>
                <a:spcPts val="2178"/>
              </a:lnSpc>
              <a:spcBef>
                <a:spcPts val="576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空间因此，整个球壳体</a:t>
            </a:r>
          </a:p>
          <a:p>
            <a:pPr defTabSz="829909">
              <a:lnSpc>
                <a:spcPts val="2411"/>
              </a:lnSpc>
              <a:spcBef>
                <a:spcPts val="4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积。</a:t>
            </a:r>
            <a:r>
              <a:rPr sz="2178" b="1" kern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(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注意一维</a:t>
            </a:r>
            <a:r>
              <a:rPr sz="2178" b="1" kern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652829" y="4865069"/>
            <a:ext cx="343966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411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 dirty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b="1" i="1" kern="0" dirty="0">
                <a:solidFill>
                  <a:srgbClr val="FFFFFF"/>
                </a:solidFill>
                <a:latin typeface="VNQLTH+TimesNewRomanPS-BoldItalicMT"/>
                <a:cs typeface="VNQLTH+TimesNewRomanPS-BoldItalicMT"/>
              </a:rPr>
              <a:t>E</a:t>
            </a:r>
            <a:r>
              <a:rPr sz="2178" b="1" kern="0" dirty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~</a:t>
            </a:r>
            <a:r>
              <a:rPr sz="2178" b="1" i="1" kern="0" dirty="0">
                <a:solidFill>
                  <a:srgbClr val="FFFFFF"/>
                </a:solidFill>
                <a:latin typeface="VNQLTH+TimesNewRomanPS-BoldItalicMT"/>
                <a:cs typeface="VNQLTH+TimesNewRomanPS-BoldItalicMT"/>
              </a:rPr>
              <a:t>k</a:t>
            </a:r>
            <a:r>
              <a:rPr sz="2178" b="1" kern="0" baseline="29250" dirty="0">
                <a:solidFill>
                  <a:srgbClr val="FFFFFF"/>
                </a:solidFill>
                <a:latin typeface="GNJHHM+TimesNewRomanPS-BoldMT"/>
                <a:cs typeface="GNJHHM+TimesNewRomanPS-BoldMT"/>
              </a:rPr>
              <a:t>2</a:t>
            </a:r>
            <a:r>
              <a:rPr sz="2178" kern="0" dirty="0">
                <a:solidFill>
                  <a:srgbClr val="FFFFFF"/>
                </a:solidFill>
                <a:latin typeface="KaiTi"/>
                <a:cs typeface="KaiTi"/>
              </a:rPr>
              <a:t>，球壳内</a:t>
            </a:r>
            <a:r>
              <a:rPr sz="2178" b="1" i="1" kern="0" dirty="0">
                <a:solidFill>
                  <a:srgbClr val="FFFFFF"/>
                </a:solidFill>
                <a:latin typeface="VNQLTH+TimesNewRomanPS-BoldItalicMT"/>
                <a:cs typeface="VNQLTH+TimesNewRomanPS-BoldItalicMT"/>
              </a:rPr>
              <a:t>E</a:t>
            </a:r>
            <a:r>
              <a:rPr sz="2178" kern="0" dirty="0">
                <a:solidFill>
                  <a:srgbClr val="FFFFFF"/>
                </a:solidFill>
                <a:latin typeface="KaiTi"/>
                <a:cs typeface="KaiTi"/>
              </a:rPr>
              <a:t>相等，</a:t>
            </a:r>
          </a:p>
          <a:p>
            <a:pPr marL="311215" defTabSz="829909">
              <a:lnSpc>
                <a:spcPts val="2411"/>
              </a:lnSpc>
              <a:spcBef>
                <a:spcPts val="151"/>
              </a:spcBef>
              <a:spcAft>
                <a:spcPct val="0"/>
              </a:spcAft>
            </a:pPr>
            <a:r>
              <a:rPr sz="2178" b="1" i="1" kern="0" dirty="0" err="1">
                <a:solidFill>
                  <a:srgbClr val="FFFFFF"/>
                </a:solidFill>
                <a:latin typeface="VNQLTH+TimesNewRomanPS-BoldItalicMT"/>
                <a:cs typeface="VNQLTH+TimesNewRomanPS-BoldItalicMT"/>
              </a:rPr>
              <a:t>E~E+dE</a:t>
            </a:r>
            <a:r>
              <a:rPr sz="2178" kern="0" dirty="0" err="1">
                <a:solidFill>
                  <a:srgbClr val="FFFFFF"/>
                </a:solidFill>
                <a:latin typeface="KaiTi"/>
                <a:cs typeface="KaiTi"/>
              </a:rPr>
              <a:t>，因此状态数</a:t>
            </a:r>
            <a:endParaRPr sz="2178" kern="0" dirty="0">
              <a:solidFill>
                <a:srgbClr val="FFFFFF"/>
              </a:solidFill>
              <a:latin typeface="KaiTi"/>
              <a:cs typeface="KaiT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48956" y="4892520"/>
            <a:ext cx="1803917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 dirty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 dirty="0" err="1">
                <a:solidFill>
                  <a:srgbClr val="FFFFFF"/>
                </a:solidFill>
                <a:latin typeface="KaiTi"/>
                <a:cs typeface="KaiTi"/>
              </a:rPr>
              <a:t>状态数</a:t>
            </a:r>
            <a:endParaRPr sz="2178" kern="0" dirty="0">
              <a:solidFill>
                <a:srgbClr val="FFFFFF"/>
              </a:solidFill>
              <a:latin typeface="KaiTi"/>
              <a:cs typeface="KaiTi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576" y="2242825"/>
            <a:ext cx="1372388" cy="348912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055" y="2253897"/>
            <a:ext cx="705902" cy="344742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046" y="2237733"/>
            <a:ext cx="1764205" cy="396542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2632" y="4069470"/>
            <a:ext cx="1066809" cy="674164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0190" y="4154159"/>
            <a:ext cx="959424" cy="380312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032" y="5638267"/>
            <a:ext cx="2437455" cy="760624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394" y="5603692"/>
            <a:ext cx="2497959" cy="829772"/>
          </a:xfrm>
          <a:prstGeom prst="rect">
            <a:avLst/>
          </a:prstGeom>
        </p:spPr>
      </p:pic>
      <p:cxnSp>
        <p:nvCxnSpPr>
          <p:cNvPr id="47" name="直接连接符 46"/>
          <p:cNvCxnSpPr/>
          <p:nvPr/>
        </p:nvCxnSpPr>
        <p:spPr>
          <a:xfrm>
            <a:off x="5401486" y="5912368"/>
            <a:ext cx="115490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5387728" y="6108424"/>
            <a:ext cx="115490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75651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52829" y="723866"/>
            <a:ext cx="6680498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3267"/>
              </a:lnSpc>
              <a:spcBef>
                <a:spcPct val="0"/>
              </a:spcBef>
              <a:spcAft>
                <a:spcPct val="0"/>
              </a:spcAft>
            </a:pPr>
            <a:r>
              <a:rPr sz="3267" kern="0">
                <a:solidFill>
                  <a:srgbClr val="FFFF00"/>
                </a:solidFill>
                <a:latin typeface="SimHei"/>
                <a:cs typeface="SimHei"/>
              </a:rPr>
              <a:t>状态密度，费米能级，平均能量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52828" y="1556836"/>
            <a:ext cx="5862166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815"/>
              </a:lnSpc>
              <a:spcBef>
                <a:spcPct val="0"/>
              </a:spcBef>
              <a:spcAft>
                <a:spcPct val="0"/>
              </a:spcAft>
            </a:pPr>
            <a:r>
              <a:rPr sz="2541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541" kern="0" spc="5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41" kern="0">
                <a:solidFill>
                  <a:srgbClr val="FFFFFF"/>
                </a:solidFill>
                <a:latin typeface="KaiTi"/>
                <a:cs typeface="KaiTi"/>
              </a:rPr>
              <a:t>驻波、平面波解，对</a:t>
            </a:r>
            <a:r>
              <a:rPr sz="2541" b="1" i="1" kern="0">
                <a:solidFill>
                  <a:srgbClr val="FFFFFF"/>
                </a:solidFill>
                <a:latin typeface="KMVMOM+TimesNewRomanPS-BoldItalicMT"/>
                <a:cs typeface="KMVMOM+TimesNewRomanPS-BoldItalicMT"/>
              </a:rPr>
              <a:t>E</a:t>
            </a:r>
            <a:r>
              <a:rPr sz="2541" b="1" kern="0">
                <a:solidFill>
                  <a:srgbClr val="FFFFFF"/>
                </a:solidFill>
                <a:latin typeface="GPASMW+TimesNewRomanPS-BoldMT"/>
                <a:cs typeface="GPASMW+TimesNewRomanPS-BoldMT"/>
              </a:rPr>
              <a:t>(</a:t>
            </a:r>
            <a:r>
              <a:rPr sz="2541" b="1" i="1" kern="0">
                <a:solidFill>
                  <a:srgbClr val="FFFFFF"/>
                </a:solidFill>
                <a:latin typeface="KMVMOM+TimesNewRomanPS-BoldItalicMT"/>
                <a:cs typeface="KMVMOM+TimesNewRomanPS-BoldItalicMT"/>
              </a:rPr>
              <a:t>k</a:t>
            </a:r>
            <a:r>
              <a:rPr sz="2541" b="1" kern="0">
                <a:solidFill>
                  <a:srgbClr val="FFFFFF"/>
                </a:solidFill>
                <a:latin typeface="GPASMW+TimesNewRomanPS-BoldMT"/>
                <a:cs typeface="GPASMW+TimesNewRomanPS-BoldMT"/>
              </a:rPr>
              <a:t>)</a:t>
            </a:r>
            <a:r>
              <a:rPr sz="2541" kern="0">
                <a:solidFill>
                  <a:srgbClr val="FFFFFF"/>
                </a:solidFill>
                <a:latin typeface="KaiTi"/>
                <a:cs typeface="KaiTi"/>
              </a:rPr>
              <a:t>关系求导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652829" y="2983394"/>
            <a:ext cx="1441218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543"/>
              </a:lnSpc>
              <a:spcBef>
                <a:spcPct val="0"/>
              </a:spcBef>
              <a:spcAft>
                <a:spcPct val="0"/>
              </a:spcAft>
            </a:pPr>
            <a:r>
              <a:rPr sz="2541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541" kern="0" spc="5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41" kern="0">
                <a:solidFill>
                  <a:srgbClr val="FFFFFF"/>
                </a:solidFill>
                <a:latin typeface="KaiTi"/>
                <a:cs typeface="KaiTi"/>
              </a:rPr>
              <a:t>于是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652829" y="4378969"/>
            <a:ext cx="2086653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543"/>
              </a:lnSpc>
              <a:spcBef>
                <a:spcPct val="0"/>
              </a:spcBef>
              <a:spcAft>
                <a:spcPct val="0"/>
              </a:spcAft>
            </a:pPr>
            <a:r>
              <a:rPr sz="2541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541" kern="0" spc="5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41" kern="0">
                <a:solidFill>
                  <a:srgbClr val="FFFFFF"/>
                </a:solidFill>
                <a:latin typeface="KaiTi"/>
                <a:cs typeface="KaiTi"/>
              </a:rPr>
              <a:t>费米能级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652829" y="5309804"/>
            <a:ext cx="2086653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543"/>
              </a:lnSpc>
              <a:spcBef>
                <a:spcPct val="0"/>
              </a:spcBef>
              <a:spcAft>
                <a:spcPct val="0"/>
              </a:spcAft>
            </a:pPr>
            <a:r>
              <a:rPr sz="2541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541" kern="0" spc="5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41" kern="0">
                <a:solidFill>
                  <a:srgbClr val="FFFFFF"/>
                </a:solidFill>
                <a:latin typeface="KaiTi"/>
                <a:cs typeface="KaiTi"/>
              </a:rPr>
              <a:t>平均能量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7" y="2004055"/>
            <a:ext cx="1858343" cy="847059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331" y="1923192"/>
            <a:ext cx="3025210" cy="95078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813" y="2962254"/>
            <a:ext cx="3336374" cy="933493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438" y="4110098"/>
            <a:ext cx="2809124" cy="985354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530" y="5193949"/>
            <a:ext cx="1331093" cy="80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911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52828" y="723866"/>
            <a:ext cx="7634856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3267"/>
              </a:lnSpc>
              <a:spcBef>
                <a:spcPct val="0"/>
              </a:spcBef>
              <a:spcAft>
                <a:spcPct val="0"/>
              </a:spcAft>
            </a:pPr>
            <a:r>
              <a:rPr sz="3267" kern="0">
                <a:solidFill>
                  <a:srgbClr val="FFFF00"/>
                </a:solidFill>
                <a:latin typeface="SimHei"/>
                <a:cs typeface="SimHei"/>
              </a:rPr>
              <a:t>出现在空间任一点的几率，平均动量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52828" y="1579242"/>
            <a:ext cx="1556017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驻波解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48956" y="1579242"/>
            <a:ext cx="1832642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平面波解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52828" y="2772188"/>
            <a:ext cx="1556017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几率为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248956" y="2772188"/>
            <a:ext cx="215745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 dirty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 dirty="0" err="1">
                <a:solidFill>
                  <a:srgbClr val="FFFFFF"/>
                </a:solidFill>
                <a:latin typeface="KaiTi"/>
                <a:cs typeface="KaiTi"/>
              </a:rPr>
              <a:t>几率为</a:t>
            </a:r>
            <a:endParaRPr sz="2178" kern="0" dirty="0">
              <a:solidFill>
                <a:srgbClr val="FFFFFF"/>
              </a:solidFill>
              <a:latin typeface="KaiTi"/>
              <a:cs typeface="KaiT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52829" y="3937507"/>
            <a:ext cx="296977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413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平均动量</a:t>
            </a:r>
            <a:r>
              <a:rPr sz="2178" b="1" kern="0">
                <a:solidFill>
                  <a:srgbClr val="FFFFFF"/>
                </a:solidFill>
                <a:latin typeface="BHMUNF+TimesNewRomanPS-BoldMT"/>
                <a:cs typeface="BHMUNF+TimesNewRomanPS-BoldMT"/>
              </a:rPr>
              <a:t>(y, z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类同</a:t>
            </a:r>
            <a:r>
              <a:rPr sz="2178" b="1" kern="0">
                <a:solidFill>
                  <a:srgbClr val="FFFFFF"/>
                </a:solidFill>
                <a:latin typeface="BHMUNF+TimesNewRomanPS-BoldMT"/>
                <a:cs typeface="BHMUNF+TimesNewRomanPS-BoldMT"/>
              </a:rPr>
              <a:t>)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6248956" y="3965134"/>
            <a:ext cx="1832642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平均动量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26" y="1900208"/>
            <a:ext cx="3202238" cy="741192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087" y="3159468"/>
            <a:ext cx="3317010" cy="60856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778" y="4474629"/>
            <a:ext cx="3665022" cy="1875629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479" y="1925023"/>
            <a:ext cx="1378927" cy="633562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787" y="3117969"/>
            <a:ext cx="926635" cy="682004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6704" y="4315993"/>
            <a:ext cx="3189436" cy="79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3716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52829" y="723866"/>
            <a:ext cx="1452282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3267"/>
              </a:lnSpc>
              <a:spcBef>
                <a:spcPct val="0"/>
              </a:spcBef>
              <a:spcAft>
                <a:spcPct val="0"/>
              </a:spcAft>
            </a:pPr>
            <a:r>
              <a:rPr sz="3267" kern="0">
                <a:solidFill>
                  <a:srgbClr val="FFFF00"/>
                </a:solidFill>
                <a:latin typeface="SimHei"/>
                <a:cs typeface="SimHei"/>
              </a:rPr>
              <a:t>讨论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52829" y="1579242"/>
            <a:ext cx="1244813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驻波解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48956" y="1579242"/>
            <a:ext cx="1244813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行波解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52829" y="1976890"/>
            <a:ext cx="799274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驻波解不是动量算符的</a:t>
            </a:r>
            <a:r>
              <a:rPr sz="2178" kern="0" spc="35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平面波解又称行波解，是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64032" y="2308150"/>
            <a:ext cx="3181190" cy="948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本征解。因此，尽管电</a:t>
            </a:r>
          </a:p>
          <a:p>
            <a:pPr defTabSz="829909">
              <a:lnSpc>
                <a:spcPts val="2178"/>
              </a:lnSpc>
              <a:spcBef>
                <a:spcPts val="43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子是运动的，但其平均</a:t>
            </a:r>
          </a:p>
          <a:p>
            <a:pPr defTabSz="829909">
              <a:lnSpc>
                <a:spcPts val="2178"/>
              </a:lnSpc>
              <a:spcBef>
                <a:spcPts val="384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动量为零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0159" y="2308149"/>
            <a:ext cx="3499309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动量算符的本征解。电子</a:t>
            </a:r>
          </a:p>
          <a:p>
            <a:pPr defTabSz="829909">
              <a:lnSpc>
                <a:spcPts val="2178"/>
              </a:lnSpc>
              <a:spcBef>
                <a:spcPts val="43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有确定的动量和速度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48956" y="3037056"/>
            <a:ext cx="3857193" cy="948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平面波解在空间各点出现</a:t>
            </a:r>
          </a:p>
          <a:p>
            <a:pPr marL="311216" defTabSz="829909">
              <a:lnSpc>
                <a:spcPts val="2178"/>
              </a:lnSpc>
              <a:spcBef>
                <a:spcPts val="429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的几率一样，空间分布是</a:t>
            </a:r>
          </a:p>
          <a:p>
            <a:pPr marL="311216" defTabSz="829909">
              <a:lnSpc>
                <a:spcPts val="2178"/>
              </a:lnSpc>
              <a:spcBef>
                <a:spcPts val="384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常数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52828" y="3368316"/>
            <a:ext cx="3539073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电子在势垒反射下，来</a:t>
            </a:r>
          </a:p>
          <a:p>
            <a:pPr marL="311216" defTabSz="829909">
              <a:lnSpc>
                <a:spcPts val="2178"/>
              </a:lnSpc>
              <a:spcBef>
                <a:spcPts val="429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回往复运动，波函数迭</a:t>
            </a:r>
          </a:p>
          <a:p>
            <a:pPr marL="311216" defTabSz="829909">
              <a:lnSpc>
                <a:spcPts val="2178"/>
              </a:lnSpc>
              <a:spcBef>
                <a:spcPts val="384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加形成驻波，空间分布</a:t>
            </a:r>
          </a:p>
          <a:p>
            <a:pPr marL="311216" defTabSz="829909">
              <a:lnSpc>
                <a:spcPts val="2178"/>
              </a:lnSpc>
              <a:spcBef>
                <a:spcPts val="435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不是常数，有起伏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48956" y="4097223"/>
            <a:ext cx="3857193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平面波解符合自由电子气</a:t>
            </a:r>
          </a:p>
          <a:p>
            <a:pPr marL="311216" defTabSz="829909">
              <a:lnSpc>
                <a:spcPts val="2178"/>
              </a:lnSpc>
              <a:spcBef>
                <a:spcPts val="429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体性质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48956" y="4826130"/>
            <a:ext cx="3857193" cy="948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829909">
              <a:lnSpc>
                <a:spcPts val="2178"/>
              </a:lnSpc>
              <a:spcBef>
                <a:spcPct val="0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SimSun"/>
                <a:cs typeface="SimSun"/>
              </a:rPr>
              <a:t>•</a:t>
            </a:r>
            <a:r>
              <a:rPr sz="2178" kern="0" spc="8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循环边条件是无限体系的</a:t>
            </a:r>
          </a:p>
          <a:p>
            <a:pPr marL="311216" defTabSz="829909">
              <a:lnSpc>
                <a:spcPts val="2178"/>
              </a:lnSpc>
              <a:spcBef>
                <a:spcPts val="435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数学处理，与晶体周期性</a:t>
            </a:r>
          </a:p>
          <a:p>
            <a:pPr marL="311216" defTabSz="829909">
              <a:lnSpc>
                <a:spcPts val="2178"/>
              </a:lnSpc>
              <a:spcBef>
                <a:spcPts val="429"/>
              </a:spcBef>
              <a:spcAft>
                <a:spcPct val="0"/>
              </a:spcAft>
            </a:pPr>
            <a:r>
              <a:rPr sz="2178" kern="0">
                <a:solidFill>
                  <a:srgbClr val="FFFFFF"/>
                </a:solidFill>
                <a:latin typeface="KaiTi"/>
                <a:cs typeface="KaiTi"/>
              </a:rPr>
              <a:t>无关</a:t>
            </a:r>
          </a:p>
        </p:txBody>
      </p:sp>
    </p:spTree>
    <p:extLst>
      <p:ext uri="{BB962C8B-B14F-4D97-AF65-F5344CB8AC3E}">
        <p14:creationId xmlns:p14="http://schemas.microsoft.com/office/powerpoint/2010/main" val="224343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093" y="334866"/>
            <a:ext cx="9380952" cy="6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16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9" y="94297"/>
            <a:ext cx="5286885" cy="39771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62" y="4071489"/>
            <a:ext cx="3730646" cy="274187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972" y="94297"/>
            <a:ext cx="4246667" cy="355534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854" y="3848620"/>
            <a:ext cx="6485714" cy="2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829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40" y="196814"/>
            <a:ext cx="5839883" cy="64698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761" y="124229"/>
            <a:ext cx="5692665" cy="648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40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08" y="85871"/>
            <a:ext cx="4564323" cy="666794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503" y="184640"/>
            <a:ext cx="6585326" cy="632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27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207</Words>
  <Application>Microsoft Office PowerPoint</Application>
  <PresentationFormat>宽屏</PresentationFormat>
  <Paragraphs>57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BHMUNF+TimesNewRomanPS-BoldMT</vt:lpstr>
      <vt:lpstr>GNJHHM+TimesNewRomanPS-BoldMT</vt:lpstr>
      <vt:lpstr>GPASMW+TimesNewRomanPS-BoldMT</vt:lpstr>
      <vt:lpstr>KMVMOM+TimesNewRomanPS-BoldItalicMT</vt:lpstr>
      <vt:lpstr>VMTGAW+TimesNewRomanPS-BoldMT</vt:lpstr>
      <vt:lpstr>VNQLTH+TimesNewRomanPS-BoldItalicMT</vt:lpstr>
      <vt:lpstr>等线</vt:lpstr>
      <vt:lpstr>等线 Light</vt:lpstr>
      <vt:lpstr>SimHei</vt:lpstr>
      <vt:lpstr>KaiTi</vt:lpstr>
      <vt:lpstr>SimSun</vt:lpstr>
      <vt:lpstr>Arial</vt:lpstr>
      <vt:lpstr>Calibri</vt:lpstr>
      <vt:lpstr>Times New Roman</vt:lpstr>
      <vt:lpstr>Office 主题​​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 water</dc:creator>
  <cp:lastModifiedBy>yubao yan</cp:lastModifiedBy>
  <cp:revision>10</cp:revision>
  <dcterms:created xsi:type="dcterms:W3CDTF">2020-03-04T02:28:36Z</dcterms:created>
  <dcterms:modified xsi:type="dcterms:W3CDTF">2023-03-17T03:58:39Z</dcterms:modified>
</cp:coreProperties>
</file>